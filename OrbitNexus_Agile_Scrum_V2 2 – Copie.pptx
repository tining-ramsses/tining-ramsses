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75" r:id="rId2"/>
    <p:sldId id="256" r:id="rId3"/>
    <p:sldId id="257" r:id="rId4"/>
    <p:sldId id="258" r:id="rId5"/>
    <p:sldId id="259" r:id="rId6"/>
    <p:sldId id="260" r:id="rId7"/>
    <p:sldId id="265" r:id="rId8"/>
    <p:sldId id="261" r:id="rId9"/>
    <p:sldId id="271" r:id="rId10"/>
    <p:sldId id="266" r:id="rId11"/>
    <p:sldId id="267" r:id="rId12"/>
    <p:sldId id="262" r:id="rId13"/>
    <p:sldId id="272" r:id="rId14"/>
    <p:sldId id="273" r:id="rId15"/>
    <p:sldId id="274" r:id="rId16"/>
    <p:sldId id="263" r:id="rId17"/>
    <p:sldId id="277" r:id="rId18"/>
    <p:sldId id="278" r:id="rId19"/>
    <p:sldId id="264" r:id="rId20"/>
    <p:sldId id="268" r:id="rId21"/>
    <p:sldId id="269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A7000C-1B64-DA8D-3423-6C8103573B9D}" v="11" dt="2026-05-07T12:16:34.140"/>
    <p1510:client id="{1C2E3CC4-A98C-494D-12DE-EAAB76F7078B}" v="14" dt="2026-05-07T11:38:46.762"/>
    <p1510:client id="{230C5828-3A8B-F205-0465-E502DF7EC8BB}" v="81" dt="2026-05-07T09:12:20.797"/>
    <p1510:client id="{352344A4-7F0A-2E7B-8044-DACCF2F8AE8E}" v="4" dt="2026-05-06T12:56:18.209"/>
    <p1510:client id="{5CD7E8E1-993F-D058-6A23-A2EB29E82CC3}" v="570" dt="2026-05-06T13:23:34.496"/>
    <p1510:client id="{81DE544D-AB28-4F2D-CD57-D0010FFBE448}" v="141" dt="2026-05-07T09:55:20.964"/>
    <p1510:client id="{852B0B02-FB25-C10C-1FC9-690D88227E54}" v="283" dt="2026-05-06T13:33:03.066"/>
    <p1510:client id="{CA5EB4E7-506A-3F03-DBF2-56C61D08186E}" v="1" dt="2026-05-07T11:14:00.680"/>
    <p1510:client id="{FFA240D9-3A43-61D7-3DD7-1A682EEECB3D}" v="104" dt="2026-05-06T13:44:35.0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D5357C-7D50-44E5-83D8-3DDE27744FD2}" type="datetimeFigureOut"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106FC3-64F6-4CA2-AD1B-2CE8FA64955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338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778147124023-2909385b-b88e-4eb2-a0e4-3d08cd4e6870">
            <a:hlinkClick r:id="" action="ppaction://media"/>
            <a:extLst>
              <a:ext uri="{FF2B5EF4-FFF2-40B4-BE49-F238E27FC236}">
                <a16:creationId xmlns:a16="http://schemas.microsoft.com/office/drawing/2014/main" id="{6F83C2D8-A370-5EE7-1443-0C70D411F03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11" y="-3211"/>
            <a:ext cx="9139594" cy="5148104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3289865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video>
              <p:cMediaNode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6400800" cy="5029200"/>
          </a:xfrm>
          <a:prstGeom prst="ellipse">
            <a:avLst/>
          </a:prstGeom>
          <a:solidFill>
            <a:srgbClr val="0A1A40">
              <a:alpha val="80000"/>
            </a:srgbClr>
          </a:solidFill>
          <a:ln w="12700">
            <a:solidFill>
              <a:srgbClr val="0A1A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914400"/>
            <a:ext cx="4572000" cy="3657600"/>
          </a:xfrm>
          <a:prstGeom prst="ellipse">
            <a:avLst/>
          </a:prstGeom>
          <a:solidFill>
            <a:srgbClr val="1A004A">
              <a:alpha val="65000"/>
            </a:srgbClr>
          </a:solidFill>
          <a:ln w="12700">
            <a:solidFill>
              <a:srgbClr val="1A00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74320"/>
            <a:ext cx="2286000" cy="22860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0" y="457200"/>
            <a:ext cx="1920240" cy="1920240"/>
          </a:xfrm>
          <a:prstGeom prst="ellipse">
            <a:avLst/>
          </a:prstGeom>
          <a:solidFill>
            <a:srgbClr val="0D1B2A"/>
          </a:solidFill>
          <a:ln w="6350">
            <a:solidFill>
              <a:srgbClr val="7B2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822960"/>
            <a:ext cx="3566160" cy="1188720"/>
          </a:xfrm>
          <a:prstGeom prst="ellipse">
            <a:avLst/>
          </a:prstGeom>
          <a:solidFill>
            <a:srgbClr val="0A0E1A">
              <a:alpha val="0"/>
            </a:srgbClr>
          </a:solidFill>
          <a:ln w="9525">
            <a:solidFill>
              <a:srgbClr val="FFB703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201168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AGILES · SCRUM</a:t>
            </a:r>
            <a:endParaRPr lang="en-US" sz="75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</a:t>
            </a:r>
            <a:endParaRPr lang="en-US" sz="580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580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collaborative de gestion de missions spatiales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457200" y="3620075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agences de recherche scientifique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b="1">
                <a:solidFill>
                  <a:srgbClr val="00C6FF"/>
                </a:solidFill>
                <a:latin typeface="Calibri"/>
                <a:ea typeface="Calibri"/>
                <a:cs typeface="Calibri"/>
              </a:rPr>
              <a:t>Startup : RAMDINSOW Labs  </a:t>
            </a: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|  </a:t>
            </a:r>
            <a:r>
              <a:rPr lang="en-US" sz="100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Projet</a:t>
            </a: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Agile Scrum  |  </a:t>
            </a:r>
            <a:r>
              <a:rPr lang="en-US" sz="1000">
                <a:solidFill>
                  <a:srgbClr val="FFB703"/>
                </a:solidFill>
                <a:latin typeface="Calibri"/>
                <a:ea typeface="Calibri"/>
                <a:cs typeface="Calibri"/>
              </a:rPr>
              <a:t>INF213 – </a:t>
            </a:r>
            <a:r>
              <a:rPr lang="en-US" sz="1000" err="1">
                <a:solidFill>
                  <a:srgbClr val="FFB703"/>
                </a:solidFill>
                <a:latin typeface="Calibri"/>
                <a:ea typeface="Calibri"/>
                <a:cs typeface="Calibri"/>
              </a:rPr>
              <a:t>Méthodes</a:t>
            </a:r>
            <a:r>
              <a:rPr lang="en-US" sz="1000">
                <a:solidFill>
                  <a:srgbClr val="FFB70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 err="1">
                <a:solidFill>
                  <a:srgbClr val="FFB703"/>
                </a:solidFill>
                <a:latin typeface="Calibri"/>
                <a:ea typeface="Calibri"/>
                <a:cs typeface="Calibri"/>
              </a:rPr>
              <a:t>Agiles</a:t>
            </a:r>
            <a:endParaRPr lang="en-US" sz="1000" err="1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2743200"/>
          </a:xfrm>
          <a:prstGeom prst="ellipse">
            <a:avLst/>
          </a:prstGeom>
          <a:solidFill>
            <a:srgbClr val="1B0A3A">
              <a:alpha val="60000"/>
            </a:srgbClr>
          </a:solidFill>
          <a:ln w="12700">
            <a:solidFill>
              <a:srgbClr val="1B0A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200400"/>
          </a:xfrm>
          <a:prstGeom prst="ellipse">
            <a:avLst/>
          </a:prstGeom>
          <a:solidFill>
            <a:srgbClr val="001A3A">
              <a:alpha val="55000"/>
            </a:srgbClr>
          </a:solidFill>
          <a:ln w="12700">
            <a:solidFill>
              <a:srgbClr val="001A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00C6FF"/>
                </a:solidFill>
                <a:latin typeface="Calibri"/>
                <a:ea typeface="Calibri"/>
                <a:cs typeface="Calibri"/>
              </a:rPr>
              <a:t>SOMMAIRE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7B2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4160520" cy="658368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60120"/>
            <a:ext cx="502920" cy="65836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1051560" y="1005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Produit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1051560" y="128930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457200" y="1728216"/>
            <a:ext cx="4160520" cy="658368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728216"/>
            <a:ext cx="502920" cy="65836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2821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1051560" y="17739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&amp; Rôles Scrum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1051560" y="20574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de l'équipe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457200" y="2496312"/>
            <a:ext cx="4160520" cy="658368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496312"/>
            <a:ext cx="502920" cy="65836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9631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1051560" y="2542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1051560" y="282549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priorisées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457200" y="3264408"/>
            <a:ext cx="4160520" cy="658368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264408"/>
            <a:ext cx="502920" cy="65836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6440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1051560" y="33101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– Planification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1051560" y="35935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Backlog &amp; objectifs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457200" y="4032504"/>
            <a:ext cx="4160520" cy="658368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4032504"/>
            <a:ext cx="502920" cy="65836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03250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/>
          </a:p>
        </p:txBody>
      </p:sp>
      <p:sp>
        <p:nvSpPr>
          <p:cNvPr id="29" name="Text 27"/>
          <p:cNvSpPr/>
          <p:nvPr/>
        </p:nvSpPr>
        <p:spPr>
          <a:xfrm>
            <a:off x="1051560" y="40782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&amp; 3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1051560" y="43616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Itérations &amp; évolutions</a:t>
            </a:r>
            <a:endParaRPr lang="en-US" sz="900"/>
          </a:p>
        </p:txBody>
      </p:sp>
      <p:sp>
        <p:nvSpPr>
          <p:cNvPr id="31" name="Shape 29"/>
          <p:cNvSpPr/>
          <p:nvPr/>
        </p:nvSpPr>
        <p:spPr>
          <a:xfrm>
            <a:off x="4846320" y="960120"/>
            <a:ext cx="4160520" cy="658368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960120"/>
            <a:ext cx="502920" cy="65836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9601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/>
          </a:p>
        </p:txBody>
      </p:sp>
      <p:sp>
        <p:nvSpPr>
          <p:cNvPr id="34" name="Text 32"/>
          <p:cNvSpPr/>
          <p:nvPr/>
        </p:nvSpPr>
        <p:spPr>
          <a:xfrm>
            <a:off x="5440680" y="1005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Maquettes UI</a:t>
            </a:r>
            <a:endParaRPr lang="en-US" sz="1200"/>
          </a:p>
        </p:txBody>
      </p:sp>
      <p:sp>
        <p:nvSpPr>
          <p:cNvPr id="35" name="Text 33"/>
          <p:cNvSpPr/>
          <p:nvPr/>
        </p:nvSpPr>
        <p:spPr>
          <a:xfrm>
            <a:off x="5440680" y="128930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de l'interface</a:t>
            </a:r>
            <a:endParaRPr lang="en-US" sz="900"/>
          </a:p>
        </p:txBody>
      </p:sp>
      <p:sp>
        <p:nvSpPr>
          <p:cNvPr id="36" name="Shape 34"/>
          <p:cNvSpPr/>
          <p:nvPr/>
        </p:nvSpPr>
        <p:spPr>
          <a:xfrm>
            <a:off x="4846320" y="1728216"/>
            <a:ext cx="4160520" cy="658368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1728216"/>
            <a:ext cx="502920" cy="65836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172821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/>
          </a:p>
        </p:txBody>
      </p:sp>
      <p:sp>
        <p:nvSpPr>
          <p:cNvPr id="39" name="Text 37"/>
          <p:cNvSpPr/>
          <p:nvPr/>
        </p:nvSpPr>
        <p:spPr>
          <a:xfrm>
            <a:off x="5440680" y="17739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Diagrammes Scrum</a:t>
            </a:r>
            <a:endParaRPr lang="en-US" sz="1200"/>
          </a:p>
        </p:txBody>
      </p:sp>
      <p:sp>
        <p:nvSpPr>
          <p:cNvPr id="40" name="Text 38"/>
          <p:cNvSpPr/>
          <p:nvPr/>
        </p:nvSpPr>
        <p:spPr>
          <a:xfrm>
            <a:off x="5440680" y="20574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Burndown, vélocité, rétro</a:t>
            </a:r>
            <a:endParaRPr lang="en-US" sz="900"/>
          </a:p>
        </p:txBody>
      </p:sp>
      <p:sp>
        <p:nvSpPr>
          <p:cNvPr id="41" name="Shape 39"/>
          <p:cNvSpPr/>
          <p:nvPr/>
        </p:nvSpPr>
        <p:spPr>
          <a:xfrm>
            <a:off x="4846320" y="2496312"/>
            <a:ext cx="4160520" cy="658368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46320" y="2496312"/>
            <a:ext cx="502920" cy="65836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249631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/>
          </a:p>
        </p:txBody>
      </p:sp>
      <p:sp>
        <p:nvSpPr>
          <p:cNvPr id="44" name="Text 42"/>
          <p:cNvSpPr/>
          <p:nvPr/>
        </p:nvSpPr>
        <p:spPr>
          <a:xfrm>
            <a:off x="5440680" y="2542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</a:t>
            </a:r>
            <a:endParaRPr lang="en-US" sz="1200"/>
          </a:p>
        </p:txBody>
      </p:sp>
      <p:sp>
        <p:nvSpPr>
          <p:cNvPr id="45" name="Text 43"/>
          <p:cNvSpPr/>
          <p:nvPr/>
        </p:nvSpPr>
        <p:spPr>
          <a:xfrm>
            <a:off x="5440680" y="282549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démos</a:t>
            </a:r>
            <a:endParaRPr lang="en-US" sz="900"/>
          </a:p>
        </p:txBody>
      </p:sp>
      <p:sp>
        <p:nvSpPr>
          <p:cNvPr id="46" name="Shape 44"/>
          <p:cNvSpPr/>
          <p:nvPr/>
        </p:nvSpPr>
        <p:spPr>
          <a:xfrm>
            <a:off x="4846320" y="3264408"/>
            <a:ext cx="4160520" cy="658368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46320" y="3264408"/>
            <a:ext cx="502920" cy="65836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326440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/>
          </a:p>
        </p:txBody>
      </p:sp>
      <p:sp>
        <p:nvSpPr>
          <p:cNvPr id="49" name="Text 47"/>
          <p:cNvSpPr/>
          <p:nvPr/>
        </p:nvSpPr>
        <p:spPr>
          <a:xfrm>
            <a:off x="5440680" y="33101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Rétrospective</a:t>
            </a:r>
            <a:endParaRPr lang="en-US" sz="1200"/>
          </a:p>
        </p:txBody>
      </p:sp>
      <p:sp>
        <p:nvSpPr>
          <p:cNvPr id="50" name="Text 48"/>
          <p:cNvSpPr/>
          <p:nvPr/>
        </p:nvSpPr>
        <p:spPr>
          <a:xfrm>
            <a:off x="5440680" y="35935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/ Drop / Try</a:t>
            </a:r>
            <a:endParaRPr lang="en-US" sz="900"/>
          </a:p>
        </p:txBody>
      </p:sp>
      <p:sp>
        <p:nvSpPr>
          <p:cNvPr id="51" name="Shape 49"/>
          <p:cNvSpPr/>
          <p:nvPr/>
        </p:nvSpPr>
        <p:spPr>
          <a:xfrm>
            <a:off x="4846320" y="4032504"/>
            <a:ext cx="4160520" cy="658368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846320" y="4032504"/>
            <a:ext cx="502920" cy="65836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6320" y="403250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/>
          </a:p>
        </p:txBody>
      </p:sp>
      <p:sp>
        <p:nvSpPr>
          <p:cNvPr id="54" name="Text 52"/>
          <p:cNvSpPr/>
          <p:nvPr/>
        </p:nvSpPr>
        <p:spPr>
          <a:xfrm>
            <a:off x="5440680" y="40782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Next Steps</a:t>
            </a:r>
            <a:endParaRPr lang="en-US" sz="1200"/>
          </a:p>
        </p:txBody>
      </p:sp>
      <p:sp>
        <p:nvSpPr>
          <p:cNvPr id="55" name="Text 53"/>
          <p:cNvSpPr/>
          <p:nvPr/>
        </p:nvSpPr>
        <p:spPr>
          <a:xfrm>
            <a:off x="5440680" y="43616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produit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2743200"/>
          </a:xfrm>
          <a:prstGeom prst="ellipse">
            <a:avLst/>
          </a:prstGeom>
          <a:solidFill>
            <a:srgbClr val="1B0A3A">
              <a:alpha val="60000"/>
            </a:srgbClr>
          </a:solidFill>
          <a:ln w="12700">
            <a:solidFill>
              <a:srgbClr val="1B0A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200400"/>
          </a:xfrm>
          <a:prstGeom prst="ellipse">
            <a:avLst/>
          </a:prstGeom>
          <a:solidFill>
            <a:srgbClr val="001A3A">
              <a:alpha val="55000"/>
            </a:srgbClr>
          </a:solidFill>
          <a:ln w="12700">
            <a:solidFill>
              <a:srgbClr val="001A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00C6FF"/>
                </a:solidFill>
                <a:latin typeface="Calibri"/>
                <a:ea typeface="Calibri"/>
                <a:cs typeface="Calibri"/>
              </a:rPr>
              <a:t>  VISION PRODUIT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7B2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Nexus — Pourquoi ce produit existe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023360" cy="1828800"/>
          </a:xfrm>
          <a:prstGeom prst="rect">
            <a:avLst/>
          </a:prstGeom>
          <a:solidFill>
            <a:srgbClr val="1A0030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4023360" cy="34747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️  PROBLÈMES IDENTIFIÉS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502920" y="1325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95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Conflits de créneaux entre équipes missions (NASA, ESA, JAXA...)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502920" y="16184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95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visibilité en temps réel sur les équipements partagés</a:t>
            </a:r>
            <a:endParaRPr lang="en-US" sz="950"/>
          </a:p>
        </p:txBody>
      </p:sp>
      <p:sp>
        <p:nvSpPr>
          <p:cNvPr id="12" name="Text 10"/>
          <p:cNvSpPr/>
          <p:nvPr/>
        </p:nvSpPr>
        <p:spPr>
          <a:xfrm>
            <a:off x="502920" y="19110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95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fragmentée — emails, tableurs, outils disparates</a:t>
            </a:r>
            <a:endParaRPr lang="en-US" sz="950"/>
          </a:p>
        </p:txBody>
      </p:sp>
      <p:sp>
        <p:nvSpPr>
          <p:cNvPr id="13" name="Text 11"/>
          <p:cNvSpPr/>
          <p:nvPr/>
        </p:nvSpPr>
        <p:spPr>
          <a:xfrm>
            <a:off x="502920" y="22037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95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critique de données lors des rotations d'équipe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4480560" y="1737360"/>
            <a:ext cx="457200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1600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B703"/>
                </a:solidFill>
              </a:rPr>
              <a:t>→</a:t>
            </a:r>
            <a:endParaRPr lang="en-US" sz="1800"/>
          </a:p>
        </p:txBody>
      </p:sp>
      <p:sp>
        <p:nvSpPr>
          <p:cNvPr id="16" name="Shape 14"/>
          <p:cNvSpPr/>
          <p:nvPr/>
        </p:nvSpPr>
        <p:spPr>
          <a:xfrm>
            <a:off x="4754880" y="914400"/>
            <a:ext cx="3977640" cy="1828800"/>
          </a:xfrm>
          <a:prstGeom prst="rect">
            <a:avLst/>
          </a:prstGeom>
          <a:solidFill>
            <a:srgbClr val="001A30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914400"/>
            <a:ext cx="3977640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9144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A0E1A"/>
                </a:solidFill>
              </a:rPr>
              <a:t>  ORBIT NEXUS RÉSOUT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4892040" y="132588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unifié : toutes les missions en un coup d'œil</a:t>
            </a:r>
            <a:endParaRPr lang="en-US" sz="950"/>
          </a:p>
        </p:txBody>
      </p:sp>
      <p:sp>
        <p:nvSpPr>
          <p:cNvPr id="20" name="Text 18"/>
          <p:cNvSpPr/>
          <p:nvPr/>
        </p:nvSpPr>
        <p:spPr>
          <a:xfrm>
            <a:off x="4892040" y="161848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de créneaux + équipements en 3 clics</a:t>
            </a:r>
            <a:endParaRPr lang="en-US" sz="950"/>
          </a:p>
        </p:txBody>
      </p:sp>
      <p:sp>
        <p:nvSpPr>
          <p:cNvPr id="21" name="Text 19"/>
          <p:cNvSpPr/>
          <p:nvPr/>
        </p:nvSpPr>
        <p:spPr>
          <a:xfrm>
            <a:off x="4892040" y="1911096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automatiques &amp; synchronisation multi-fuseaux</a:t>
            </a:r>
            <a:endParaRPr lang="en-US" sz="950"/>
          </a:p>
        </p:txBody>
      </p:sp>
      <p:sp>
        <p:nvSpPr>
          <p:cNvPr id="22" name="Text 20"/>
          <p:cNvSpPr/>
          <p:nvPr/>
        </p:nvSpPr>
        <p:spPr>
          <a:xfrm>
            <a:off x="4892040" y="2203704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complet &amp; archivage des données de mission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365760" y="2926080"/>
            <a:ext cx="8366760" cy="960120"/>
          </a:xfrm>
          <a:prstGeom prst="rect">
            <a:avLst/>
          </a:prstGeom>
          <a:solidFill>
            <a:srgbClr val="0A1428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926080"/>
            <a:ext cx="548640" cy="9601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92608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0E1A"/>
                </a:solidFill>
              </a:rPr>
              <a:t>MVP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100584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MVP :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1005840" y="3246120"/>
            <a:ext cx="758952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50" i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« </a:t>
            </a:r>
            <a:r>
              <a:rPr lang="en-US" sz="950" i="1" err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Permettre</a:t>
            </a:r>
            <a:r>
              <a:rPr lang="en-US" sz="950" i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 à </a:t>
            </a:r>
            <a:r>
              <a:rPr lang="en-US" sz="950" i="1" err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une</a:t>
            </a:r>
            <a:r>
              <a:rPr lang="en-US" sz="950" i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 équipe de recherche de </a:t>
            </a:r>
            <a:r>
              <a:rPr lang="en-US" sz="950" i="1" err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réserver</a:t>
            </a:r>
            <a:r>
              <a:rPr lang="en-US" sz="950" i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 un </a:t>
            </a:r>
            <a:r>
              <a:rPr lang="en-US" sz="950" i="1" err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créneau</a:t>
            </a:r>
            <a:r>
              <a:rPr lang="en-US" sz="950" i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50" i="1" err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d'utilisation</a:t>
            </a:r>
            <a:r>
              <a:rPr lang="en-US" sz="950" i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950" i="1" err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ressource</a:t>
            </a:r>
            <a:r>
              <a:rPr lang="en-US" sz="950" i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50" i="1" err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spatiale</a:t>
            </a:r>
            <a:r>
              <a:rPr lang="en-US" sz="950" i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50" i="1" err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partagée</a:t>
            </a:r>
            <a:r>
              <a:rPr lang="en-US" sz="950" i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 (salle de </a:t>
            </a:r>
            <a:r>
              <a:rPr lang="en-US" sz="950" i="1" err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contrôle</a:t>
            </a:r>
            <a:r>
              <a:rPr lang="en-US" sz="950" i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950" i="1" err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antenne</a:t>
            </a:r>
            <a:r>
              <a:rPr lang="en-US" sz="950" i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, satellite) </a:t>
            </a:r>
            <a:r>
              <a:rPr lang="en-US" sz="950" i="1" err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950" i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50" i="1" err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moins</a:t>
            </a:r>
            <a:r>
              <a:rPr lang="en-US" sz="950" i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 de 1 minutes, avec confirmation </a:t>
            </a:r>
            <a:r>
              <a:rPr lang="en-US" sz="950" i="1" err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instantanée</a:t>
            </a:r>
            <a:r>
              <a:rPr lang="en-US" sz="950" i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 et </a:t>
            </a:r>
            <a:r>
              <a:rPr lang="en-US" sz="950" i="1" err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zéro</a:t>
            </a:r>
            <a:r>
              <a:rPr lang="en-US" sz="950" i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50" i="1" err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conflit</a:t>
            </a:r>
            <a:r>
              <a:rPr lang="en-US" sz="950" i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 de planification. »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65760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C6FF"/>
                </a:solidFill>
              </a:rPr>
              <a:t>Utilisateurs cibles :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365760" y="4315968"/>
            <a:ext cx="20116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90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Chercheurs</a:t>
            </a:r>
            <a:r>
              <a:rPr lang="en-US" sz="90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&amp; </a:t>
            </a:r>
            <a:r>
              <a:rPr lang="en-US" sz="90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scientifiques</a:t>
            </a:r>
            <a:endParaRPr lang="en-US" sz="900" err="1">
              <a:latin typeface="Calibri"/>
              <a:ea typeface="Calibri"/>
              <a:cs typeface="Calibri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514600" y="4315968"/>
            <a:ext cx="20116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Coordinateurs de mission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663440" y="4315968"/>
            <a:ext cx="20116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Techniciens</a:t>
            </a:r>
            <a:r>
              <a:rPr lang="en-US" sz="90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0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équipements</a:t>
            </a:r>
            <a:endParaRPr lang="en-US" sz="900" err="1">
              <a:latin typeface="Calibri"/>
              <a:ea typeface="Calibri"/>
              <a:cs typeface="Calibri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812280" y="4315968"/>
            <a:ext cx="20116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0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Administrateurs</a:t>
            </a:r>
            <a:r>
              <a:rPr lang="en-US" sz="90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0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plateforme</a:t>
            </a:r>
            <a:endParaRPr lang="en-US" sz="900" err="1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2743200"/>
          </a:xfrm>
          <a:prstGeom prst="ellipse">
            <a:avLst/>
          </a:prstGeom>
          <a:solidFill>
            <a:srgbClr val="1B0A3A">
              <a:alpha val="60000"/>
            </a:srgbClr>
          </a:solidFill>
          <a:ln w="12700">
            <a:solidFill>
              <a:srgbClr val="1B0A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200400"/>
          </a:xfrm>
          <a:prstGeom prst="ellipse">
            <a:avLst/>
          </a:prstGeom>
          <a:solidFill>
            <a:srgbClr val="001A3A">
              <a:alpha val="55000"/>
            </a:srgbClr>
          </a:solidFill>
          <a:ln w="12700">
            <a:solidFill>
              <a:srgbClr val="001A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00C6FF"/>
                </a:solidFill>
                <a:latin typeface="Calibri"/>
                <a:ea typeface="Calibri"/>
                <a:cs typeface="Calibri"/>
              </a:rPr>
              <a:t>ÉQUIPE &amp; RÔLES SCRUM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7B2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040" y="5834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AstroSoft Labs — Composition de l'équipe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1554480" cy="338328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1554480" cy="3657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463040"/>
            <a:ext cx="914400" cy="914400"/>
          </a:xfrm>
          <a:prstGeom prst="ellipse">
            <a:avLst/>
          </a:prstGeom>
          <a:solidFill>
            <a:srgbClr val="0A0E1A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</a:rPr>
              <a:t>🏆</a:t>
            </a:r>
            <a:endParaRPr lang="en-US" sz="2600"/>
          </a:p>
        </p:txBody>
      </p:sp>
      <p:sp>
        <p:nvSpPr>
          <p:cNvPr id="11" name="Text 9"/>
          <p:cNvSpPr/>
          <p:nvPr/>
        </p:nvSpPr>
        <p:spPr>
          <a:xfrm>
            <a:off x="320040" y="2468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Oumou SOW</a:t>
            </a:r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1371600" cy="256032"/>
          </a:xfrm>
          <a:prstGeom prst="rect">
            <a:avLst/>
          </a:prstGeom>
          <a:solidFill>
            <a:srgbClr val="FFB703">
              <a:alpha val="4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34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Product Owner</a:t>
            </a:r>
            <a:endParaRPr lang="en-US" sz="800"/>
          </a:p>
        </p:txBody>
      </p:sp>
      <p:sp>
        <p:nvSpPr>
          <p:cNvPr id="14" name="Text 12"/>
          <p:cNvSpPr/>
          <p:nvPr/>
        </p:nvSpPr>
        <p:spPr>
          <a:xfrm>
            <a:off x="347472" y="32004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Ancienne chercheuse ESA</a:t>
            </a:r>
            <a:endParaRPr lang="en-US" sz="800"/>
          </a:p>
        </p:txBody>
      </p:sp>
      <p:sp>
        <p:nvSpPr>
          <p:cNvPr id="15" name="Text 13"/>
          <p:cNvSpPr/>
          <p:nvPr/>
        </p:nvSpPr>
        <p:spPr>
          <a:xfrm>
            <a:off x="347472" y="34564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Définit la vision produit</a:t>
            </a:r>
            <a:endParaRPr lang="en-US" sz="80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Priorise le backlog</a:t>
            </a:r>
            <a:endParaRPr lang="en-US" sz="800"/>
          </a:p>
        </p:txBody>
      </p:sp>
      <p:sp>
        <p:nvSpPr>
          <p:cNvPr id="17" name="Shape 15"/>
          <p:cNvSpPr/>
          <p:nvPr/>
        </p:nvSpPr>
        <p:spPr>
          <a:xfrm>
            <a:off x="2011680" y="960120"/>
            <a:ext cx="1554480" cy="338328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0" y="960120"/>
            <a:ext cx="1554480" cy="36576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31720" y="1463040"/>
            <a:ext cx="914400" cy="914400"/>
          </a:xfrm>
          <a:prstGeom prst="ellipse">
            <a:avLst/>
          </a:prstGeom>
          <a:solidFill>
            <a:srgbClr val="0A0E1A"/>
          </a:solidFill>
          <a:ln w="25400">
            <a:solidFill>
              <a:srgbClr val="00C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3172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</a:rPr>
              <a:t>⚙️</a:t>
            </a:r>
            <a:endParaRPr lang="en-US" sz="2600"/>
          </a:p>
        </p:txBody>
      </p:sp>
      <p:sp>
        <p:nvSpPr>
          <p:cNvPr id="21" name="Text 19"/>
          <p:cNvSpPr/>
          <p:nvPr/>
        </p:nvSpPr>
        <p:spPr>
          <a:xfrm>
            <a:off x="2057400" y="2468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Fouade</a:t>
            </a: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-Dine CHITOU</a:t>
            </a:r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103120" y="2834640"/>
            <a:ext cx="1371600" cy="256032"/>
          </a:xfrm>
          <a:prstGeom prst="rect">
            <a:avLst/>
          </a:prstGeom>
          <a:solidFill>
            <a:srgbClr val="00C6FF">
              <a:alpha val="40000"/>
            </a:srgbClr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2834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Scrum Master</a:t>
            </a:r>
            <a:endParaRPr lang="en-US" sz="800"/>
          </a:p>
        </p:txBody>
      </p:sp>
      <p:sp>
        <p:nvSpPr>
          <p:cNvPr id="25" name="Text 23"/>
          <p:cNvSpPr/>
          <p:nvPr/>
        </p:nvSpPr>
        <p:spPr>
          <a:xfrm>
            <a:off x="2084832" y="34564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• </a:t>
            </a:r>
            <a:r>
              <a:rPr lang="en-US" sz="80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Facilite</a:t>
            </a:r>
            <a:r>
              <a:rPr lang="en-US" sz="80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80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l'organisation</a:t>
            </a:r>
            <a:r>
              <a:rPr lang="en-US" sz="80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 du SCRUM</a:t>
            </a:r>
            <a:endParaRPr lang="en-US" sz="800"/>
          </a:p>
        </p:txBody>
      </p:sp>
      <p:sp>
        <p:nvSpPr>
          <p:cNvPr id="26" name="Text 24"/>
          <p:cNvSpPr/>
          <p:nvPr/>
        </p:nvSpPr>
        <p:spPr>
          <a:xfrm>
            <a:off x="2084832" y="371246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Élimine les obstacles</a:t>
            </a:r>
            <a:endParaRPr lang="en-US" sz="800"/>
          </a:p>
        </p:txBody>
      </p:sp>
      <p:sp>
        <p:nvSpPr>
          <p:cNvPr id="27" name="Shape 25"/>
          <p:cNvSpPr/>
          <p:nvPr/>
        </p:nvSpPr>
        <p:spPr>
          <a:xfrm>
            <a:off x="3749040" y="960120"/>
            <a:ext cx="1554480" cy="338328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49040" y="960120"/>
            <a:ext cx="1554480" cy="36576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69080" y="1463040"/>
            <a:ext cx="914400" cy="914400"/>
          </a:xfrm>
          <a:prstGeom prst="ellipse">
            <a:avLst/>
          </a:prstGeom>
          <a:solidFill>
            <a:srgbClr val="0A0E1A"/>
          </a:solidFill>
          <a:ln w="25400">
            <a:solidFill>
              <a:srgbClr val="7B2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6908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</a:rPr>
              <a:t>🖥️</a:t>
            </a:r>
            <a:endParaRPr lang="en-US" sz="2600"/>
          </a:p>
        </p:txBody>
      </p:sp>
      <p:sp>
        <p:nvSpPr>
          <p:cNvPr id="31" name="Text 29"/>
          <p:cNvSpPr/>
          <p:nvPr/>
        </p:nvSpPr>
        <p:spPr>
          <a:xfrm>
            <a:off x="3794760" y="2468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Ramsses NGALANG</a:t>
            </a:r>
          </a:p>
        </p:txBody>
      </p:sp>
      <p:sp>
        <p:nvSpPr>
          <p:cNvPr id="32" name="Shape 30"/>
          <p:cNvSpPr/>
          <p:nvPr/>
        </p:nvSpPr>
        <p:spPr>
          <a:xfrm>
            <a:off x="3840480" y="2834640"/>
            <a:ext cx="1371600" cy="256032"/>
          </a:xfrm>
          <a:prstGeom prst="rect">
            <a:avLst/>
          </a:prstGeom>
          <a:solidFill>
            <a:srgbClr val="7B2FFF">
              <a:alpha val="40000"/>
            </a:srgbClr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0" y="2834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Dev Front-End</a:t>
            </a:r>
            <a:endParaRPr lang="en-US" sz="800"/>
          </a:p>
        </p:txBody>
      </p:sp>
      <p:sp>
        <p:nvSpPr>
          <p:cNvPr id="34" name="Text 32"/>
          <p:cNvSpPr/>
          <p:nvPr/>
        </p:nvSpPr>
        <p:spPr>
          <a:xfrm>
            <a:off x="3822192" y="32004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/ TypeScript</a:t>
            </a:r>
            <a:endParaRPr lang="en-US" sz="800"/>
          </a:p>
        </p:txBody>
      </p:sp>
      <p:sp>
        <p:nvSpPr>
          <p:cNvPr id="35" name="Text 33"/>
          <p:cNvSpPr/>
          <p:nvPr/>
        </p:nvSpPr>
        <p:spPr>
          <a:xfrm>
            <a:off x="3822192" y="34564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UI/UX Design</a:t>
            </a:r>
            <a:endParaRPr lang="en-US" sz="800"/>
          </a:p>
        </p:txBody>
      </p:sp>
      <p:sp>
        <p:nvSpPr>
          <p:cNvPr id="36" name="Text 34"/>
          <p:cNvSpPr/>
          <p:nvPr/>
        </p:nvSpPr>
        <p:spPr>
          <a:xfrm>
            <a:off x="3822192" y="371246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Accessibilité</a:t>
            </a:r>
            <a:endParaRPr lang="en-US" sz="800"/>
          </a:p>
        </p:txBody>
      </p:sp>
      <p:sp>
        <p:nvSpPr>
          <p:cNvPr id="37" name="Shape 35"/>
          <p:cNvSpPr/>
          <p:nvPr/>
        </p:nvSpPr>
        <p:spPr>
          <a:xfrm>
            <a:off x="5486400" y="960120"/>
            <a:ext cx="1554480" cy="338328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86400" y="960120"/>
            <a:ext cx="1554480" cy="365760"/>
          </a:xfrm>
          <a:prstGeom prst="rect">
            <a:avLst/>
          </a:prstGeom>
          <a:solidFill>
            <a:srgbClr val="0AC2A0"/>
          </a:solidFill>
          <a:ln w="12700">
            <a:solidFill>
              <a:srgbClr val="0AC2A0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06440" y="1463040"/>
            <a:ext cx="914400" cy="914400"/>
          </a:xfrm>
          <a:prstGeom prst="ellipse">
            <a:avLst/>
          </a:prstGeom>
          <a:solidFill>
            <a:srgbClr val="0A0E1A"/>
          </a:solidFill>
          <a:ln w="25400">
            <a:solidFill>
              <a:srgbClr val="0AC2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0644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</a:rPr>
              <a:t>🗄️</a:t>
            </a:r>
            <a:endParaRPr lang="en-US" sz="2600"/>
          </a:p>
        </p:txBody>
      </p:sp>
      <p:sp>
        <p:nvSpPr>
          <p:cNvPr id="41" name="Text 39"/>
          <p:cNvSpPr/>
          <p:nvPr/>
        </p:nvSpPr>
        <p:spPr>
          <a:xfrm>
            <a:off x="5532120" y="2468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Fati BA</a:t>
            </a:r>
          </a:p>
        </p:txBody>
      </p:sp>
      <p:sp>
        <p:nvSpPr>
          <p:cNvPr id="42" name="Shape 40"/>
          <p:cNvSpPr/>
          <p:nvPr/>
        </p:nvSpPr>
        <p:spPr>
          <a:xfrm>
            <a:off x="5577840" y="2834640"/>
            <a:ext cx="1371600" cy="256032"/>
          </a:xfrm>
          <a:prstGeom prst="rect">
            <a:avLst/>
          </a:prstGeom>
          <a:solidFill>
            <a:srgbClr val="0AC2A0">
              <a:alpha val="40000"/>
            </a:srgbClr>
          </a:solidFill>
          <a:ln w="12700">
            <a:solidFill>
              <a:srgbClr val="0AC2A0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77840" y="2834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Dev Back-End</a:t>
            </a:r>
            <a:endParaRPr lang="en-US" sz="800"/>
          </a:p>
        </p:txBody>
      </p:sp>
      <p:sp>
        <p:nvSpPr>
          <p:cNvPr id="44" name="Text 42"/>
          <p:cNvSpPr/>
          <p:nvPr/>
        </p:nvSpPr>
        <p:spPr>
          <a:xfrm>
            <a:off x="5559552" y="32004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• python / PostgreSQL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559552" y="34564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REST / GraphQL</a:t>
            </a:r>
            <a:endParaRPr lang="en-US" sz="800"/>
          </a:p>
        </p:txBody>
      </p:sp>
      <p:sp>
        <p:nvSpPr>
          <p:cNvPr id="46" name="Text 44"/>
          <p:cNvSpPr/>
          <p:nvPr/>
        </p:nvSpPr>
        <p:spPr>
          <a:xfrm>
            <a:off x="5559552" y="371246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• Sécurité &amp; auth (</a:t>
            </a:r>
            <a:r>
              <a:rPr lang="en-US" sz="80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jwt</a:t>
            </a:r>
            <a:r>
              <a:rPr lang="en-US" sz="80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, root)</a:t>
            </a:r>
            <a:endParaRPr lang="en-US" sz="800"/>
          </a:p>
        </p:txBody>
      </p:sp>
      <p:sp>
        <p:nvSpPr>
          <p:cNvPr id="47" name="Shape 45"/>
          <p:cNvSpPr/>
          <p:nvPr/>
        </p:nvSpPr>
        <p:spPr>
          <a:xfrm>
            <a:off x="7223760" y="960120"/>
            <a:ext cx="1554480" cy="338328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223760" y="960120"/>
            <a:ext cx="1554480" cy="36576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43800" y="1463040"/>
            <a:ext cx="914400" cy="914400"/>
          </a:xfrm>
          <a:prstGeom prst="ellipse">
            <a:avLst/>
          </a:prstGeom>
          <a:solidFill>
            <a:srgbClr val="0A0E1A"/>
          </a:solidFill>
          <a:ln w="25400">
            <a:solidFill>
              <a:srgbClr val="FF6B9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4380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</a:rPr>
              <a:t>🎨</a:t>
            </a:r>
            <a:endParaRPr lang="en-US" sz="2600"/>
          </a:p>
        </p:txBody>
      </p:sp>
      <p:sp>
        <p:nvSpPr>
          <p:cNvPr id="51" name="Text 49"/>
          <p:cNvSpPr/>
          <p:nvPr/>
        </p:nvSpPr>
        <p:spPr>
          <a:xfrm>
            <a:off x="7269480" y="2468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Léa </a:t>
            </a:r>
            <a:r>
              <a:rPr lang="en-US" sz="9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eru</a:t>
            </a: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Ndolé</a:t>
            </a:r>
          </a:p>
        </p:txBody>
      </p:sp>
      <p:sp>
        <p:nvSpPr>
          <p:cNvPr id="52" name="Shape 50"/>
          <p:cNvSpPr/>
          <p:nvPr/>
        </p:nvSpPr>
        <p:spPr>
          <a:xfrm>
            <a:off x="7315200" y="2834640"/>
            <a:ext cx="1371600" cy="256032"/>
          </a:xfrm>
          <a:prstGeom prst="rect">
            <a:avLst/>
          </a:prstGeom>
          <a:solidFill>
            <a:srgbClr val="FF6B9D">
              <a:alpha val="40000"/>
            </a:srgbClr>
          </a:solidFill>
          <a:ln w="12700">
            <a:solidFill>
              <a:srgbClr val="FF6B9D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0" y="2834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UI/UX Designer</a:t>
            </a:r>
            <a:endParaRPr lang="en-US" sz="800"/>
          </a:p>
        </p:txBody>
      </p:sp>
      <p:sp>
        <p:nvSpPr>
          <p:cNvPr id="54" name="Text 52"/>
          <p:cNvSpPr/>
          <p:nvPr/>
        </p:nvSpPr>
        <p:spPr>
          <a:xfrm>
            <a:off x="7296912" y="32004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Figma / Prototypage</a:t>
            </a:r>
            <a:endParaRPr lang="en-US" sz="800"/>
          </a:p>
        </p:txBody>
      </p:sp>
      <p:sp>
        <p:nvSpPr>
          <p:cNvPr id="55" name="Text 53"/>
          <p:cNvSpPr/>
          <p:nvPr/>
        </p:nvSpPr>
        <p:spPr>
          <a:xfrm>
            <a:off x="7296912" y="34564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Tests utilisateurs</a:t>
            </a:r>
            <a:endParaRPr lang="en-US" sz="800"/>
          </a:p>
        </p:txBody>
      </p:sp>
      <p:sp>
        <p:nvSpPr>
          <p:cNvPr id="56" name="Text 54"/>
          <p:cNvSpPr/>
          <p:nvPr/>
        </p:nvSpPr>
        <p:spPr>
          <a:xfrm>
            <a:off x="7296912" y="371246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Système design</a:t>
            </a:r>
            <a:endParaRPr lang="en-US" sz="800"/>
          </a:p>
        </p:txBody>
      </p:sp>
      <p:sp>
        <p:nvSpPr>
          <p:cNvPr id="57" name="Shape 55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solidFill>
            <a:srgbClr val="0A1428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Framework Scrum  </a:t>
            </a:r>
            <a:r>
              <a:rPr lang="en-US" sz="9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 2 semaines  |  Daily Scrum 15 min  |  Sprint Review  |  Rétrospective  |  </a:t>
            </a:r>
            <a:r>
              <a:rPr lang="en-US" sz="9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 : code reviewé + testé + déployé</a:t>
            </a:r>
            <a:endParaRPr lang="en-US" sz="900"/>
          </a:p>
        </p:txBody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94F652E8-E664-19C5-82B0-B64E3C5AFA85}"/>
              </a:ext>
            </a:extLst>
          </p:cNvPr>
          <p:cNvSpPr/>
          <p:nvPr/>
        </p:nvSpPr>
        <p:spPr>
          <a:xfrm>
            <a:off x="2078338" y="3196659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• </a:t>
            </a:r>
            <a:r>
              <a:rPr lang="en-US" sz="80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Faciliter</a:t>
            </a:r>
            <a:r>
              <a:rPr lang="en-US" sz="80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la communication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24" name="Text 54">
            <a:extLst>
              <a:ext uri="{FF2B5EF4-FFF2-40B4-BE49-F238E27FC236}">
                <a16:creationId xmlns:a16="http://schemas.microsoft.com/office/drawing/2014/main" id="{40D0396C-9ADB-269F-93C8-E297CEA175DB}"/>
              </a:ext>
            </a:extLst>
          </p:cNvPr>
          <p:cNvSpPr/>
          <p:nvPr/>
        </p:nvSpPr>
        <p:spPr>
          <a:xfrm>
            <a:off x="7318478" y="394969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>
              <a:solidFill>
                <a:srgbClr val="8899AA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2743200"/>
          </a:xfrm>
          <a:prstGeom prst="ellipse">
            <a:avLst/>
          </a:prstGeom>
          <a:solidFill>
            <a:srgbClr val="1B0A3A">
              <a:alpha val="60000"/>
            </a:srgbClr>
          </a:solidFill>
          <a:ln w="12700">
            <a:solidFill>
              <a:srgbClr val="1B0A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200400"/>
          </a:xfrm>
          <a:prstGeom prst="ellipse">
            <a:avLst/>
          </a:prstGeom>
          <a:solidFill>
            <a:srgbClr val="001A3A">
              <a:alpha val="55000"/>
            </a:srgbClr>
          </a:solidFill>
          <a:ln w="12700">
            <a:solidFill>
              <a:srgbClr val="001A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00C6FF"/>
                </a:solidFill>
                <a:latin typeface="Calibri"/>
                <a:ea typeface="Calibri"/>
                <a:cs typeface="Calibri"/>
              </a:rPr>
              <a:t> PRODUCT BACKLOG PRIORISÉ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7B2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2681" y="5834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— Format : En tant que / Je veux / Afin de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365760" cy="310896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6012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#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5303520" cy="310896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96012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User Story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6035040" y="960120"/>
            <a:ext cx="1005840" cy="310896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9601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Priorité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7086600" y="960120"/>
            <a:ext cx="822960" cy="310896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9601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Points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7955280" y="960120"/>
            <a:ext cx="822960" cy="310896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9601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Sprint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274320" y="1298448"/>
            <a:ext cx="8549640" cy="365760"/>
          </a:xfrm>
          <a:prstGeom prst="rect">
            <a:avLst/>
          </a:prstGeom>
          <a:solidFill>
            <a:srgbClr val="0D1B2A"/>
          </a:solidFill>
          <a:ln w="3810">
            <a:solidFill>
              <a:srgbClr val="00C6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US01</a:t>
            </a:r>
            <a:endParaRPr lang="en-US" sz="750"/>
          </a:p>
        </p:txBody>
      </p:sp>
      <p:sp>
        <p:nvSpPr>
          <p:cNvPr id="19" name="Text 17"/>
          <p:cNvSpPr/>
          <p:nvPr/>
        </p:nvSpPr>
        <p:spPr>
          <a:xfrm>
            <a:off x="685800" y="1298448"/>
            <a:ext cx="53035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que chercheur, je veux consulter le calendrier des ressources afin de voir les créneaux disponibles en temps réel.</a:t>
            </a:r>
            <a:endParaRPr lang="en-US" sz="750"/>
          </a:p>
        </p:txBody>
      </p:sp>
      <p:sp>
        <p:nvSpPr>
          <p:cNvPr id="20" name="Text 18"/>
          <p:cNvSpPr/>
          <p:nvPr/>
        </p:nvSpPr>
        <p:spPr>
          <a:xfrm>
            <a:off x="6035040" y="12984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E0F0FF"/>
                </a:solidFill>
              </a:rPr>
              <a:t>🔴 Must</a:t>
            </a:r>
            <a:endParaRPr lang="en-US" sz="750"/>
          </a:p>
        </p:txBody>
      </p:sp>
      <p:sp>
        <p:nvSpPr>
          <p:cNvPr id="21" name="Text 19"/>
          <p:cNvSpPr/>
          <p:nvPr/>
        </p:nvSpPr>
        <p:spPr>
          <a:xfrm>
            <a:off x="7086600" y="12984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B703"/>
                </a:solidFill>
                <a:ea typeface="Calibri"/>
                <a:cs typeface="Calibri"/>
              </a:rPr>
              <a:t>6</a:t>
            </a:r>
          </a:p>
        </p:txBody>
      </p:sp>
      <p:sp>
        <p:nvSpPr>
          <p:cNvPr id="22" name="Text 20"/>
          <p:cNvSpPr/>
          <p:nvPr/>
        </p:nvSpPr>
        <p:spPr>
          <a:xfrm>
            <a:off x="7955280" y="12984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0C6FF"/>
                </a:solidFill>
              </a:rPr>
              <a:t>S1</a:t>
            </a:r>
            <a:endParaRPr lang="en-US" sz="800"/>
          </a:p>
        </p:txBody>
      </p:sp>
      <p:sp>
        <p:nvSpPr>
          <p:cNvPr id="23" name="Shape 21"/>
          <p:cNvSpPr/>
          <p:nvPr/>
        </p:nvSpPr>
        <p:spPr>
          <a:xfrm>
            <a:off x="274320" y="1682496"/>
            <a:ext cx="8549640" cy="365760"/>
          </a:xfrm>
          <a:prstGeom prst="rect">
            <a:avLst/>
          </a:prstGeom>
          <a:solidFill>
            <a:srgbClr val="111F30"/>
          </a:solidFill>
          <a:ln w="3810">
            <a:solidFill>
              <a:srgbClr val="00C6FF">
                <a:alpha val="2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US02</a:t>
            </a:r>
            <a:endParaRPr lang="en-US" sz="750"/>
          </a:p>
        </p:txBody>
      </p:sp>
      <p:sp>
        <p:nvSpPr>
          <p:cNvPr id="25" name="Text 23"/>
          <p:cNvSpPr/>
          <p:nvPr/>
        </p:nvSpPr>
        <p:spPr>
          <a:xfrm>
            <a:off x="685800" y="1682496"/>
            <a:ext cx="53035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que chercheur, je veux réserver une ressource spatiale afin de sécuriser mon créneau de mission.</a:t>
            </a:r>
            <a:endParaRPr lang="en-US" sz="750"/>
          </a:p>
        </p:txBody>
      </p:sp>
      <p:sp>
        <p:nvSpPr>
          <p:cNvPr id="26" name="Text 24"/>
          <p:cNvSpPr/>
          <p:nvPr/>
        </p:nvSpPr>
        <p:spPr>
          <a:xfrm>
            <a:off x="6035040" y="168249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E0F0FF"/>
                </a:solidFill>
              </a:rPr>
              <a:t>🔴 Must</a:t>
            </a:r>
            <a:endParaRPr lang="en-US" sz="750"/>
          </a:p>
        </p:txBody>
      </p:sp>
      <p:sp>
        <p:nvSpPr>
          <p:cNvPr id="27" name="Text 25"/>
          <p:cNvSpPr/>
          <p:nvPr/>
        </p:nvSpPr>
        <p:spPr>
          <a:xfrm>
            <a:off x="7086600" y="168249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B703"/>
                </a:solidFill>
              </a:rPr>
              <a:t>8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7955280" y="168249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0C6FF"/>
                </a:solidFill>
              </a:rPr>
              <a:t>S1</a:t>
            </a:r>
            <a:endParaRPr lang="en-US" sz="800"/>
          </a:p>
        </p:txBody>
      </p:sp>
      <p:sp>
        <p:nvSpPr>
          <p:cNvPr id="29" name="Shape 27"/>
          <p:cNvSpPr/>
          <p:nvPr/>
        </p:nvSpPr>
        <p:spPr>
          <a:xfrm>
            <a:off x="274320" y="2066544"/>
            <a:ext cx="8549640" cy="365760"/>
          </a:xfrm>
          <a:prstGeom prst="rect">
            <a:avLst/>
          </a:prstGeom>
          <a:solidFill>
            <a:srgbClr val="0D1B2A"/>
          </a:solidFill>
          <a:ln w="3810">
            <a:solidFill>
              <a:srgbClr val="00C6FF">
                <a:alpha val="2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066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US03</a:t>
            </a:r>
            <a:endParaRPr lang="en-US" sz="750"/>
          </a:p>
        </p:txBody>
      </p:sp>
      <p:sp>
        <p:nvSpPr>
          <p:cNvPr id="31" name="Text 29"/>
          <p:cNvSpPr/>
          <p:nvPr/>
        </p:nvSpPr>
        <p:spPr>
          <a:xfrm>
            <a:off x="685800" y="2066544"/>
            <a:ext cx="53035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qu'utilisateur, je veux recevoir une confirmation par email/app afin d'être certain que ma réservation est validée.</a:t>
            </a:r>
            <a:endParaRPr lang="en-US" sz="750"/>
          </a:p>
        </p:txBody>
      </p:sp>
      <p:sp>
        <p:nvSpPr>
          <p:cNvPr id="32" name="Text 30"/>
          <p:cNvSpPr/>
          <p:nvPr/>
        </p:nvSpPr>
        <p:spPr>
          <a:xfrm>
            <a:off x="6035040" y="20665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E0F0FF"/>
                </a:solidFill>
              </a:rPr>
              <a:t>🔴 Must</a:t>
            </a:r>
            <a:endParaRPr lang="en-US" sz="750"/>
          </a:p>
        </p:txBody>
      </p:sp>
      <p:sp>
        <p:nvSpPr>
          <p:cNvPr id="33" name="Text 31"/>
          <p:cNvSpPr/>
          <p:nvPr/>
        </p:nvSpPr>
        <p:spPr>
          <a:xfrm>
            <a:off x="7086600" y="206654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B703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4" name="Text 32"/>
          <p:cNvSpPr/>
          <p:nvPr/>
        </p:nvSpPr>
        <p:spPr>
          <a:xfrm>
            <a:off x="7955280" y="206654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0C6FF"/>
                </a:solidFill>
              </a:rPr>
              <a:t>S1</a:t>
            </a:r>
            <a:endParaRPr lang="en-US" sz="800"/>
          </a:p>
        </p:txBody>
      </p:sp>
      <p:sp>
        <p:nvSpPr>
          <p:cNvPr id="35" name="Shape 33"/>
          <p:cNvSpPr/>
          <p:nvPr/>
        </p:nvSpPr>
        <p:spPr>
          <a:xfrm>
            <a:off x="274320" y="2450592"/>
            <a:ext cx="8549640" cy="365760"/>
          </a:xfrm>
          <a:prstGeom prst="rect">
            <a:avLst/>
          </a:prstGeom>
          <a:solidFill>
            <a:srgbClr val="111F30"/>
          </a:solidFill>
          <a:ln w="3810">
            <a:solidFill>
              <a:srgbClr val="00C6FF">
                <a:alpha val="2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US04</a:t>
            </a:r>
            <a:endParaRPr lang="en-US" sz="750"/>
          </a:p>
        </p:txBody>
      </p:sp>
      <p:sp>
        <p:nvSpPr>
          <p:cNvPr id="37" name="Text 35"/>
          <p:cNvSpPr/>
          <p:nvPr/>
        </p:nvSpPr>
        <p:spPr>
          <a:xfrm>
            <a:off x="685800" y="2450592"/>
            <a:ext cx="53035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qu'utilisateur, je veux modifier ma réservation afin d'adapter les horaires en cas d'imprévu.</a:t>
            </a:r>
            <a:endParaRPr lang="en-US" sz="750"/>
          </a:p>
        </p:txBody>
      </p:sp>
      <p:sp>
        <p:nvSpPr>
          <p:cNvPr id="38" name="Text 36"/>
          <p:cNvSpPr/>
          <p:nvPr/>
        </p:nvSpPr>
        <p:spPr>
          <a:xfrm>
            <a:off x="6035040" y="24505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E0F0FF"/>
                </a:solidFill>
              </a:rPr>
              <a:t>🟠 Should</a:t>
            </a:r>
            <a:endParaRPr lang="en-US" sz="750"/>
          </a:p>
        </p:txBody>
      </p:sp>
      <p:sp>
        <p:nvSpPr>
          <p:cNvPr id="39" name="Text 37"/>
          <p:cNvSpPr/>
          <p:nvPr/>
        </p:nvSpPr>
        <p:spPr>
          <a:xfrm>
            <a:off x="7086600" y="24505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B703"/>
                </a:solidFill>
              </a:rPr>
              <a:t>5</a:t>
            </a:r>
            <a:endParaRPr lang="en-US" sz="900"/>
          </a:p>
        </p:txBody>
      </p:sp>
      <p:sp>
        <p:nvSpPr>
          <p:cNvPr id="40" name="Text 38"/>
          <p:cNvSpPr/>
          <p:nvPr/>
        </p:nvSpPr>
        <p:spPr>
          <a:xfrm>
            <a:off x="7955280" y="24505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7B2FFF"/>
                </a:solidFill>
              </a:rPr>
              <a:t>S2</a:t>
            </a:r>
            <a:endParaRPr lang="en-US" sz="800"/>
          </a:p>
        </p:txBody>
      </p:sp>
      <p:sp>
        <p:nvSpPr>
          <p:cNvPr id="41" name="Shape 39"/>
          <p:cNvSpPr/>
          <p:nvPr/>
        </p:nvSpPr>
        <p:spPr>
          <a:xfrm>
            <a:off x="274320" y="2834640"/>
            <a:ext cx="8549640" cy="365760"/>
          </a:xfrm>
          <a:prstGeom prst="rect">
            <a:avLst/>
          </a:prstGeom>
          <a:solidFill>
            <a:srgbClr val="0D1B2A"/>
          </a:solidFill>
          <a:ln w="3810">
            <a:solidFill>
              <a:srgbClr val="00C6FF">
                <a:alpha val="2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US05</a:t>
            </a:r>
            <a:endParaRPr lang="en-US" sz="750"/>
          </a:p>
        </p:txBody>
      </p:sp>
      <p:sp>
        <p:nvSpPr>
          <p:cNvPr id="43" name="Text 41"/>
          <p:cNvSpPr/>
          <p:nvPr/>
        </p:nvSpPr>
        <p:spPr>
          <a:xfrm>
            <a:off x="685800" y="2834640"/>
            <a:ext cx="53035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qu'utilisateur, je veux annuler une réservation afin de libérer le créneau pour mes collègues.</a:t>
            </a:r>
            <a:endParaRPr lang="en-US" sz="750"/>
          </a:p>
        </p:txBody>
      </p:sp>
      <p:sp>
        <p:nvSpPr>
          <p:cNvPr id="44" name="Text 42"/>
          <p:cNvSpPr/>
          <p:nvPr/>
        </p:nvSpPr>
        <p:spPr>
          <a:xfrm>
            <a:off x="6035040" y="28346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E0F0FF"/>
                </a:solidFill>
              </a:rPr>
              <a:t>🟠 Should</a:t>
            </a:r>
            <a:endParaRPr lang="en-US" sz="750"/>
          </a:p>
        </p:txBody>
      </p:sp>
      <p:sp>
        <p:nvSpPr>
          <p:cNvPr id="45" name="Text 43"/>
          <p:cNvSpPr/>
          <p:nvPr/>
        </p:nvSpPr>
        <p:spPr>
          <a:xfrm>
            <a:off x="7086600" y="28346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B703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46" name="Text 44"/>
          <p:cNvSpPr/>
          <p:nvPr/>
        </p:nvSpPr>
        <p:spPr>
          <a:xfrm>
            <a:off x="7955280" y="28346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7B2FFF"/>
                </a:solidFill>
              </a:rPr>
              <a:t>S2</a:t>
            </a:r>
            <a:endParaRPr lang="en-US" sz="800"/>
          </a:p>
        </p:txBody>
      </p:sp>
      <p:sp>
        <p:nvSpPr>
          <p:cNvPr id="47" name="Shape 45"/>
          <p:cNvSpPr/>
          <p:nvPr/>
        </p:nvSpPr>
        <p:spPr>
          <a:xfrm>
            <a:off x="274320" y="3218688"/>
            <a:ext cx="8549640" cy="365760"/>
          </a:xfrm>
          <a:prstGeom prst="rect">
            <a:avLst/>
          </a:prstGeom>
          <a:solidFill>
            <a:srgbClr val="111F30"/>
          </a:solidFill>
          <a:ln w="3810">
            <a:solidFill>
              <a:srgbClr val="00C6FF">
                <a:alpha val="2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US06</a:t>
            </a:r>
            <a:endParaRPr lang="en-US" sz="750"/>
          </a:p>
        </p:txBody>
      </p:sp>
      <p:sp>
        <p:nvSpPr>
          <p:cNvPr id="49" name="Text 47"/>
          <p:cNvSpPr/>
          <p:nvPr/>
        </p:nvSpPr>
        <p:spPr>
          <a:xfrm>
            <a:off x="685800" y="3218688"/>
            <a:ext cx="53035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qu'admin, je veux gérer les ressources (ajouter/modifier/supprimer) afin de maintenir la liste à jour.</a:t>
            </a:r>
            <a:endParaRPr lang="en-US" sz="750"/>
          </a:p>
        </p:txBody>
      </p:sp>
      <p:sp>
        <p:nvSpPr>
          <p:cNvPr id="50" name="Text 48"/>
          <p:cNvSpPr/>
          <p:nvPr/>
        </p:nvSpPr>
        <p:spPr>
          <a:xfrm>
            <a:off x="6035040" y="321868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E0F0FF"/>
                </a:solidFill>
              </a:rPr>
              <a:t>🟠 Should</a:t>
            </a:r>
            <a:endParaRPr lang="en-US" sz="750"/>
          </a:p>
        </p:txBody>
      </p:sp>
      <p:sp>
        <p:nvSpPr>
          <p:cNvPr id="51" name="Text 49"/>
          <p:cNvSpPr/>
          <p:nvPr/>
        </p:nvSpPr>
        <p:spPr>
          <a:xfrm>
            <a:off x="7086600" y="32186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B703"/>
                </a:solidFill>
              </a:rPr>
              <a:t>9</a:t>
            </a:r>
            <a:endParaRPr lang="en-US" sz="900" b="1">
              <a:solidFill>
                <a:srgbClr val="FFB703"/>
              </a:solidFill>
              <a:ea typeface="Calibri"/>
              <a:cs typeface="Calibri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7955280" y="32186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7B2FFF"/>
                </a:solidFill>
              </a:rPr>
              <a:t>S2</a:t>
            </a:r>
            <a:endParaRPr lang="en-US" sz="800"/>
          </a:p>
        </p:txBody>
      </p:sp>
      <p:sp>
        <p:nvSpPr>
          <p:cNvPr id="53" name="Shape 51"/>
          <p:cNvSpPr/>
          <p:nvPr/>
        </p:nvSpPr>
        <p:spPr>
          <a:xfrm>
            <a:off x="274320" y="3602736"/>
            <a:ext cx="8549640" cy="365760"/>
          </a:xfrm>
          <a:prstGeom prst="rect">
            <a:avLst/>
          </a:prstGeom>
          <a:solidFill>
            <a:srgbClr val="0D1B2A"/>
          </a:solidFill>
          <a:ln w="3810">
            <a:solidFill>
              <a:srgbClr val="00C6FF">
                <a:alpha val="2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US07</a:t>
            </a:r>
            <a:endParaRPr lang="en-US" sz="750"/>
          </a:p>
        </p:txBody>
      </p:sp>
      <p:sp>
        <p:nvSpPr>
          <p:cNvPr id="55" name="Text 53"/>
          <p:cNvSpPr/>
          <p:nvPr/>
        </p:nvSpPr>
        <p:spPr>
          <a:xfrm>
            <a:off x="685800" y="3602736"/>
            <a:ext cx="53035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que coordinateur, je veux voir les conflits de planification afin de les résoudre proactivement.</a:t>
            </a:r>
            <a:endParaRPr lang="en-US" sz="750"/>
          </a:p>
        </p:txBody>
      </p:sp>
      <p:sp>
        <p:nvSpPr>
          <p:cNvPr id="56" name="Text 54"/>
          <p:cNvSpPr/>
          <p:nvPr/>
        </p:nvSpPr>
        <p:spPr>
          <a:xfrm>
            <a:off x="6035040" y="360273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E0F0FF"/>
                </a:solidFill>
              </a:rPr>
              <a:t>🟡 Could</a:t>
            </a:r>
            <a:endParaRPr lang="en-US" sz="750"/>
          </a:p>
        </p:txBody>
      </p:sp>
      <p:sp>
        <p:nvSpPr>
          <p:cNvPr id="57" name="Text 55"/>
          <p:cNvSpPr/>
          <p:nvPr/>
        </p:nvSpPr>
        <p:spPr>
          <a:xfrm>
            <a:off x="7086600" y="360273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B703"/>
                </a:solidFill>
              </a:rPr>
              <a:t>8</a:t>
            </a:r>
            <a:endParaRPr lang="en-US" sz="900"/>
          </a:p>
        </p:txBody>
      </p:sp>
      <p:sp>
        <p:nvSpPr>
          <p:cNvPr id="58" name="Text 56"/>
          <p:cNvSpPr/>
          <p:nvPr/>
        </p:nvSpPr>
        <p:spPr>
          <a:xfrm>
            <a:off x="7955280" y="360273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6D6A0"/>
                </a:solidFill>
              </a:rPr>
              <a:t>S3</a:t>
            </a:r>
            <a:endParaRPr lang="en-US" sz="800"/>
          </a:p>
        </p:txBody>
      </p:sp>
      <p:sp>
        <p:nvSpPr>
          <p:cNvPr id="59" name="Shape 57"/>
          <p:cNvSpPr/>
          <p:nvPr/>
        </p:nvSpPr>
        <p:spPr>
          <a:xfrm>
            <a:off x="274320" y="3986784"/>
            <a:ext cx="8549640" cy="365760"/>
          </a:xfrm>
          <a:prstGeom prst="rect">
            <a:avLst/>
          </a:prstGeom>
          <a:solidFill>
            <a:srgbClr val="111F30"/>
          </a:solidFill>
          <a:ln w="3810">
            <a:solidFill>
              <a:srgbClr val="00C6FF">
                <a:alpha val="2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US08</a:t>
            </a:r>
            <a:endParaRPr lang="en-US" sz="750"/>
          </a:p>
        </p:txBody>
      </p:sp>
      <p:sp>
        <p:nvSpPr>
          <p:cNvPr id="61" name="Text 59"/>
          <p:cNvSpPr/>
          <p:nvPr/>
        </p:nvSpPr>
        <p:spPr>
          <a:xfrm>
            <a:off x="685800" y="3986784"/>
            <a:ext cx="53035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qu'admin, je veux générer des rapports d'utilisation afin d'optimiser l'allocation des ressources.</a:t>
            </a:r>
            <a:endParaRPr lang="en-US" sz="750"/>
          </a:p>
        </p:txBody>
      </p:sp>
      <p:sp>
        <p:nvSpPr>
          <p:cNvPr id="62" name="Text 60"/>
          <p:cNvSpPr/>
          <p:nvPr/>
        </p:nvSpPr>
        <p:spPr>
          <a:xfrm>
            <a:off x="6035040" y="39867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E0F0FF"/>
                </a:solidFill>
              </a:rPr>
              <a:t>🟡 Could</a:t>
            </a:r>
            <a:endParaRPr lang="en-US" sz="750"/>
          </a:p>
        </p:txBody>
      </p:sp>
      <p:sp>
        <p:nvSpPr>
          <p:cNvPr id="63" name="Text 61"/>
          <p:cNvSpPr/>
          <p:nvPr/>
        </p:nvSpPr>
        <p:spPr>
          <a:xfrm>
            <a:off x="7086600" y="398678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B703"/>
                </a:solidFill>
                <a:ea typeface="Calibri"/>
                <a:cs typeface="Calibri"/>
              </a:rPr>
              <a:t>7</a:t>
            </a:r>
          </a:p>
        </p:txBody>
      </p:sp>
      <p:sp>
        <p:nvSpPr>
          <p:cNvPr id="64" name="Text 62"/>
          <p:cNvSpPr/>
          <p:nvPr/>
        </p:nvSpPr>
        <p:spPr>
          <a:xfrm>
            <a:off x="7955280" y="398678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6D6A0"/>
                </a:solidFill>
              </a:rPr>
              <a:t>S3</a:t>
            </a:r>
            <a:endParaRPr lang="en-US" sz="800"/>
          </a:p>
        </p:txBody>
      </p:sp>
      <p:sp>
        <p:nvSpPr>
          <p:cNvPr id="65" name="Shape 63"/>
          <p:cNvSpPr/>
          <p:nvPr/>
        </p:nvSpPr>
        <p:spPr>
          <a:xfrm>
            <a:off x="274320" y="4370832"/>
            <a:ext cx="8549640" cy="365760"/>
          </a:xfrm>
          <a:prstGeom prst="rect">
            <a:avLst/>
          </a:prstGeom>
          <a:solidFill>
            <a:srgbClr val="0D1B2A"/>
          </a:solidFill>
          <a:ln w="3810">
            <a:solidFill>
              <a:srgbClr val="00C6FF">
                <a:alpha val="2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4370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US09</a:t>
            </a:r>
            <a:endParaRPr lang="en-US" sz="750"/>
          </a:p>
        </p:txBody>
      </p:sp>
      <p:sp>
        <p:nvSpPr>
          <p:cNvPr id="67" name="Text 65"/>
          <p:cNvSpPr/>
          <p:nvPr/>
        </p:nvSpPr>
        <p:spPr>
          <a:xfrm>
            <a:off x="685800" y="4370832"/>
            <a:ext cx="53035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qu'utilisateur, je veux m'authentifier via SSO agence afin de ne pas gérer un compte supplémentaire.</a:t>
            </a:r>
            <a:endParaRPr lang="en-US" sz="750"/>
          </a:p>
        </p:txBody>
      </p:sp>
      <p:sp>
        <p:nvSpPr>
          <p:cNvPr id="68" name="Text 66"/>
          <p:cNvSpPr/>
          <p:nvPr/>
        </p:nvSpPr>
        <p:spPr>
          <a:xfrm>
            <a:off x="6035040" y="437083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E0F0FF"/>
                </a:solidFill>
              </a:rPr>
              <a:t>🟢 Won't</a:t>
            </a:r>
            <a:endParaRPr lang="en-US" sz="750"/>
          </a:p>
        </p:txBody>
      </p:sp>
      <p:sp>
        <p:nvSpPr>
          <p:cNvPr id="69" name="Text 67"/>
          <p:cNvSpPr/>
          <p:nvPr/>
        </p:nvSpPr>
        <p:spPr>
          <a:xfrm>
            <a:off x="7086600" y="437083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B703"/>
                </a:solidFill>
              </a:rPr>
              <a:t>13</a:t>
            </a:r>
            <a:endParaRPr lang="en-US" sz="900"/>
          </a:p>
        </p:txBody>
      </p:sp>
      <p:sp>
        <p:nvSpPr>
          <p:cNvPr id="70" name="Text 68"/>
          <p:cNvSpPr/>
          <p:nvPr/>
        </p:nvSpPr>
        <p:spPr>
          <a:xfrm>
            <a:off x="7955280" y="437083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8899AA"/>
                </a:solidFill>
              </a:rPr>
              <a:t>–</a:t>
            </a:r>
            <a:endParaRPr lang="en-US" sz="800"/>
          </a:p>
        </p:txBody>
      </p:sp>
      <p:sp>
        <p:nvSpPr>
          <p:cNvPr id="71" name="Text 69"/>
          <p:cNvSpPr/>
          <p:nvPr/>
        </p:nvSpPr>
        <p:spPr>
          <a:xfrm>
            <a:off x="274320" y="4800600"/>
            <a:ext cx="854964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850" i="1">
                <a:solidFill>
                  <a:srgbClr val="8899AA"/>
                </a:solidFill>
              </a:rPr>
              <a:t>Total </a:t>
            </a:r>
            <a:r>
              <a:rPr lang="en-US" sz="850" i="1" err="1">
                <a:solidFill>
                  <a:srgbClr val="8899AA"/>
                </a:solidFill>
              </a:rPr>
              <a:t>vélocité</a:t>
            </a:r>
            <a:r>
              <a:rPr lang="en-US" sz="850" i="1">
                <a:solidFill>
                  <a:srgbClr val="8899AA"/>
                </a:solidFill>
              </a:rPr>
              <a:t> </a:t>
            </a:r>
            <a:r>
              <a:rPr lang="en-US" sz="850" i="1" err="1">
                <a:solidFill>
                  <a:srgbClr val="8899AA"/>
                </a:solidFill>
              </a:rPr>
              <a:t>estimée</a:t>
            </a:r>
            <a:r>
              <a:rPr lang="en-US" sz="850" i="1">
                <a:solidFill>
                  <a:srgbClr val="8899AA"/>
                </a:solidFill>
              </a:rPr>
              <a:t> : 63 points  |  </a:t>
            </a:r>
            <a:r>
              <a:rPr lang="en-US" sz="850" i="1" err="1">
                <a:solidFill>
                  <a:srgbClr val="8899AA"/>
                </a:solidFill>
              </a:rPr>
              <a:t>Capacité</a:t>
            </a:r>
            <a:r>
              <a:rPr lang="en-US" sz="850" i="1">
                <a:solidFill>
                  <a:srgbClr val="8899AA"/>
                </a:solidFill>
              </a:rPr>
              <a:t> équipe par sprint : ~20 pts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2743200"/>
          </a:xfrm>
          <a:prstGeom prst="ellipse">
            <a:avLst/>
          </a:prstGeom>
          <a:solidFill>
            <a:srgbClr val="1B0A3A">
              <a:alpha val="60000"/>
            </a:srgbClr>
          </a:solidFill>
          <a:ln w="12700">
            <a:solidFill>
              <a:srgbClr val="1B0A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200400"/>
          </a:xfrm>
          <a:prstGeom prst="ellipse">
            <a:avLst/>
          </a:prstGeom>
          <a:solidFill>
            <a:srgbClr val="001A3A">
              <a:alpha val="55000"/>
            </a:srgbClr>
          </a:solidFill>
          <a:ln w="12700">
            <a:solidFill>
              <a:srgbClr val="001A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00C6FF"/>
                </a:solidFill>
                <a:latin typeface="Calibri"/>
                <a:ea typeface="Calibri"/>
                <a:cs typeface="Calibri"/>
              </a:rPr>
              <a:t> ORGANISATION SCRUM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7B2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itératif — 2 semaines par sprint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832104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468880"/>
            <a:ext cx="274320" cy="27432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834640"/>
            <a:ext cx="1554480" cy="201168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834640"/>
            <a:ext cx="1554480" cy="32004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834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000000"/>
                </a:solidFill>
              </a:rPr>
              <a:t>️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411480" y="32004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900"/>
          </a:p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411480" y="36118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(2-4h)</a:t>
            </a:r>
            <a:endParaRPr lang="en-US" sz="800"/>
          </a:p>
        </p:txBody>
      </p:sp>
      <p:sp>
        <p:nvSpPr>
          <p:cNvPr id="14" name="Shape 12"/>
          <p:cNvSpPr/>
          <p:nvPr/>
        </p:nvSpPr>
        <p:spPr>
          <a:xfrm>
            <a:off x="1143000" y="2468880"/>
            <a:ext cx="0" cy="347472"/>
          </a:xfrm>
          <a:prstGeom prst="line">
            <a:avLst/>
          </a:prstGeom>
          <a:noFill/>
          <a:ln w="9525">
            <a:solidFill>
              <a:srgbClr val="00C6FF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606040" y="2468880"/>
            <a:ext cx="274320" cy="2743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03120" y="2834640"/>
            <a:ext cx="1554480" cy="201168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103120" y="2834640"/>
            <a:ext cx="1554480" cy="3200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0" y="2834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2148840" y="32004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900"/>
          </a:p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2148840" y="36118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jour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 min)</a:t>
            </a:r>
            <a:endParaRPr lang="en-US" sz="800"/>
          </a:p>
        </p:txBody>
      </p:sp>
      <p:sp>
        <p:nvSpPr>
          <p:cNvPr id="21" name="Shape 19"/>
          <p:cNvSpPr/>
          <p:nvPr/>
        </p:nvSpPr>
        <p:spPr>
          <a:xfrm>
            <a:off x="2880360" y="2468880"/>
            <a:ext cx="0" cy="347472"/>
          </a:xfrm>
          <a:prstGeom prst="line">
            <a:avLst/>
          </a:prstGeom>
          <a:noFill/>
          <a:ln w="9525">
            <a:solidFill>
              <a:srgbClr val="FFB703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343400" y="2468880"/>
            <a:ext cx="274320" cy="274320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0" y="2834640"/>
            <a:ext cx="1554480" cy="201168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0" y="2834640"/>
            <a:ext cx="1554480" cy="32004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0" y="2834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3886200" y="32004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900"/>
          </a:p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900"/>
          </a:p>
        </p:txBody>
      </p:sp>
      <p:sp>
        <p:nvSpPr>
          <p:cNvPr id="27" name="Text 25"/>
          <p:cNvSpPr/>
          <p:nvPr/>
        </p:nvSpPr>
        <p:spPr>
          <a:xfrm>
            <a:off x="3886200" y="36118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Mi-sprint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(1h)</a:t>
            </a:r>
            <a:endParaRPr lang="en-US" sz="800"/>
          </a:p>
        </p:txBody>
      </p:sp>
      <p:sp>
        <p:nvSpPr>
          <p:cNvPr id="28" name="Shape 26"/>
          <p:cNvSpPr/>
          <p:nvPr/>
        </p:nvSpPr>
        <p:spPr>
          <a:xfrm>
            <a:off x="4617720" y="2468880"/>
            <a:ext cx="0" cy="347472"/>
          </a:xfrm>
          <a:prstGeom prst="line">
            <a:avLst/>
          </a:prstGeom>
          <a:noFill/>
          <a:ln w="9525">
            <a:solidFill>
              <a:srgbClr val="7B2FFF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080760" y="2468880"/>
            <a:ext cx="274320" cy="27432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77840" y="2834640"/>
            <a:ext cx="1554480" cy="201168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577840" y="2834640"/>
            <a:ext cx="1554480" cy="320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2834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33" name="Text 31"/>
          <p:cNvSpPr/>
          <p:nvPr/>
        </p:nvSpPr>
        <p:spPr>
          <a:xfrm>
            <a:off x="5623560" y="32004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900"/>
          </a:p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5623560" y="36118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10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(1-2h)</a:t>
            </a:r>
            <a:endParaRPr lang="en-US" sz="800"/>
          </a:p>
        </p:txBody>
      </p:sp>
      <p:sp>
        <p:nvSpPr>
          <p:cNvPr id="35" name="Shape 33"/>
          <p:cNvSpPr/>
          <p:nvPr/>
        </p:nvSpPr>
        <p:spPr>
          <a:xfrm>
            <a:off x="6355080" y="2468880"/>
            <a:ext cx="0" cy="347472"/>
          </a:xfrm>
          <a:prstGeom prst="line">
            <a:avLst/>
          </a:prstGeom>
          <a:noFill/>
          <a:ln w="9525">
            <a:solidFill>
              <a:srgbClr val="06D6A0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7818120" y="2468880"/>
            <a:ext cx="274320" cy="27432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0" y="2834640"/>
            <a:ext cx="1554480" cy="201168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315200" y="2834640"/>
            <a:ext cx="1554480" cy="32004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2834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40" name="Text 38"/>
          <p:cNvSpPr/>
          <p:nvPr/>
        </p:nvSpPr>
        <p:spPr>
          <a:xfrm>
            <a:off x="7360920" y="32004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Rétrospective</a:t>
            </a:r>
            <a:endParaRPr lang="en-US" sz="900"/>
          </a:p>
        </p:txBody>
      </p:sp>
      <p:sp>
        <p:nvSpPr>
          <p:cNvPr id="41" name="Text 39"/>
          <p:cNvSpPr/>
          <p:nvPr/>
        </p:nvSpPr>
        <p:spPr>
          <a:xfrm>
            <a:off x="7360920" y="36118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10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(1h)</a:t>
            </a:r>
            <a:endParaRPr lang="en-US" sz="800"/>
          </a:p>
        </p:txBody>
      </p:sp>
      <p:sp>
        <p:nvSpPr>
          <p:cNvPr id="42" name="Shape 40"/>
          <p:cNvSpPr/>
          <p:nvPr/>
        </p:nvSpPr>
        <p:spPr>
          <a:xfrm>
            <a:off x="8092440" y="2468880"/>
            <a:ext cx="0" cy="347472"/>
          </a:xfrm>
          <a:prstGeom prst="line">
            <a:avLst/>
          </a:prstGeom>
          <a:noFill/>
          <a:ln w="9525">
            <a:solidFill>
              <a:srgbClr val="FF6B9D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365760" y="18470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0C6FF"/>
                </a:solidFill>
              </a:rPr>
              <a:t>Sprint Planning</a:t>
            </a:r>
            <a:endParaRPr lang="en-US" sz="850"/>
          </a:p>
        </p:txBody>
      </p:sp>
      <p:sp>
        <p:nvSpPr>
          <p:cNvPr id="44" name="Shape 42"/>
          <p:cNvSpPr/>
          <p:nvPr/>
        </p:nvSpPr>
        <p:spPr>
          <a:xfrm>
            <a:off x="1143000" y="2121408"/>
            <a:ext cx="0" cy="347472"/>
          </a:xfrm>
          <a:prstGeom prst="line">
            <a:avLst/>
          </a:prstGeom>
          <a:noFill/>
          <a:ln w="9525">
            <a:solidFill>
              <a:srgbClr val="00C6FF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2103120" y="18470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B703"/>
                </a:solidFill>
              </a:rPr>
              <a:t>Daily Scrum</a:t>
            </a:r>
            <a:endParaRPr lang="en-US" sz="850"/>
          </a:p>
        </p:txBody>
      </p:sp>
      <p:sp>
        <p:nvSpPr>
          <p:cNvPr id="46" name="Shape 44"/>
          <p:cNvSpPr/>
          <p:nvPr/>
        </p:nvSpPr>
        <p:spPr>
          <a:xfrm>
            <a:off x="2880360" y="2121408"/>
            <a:ext cx="0" cy="347472"/>
          </a:xfrm>
          <a:prstGeom prst="line">
            <a:avLst/>
          </a:prstGeom>
          <a:noFill/>
          <a:ln w="9525">
            <a:solidFill>
              <a:srgbClr val="FFB703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3840480" y="18470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7B2FFF"/>
                </a:solidFill>
              </a:rPr>
              <a:t>Backlog Refinement</a:t>
            </a:r>
            <a:endParaRPr lang="en-US" sz="850"/>
          </a:p>
        </p:txBody>
      </p:sp>
      <p:sp>
        <p:nvSpPr>
          <p:cNvPr id="48" name="Shape 46"/>
          <p:cNvSpPr/>
          <p:nvPr/>
        </p:nvSpPr>
        <p:spPr>
          <a:xfrm>
            <a:off x="4617720" y="2121408"/>
            <a:ext cx="0" cy="347472"/>
          </a:xfrm>
          <a:prstGeom prst="line">
            <a:avLst/>
          </a:prstGeom>
          <a:noFill/>
          <a:ln w="9525">
            <a:solidFill>
              <a:srgbClr val="7B2FFF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5577840" y="18470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6D6A0"/>
                </a:solidFill>
              </a:rPr>
              <a:t>Sprint Review</a:t>
            </a:r>
            <a:endParaRPr lang="en-US" sz="850"/>
          </a:p>
        </p:txBody>
      </p:sp>
      <p:sp>
        <p:nvSpPr>
          <p:cNvPr id="50" name="Shape 48"/>
          <p:cNvSpPr/>
          <p:nvPr/>
        </p:nvSpPr>
        <p:spPr>
          <a:xfrm>
            <a:off x="6355080" y="2121408"/>
            <a:ext cx="0" cy="347472"/>
          </a:xfrm>
          <a:prstGeom prst="line">
            <a:avLst/>
          </a:prstGeom>
          <a:noFill/>
          <a:ln w="9525">
            <a:solidFill>
              <a:srgbClr val="06D6A0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7315200" y="18470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6B9D"/>
                </a:solidFill>
              </a:rPr>
              <a:t>Rétrospective</a:t>
            </a:r>
            <a:endParaRPr lang="en-US" sz="850"/>
          </a:p>
        </p:txBody>
      </p:sp>
      <p:sp>
        <p:nvSpPr>
          <p:cNvPr id="52" name="Shape 50"/>
          <p:cNvSpPr/>
          <p:nvPr/>
        </p:nvSpPr>
        <p:spPr>
          <a:xfrm>
            <a:off x="8092440" y="2121408"/>
            <a:ext cx="0" cy="347472"/>
          </a:xfrm>
          <a:prstGeom prst="line">
            <a:avLst/>
          </a:prstGeom>
          <a:noFill/>
          <a:ln w="9525">
            <a:solidFill>
              <a:srgbClr val="FF6B9D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0A1428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65760" y="960120"/>
            <a:ext cx="777240" cy="6858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96012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A0E1A"/>
                </a:solidFill>
              </a:rPr>
              <a:t>DoD</a:t>
            </a:r>
            <a:endParaRPr lang="en-US" sz="1100"/>
          </a:p>
        </p:txBody>
      </p:sp>
      <p:sp>
        <p:nvSpPr>
          <p:cNvPr id="56" name="Text 54"/>
          <p:cNvSpPr/>
          <p:nvPr/>
        </p:nvSpPr>
        <p:spPr>
          <a:xfrm>
            <a:off x="1234440" y="1005840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 : </a:t>
            </a:r>
            <a:r>
              <a:rPr lang="en-US" sz="9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Code reviewé par pair  ✓ Tests unitaires OK (&gt;80% couverture)  ✓ Tests E2E passés  ✓ Documentation mise à jour  ✓ Déployé sur staging  ✓ Validé par PO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2743200"/>
          </a:xfrm>
          <a:prstGeom prst="ellipse">
            <a:avLst/>
          </a:prstGeom>
          <a:solidFill>
            <a:srgbClr val="1B0A3A">
              <a:alpha val="60000"/>
            </a:srgbClr>
          </a:solidFill>
          <a:ln w="12700">
            <a:solidFill>
              <a:srgbClr val="1B0A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200400"/>
          </a:xfrm>
          <a:prstGeom prst="ellipse">
            <a:avLst/>
          </a:prstGeom>
          <a:solidFill>
            <a:srgbClr val="001A3A">
              <a:alpha val="55000"/>
            </a:srgbClr>
          </a:solidFill>
          <a:ln w="12700">
            <a:solidFill>
              <a:srgbClr val="001A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00C6FF"/>
                </a:solidFill>
                <a:latin typeface="Calibri"/>
                <a:ea typeface="Calibri"/>
                <a:cs typeface="Calibri"/>
              </a:rPr>
              <a:t>SPRINT 1  — BACKLOG &amp; PLANIFICATION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7B2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MVP fonctionnel — Réservation de base opérationnelle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8595360" cy="384048"/>
          </a:xfrm>
          <a:prstGeom prst="rect">
            <a:avLst/>
          </a:prstGeom>
          <a:solidFill>
            <a:srgbClr val="FFB703">
              <a:alpha val="15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5987" y="101131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Sprint Goal : </a:t>
            </a:r>
            <a:r>
              <a:rPr lang="en-US" sz="95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Livrer une interface permettant de consulter les ressources disponibles, réserver un créneau et recevoir une confirmation — en 14 jours.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274320" y="1389888"/>
            <a:ext cx="411480" cy="292608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38988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0C6FF"/>
                </a:solidFill>
              </a:rPr>
              <a:t>US</a:t>
            </a:r>
            <a:endParaRPr lang="en-US" sz="850"/>
          </a:p>
        </p:txBody>
      </p:sp>
      <p:sp>
        <p:nvSpPr>
          <p:cNvPr id="11" name="Shape 9"/>
          <p:cNvSpPr/>
          <p:nvPr/>
        </p:nvSpPr>
        <p:spPr>
          <a:xfrm>
            <a:off x="731520" y="1389888"/>
            <a:ext cx="4206240" cy="292608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3898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0C6FF"/>
                </a:solidFill>
              </a:rPr>
              <a:t>Tâche</a:t>
            </a:r>
            <a:endParaRPr lang="en-US" sz="850"/>
          </a:p>
        </p:txBody>
      </p:sp>
      <p:sp>
        <p:nvSpPr>
          <p:cNvPr id="13" name="Shape 11"/>
          <p:cNvSpPr/>
          <p:nvPr/>
        </p:nvSpPr>
        <p:spPr>
          <a:xfrm>
            <a:off x="4983480" y="1389888"/>
            <a:ext cx="1371600" cy="292608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3898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0C6FF"/>
                </a:solidFill>
              </a:rPr>
              <a:t>Responsable</a:t>
            </a:r>
            <a:endParaRPr lang="en-US" sz="850"/>
          </a:p>
        </p:txBody>
      </p:sp>
      <p:sp>
        <p:nvSpPr>
          <p:cNvPr id="15" name="Shape 13"/>
          <p:cNvSpPr/>
          <p:nvPr/>
        </p:nvSpPr>
        <p:spPr>
          <a:xfrm>
            <a:off x="6400800" y="1389888"/>
            <a:ext cx="777240" cy="292608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3898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0C6FF"/>
                </a:solidFill>
              </a:rPr>
              <a:t>Estimé</a:t>
            </a:r>
            <a:endParaRPr lang="en-US" sz="850"/>
          </a:p>
        </p:txBody>
      </p:sp>
      <p:sp>
        <p:nvSpPr>
          <p:cNvPr id="17" name="Shape 15"/>
          <p:cNvSpPr/>
          <p:nvPr/>
        </p:nvSpPr>
        <p:spPr>
          <a:xfrm>
            <a:off x="7223760" y="1389888"/>
            <a:ext cx="1280160" cy="292608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1389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0C6FF"/>
                </a:solidFill>
              </a:rPr>
              <a:t>Statut</a:t>
            </a:r>
            <a:endParaRPr lang="en-US" sz="850"/>
          </a:p>
        </p:txBody>
      </p:sp>
      <p:sp>
        <p:nvSpPr>
          <p:cNvPr id="19" name="Shape 17"/>
          <p:cNvSpPr/>
          <p:nvPr/>
        </p:nvSpPr>
        <p:spPr>
          <a:xfrm>
            <a:off x="274320" y="1719072"/>
            <a:ext cx="8549640" cy="292608"/>
          </a:xfrm>
          <a:prstGeom prst="rect">
            <a:avLst/>
          </a:prstGeom>
          <a:solidFill>
            <a:srgbClr val="0D1B2A"/>
          </a:solidFill>
          <a:ln w="381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71907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0C6FF"/>
                </a:solidFill>
              </a:rPr>
              <a:t>US01</a:t>
            </a:r>
            <a:endParaRPr lang="en-US" sz="750"/>
          </a:p>
        </p:txBody>
      </p:sp>
      <p:sp>
        <p:nvSpPr>
          <p:cNvPr id="21" name="Text 19"/>
          <p:cNvSpPr/>
          <p:nvPr/>
        </p:nvSpPr>
        <p:spPr>
          <a:xfrm>
            <a:off x="731520" y="1719072"/>
            <a:ext cx="4206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0F0FF"/>
                </a:solidFill>
              </a:rPr>
              <a:t>Conception maquette calendrier ressources</a:t>
            </a:r>
            <a:endParaRPr lang="en-US" sz="750"/>
          </a:p>
        </p:txBody>
      </p:sp>
      <p:sp>
        <p:nvSpPr>
          <p:cNvPr id="22" name="Text 20"/>
          <p:cNvSpPr/>
          <p:nvPr/>
        </p:nvSpPr>
        <p:spPr>
          <a:xfrm>
            <a:off x="4983480" y="1719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8899AA"/>
                </a:solidFill>
              </a:rPr>
              <a:t>Léa (Designer)</a:t>
            </a:r>
            <a:endParaRPr lang="en-US" sz="750"/>
          </a:p>
        </p:txBody>
      </p:sp>
      <p:sp>
        <p:nvSpPr>
          <p:cNvPr id="23" name="Text 21"/>
          <p:cNvSpPr/>
          <p:nvPr/>
        </p:nvSpPr>
        <p:spPr>
          <a:xfrm>
            <a:off x="6400800" y="17190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FFB703"/>
                </a:solidFill>
              </a:rPr>
              <a:t>0.5j</a:t>
            </a:r>
            <a:endParaRPr lang="en-US" sz="750"/>
          </a:p>
        </p:txBody>
      </p:sp>
      <p:sp>
        <p:nvSpPr>
          <p:cNvPr id="24" name="Text 22"/>
          <p:cNvSpPr/>
          <p:nvPr/>
        </p:nvSpPr>
        <p:spPr>
          <a:xfrm>
            <a:off x="7223760" y="17190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6D6A0"/>
                </a:solidFill>
              </a:rPr>
              <a:t>✅ TERMINER</a:t>
            </a:r>
            <a:endParaRPr lang="en-US" sz="750"/>
          </a:p>
        </p:txBody>
      </p:sp>
      <p:sp>
        <p:nvSpPr>
          <p:cNvPr id="25" name="Shape 23"/>
          <p:cNvSpPr/>
          <p:nvPr/>
        </p:nvSpPr>
        <p:spPr>
          <a:xfrm>
            <a:off x="274320" y="2025396"/>
            <a:ext cx="8549640" cy="292608"/>
          </a:xfrm>
          <a:prstGeom prst="rect">
            <a:avLst/>
          </a:prstGeom>
          <a:solidFill>
            <a:srgbClr val="101F30"/>
          </a:solidFill>
          <a:ln w="381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02539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0C6FF"/>
                </a:solidFill>
              </a:rPr>
              <a:t>US01</a:t>
            </a:r>
            <a:endParaRPr lang="en-US" sz="750"/>
          </a:p>
        </p:txBody>
      </p:sp>
      <p:sp>
        <p:nvSpPr>
          <p:cNvPr id="27" name="Text 25"/>
          <p:cNvSpPr/>
          <p:nvPr/>
        </p:nvSpPr>
        <p:spPr>
          <a:xfrm>
            <a:off x="731520" y="2025396"/>
            <a:ext cx="4206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0F0FF"/>
                </a:solidFill>
              </a:rPr>
              <a:t>Développement composant calendrier React</a:t>
            </a:r>
            <a:endParaRPr lang="en-US" sz="750"/>
          </a:p>
        </p:txBody>
      </p:sp>
      <p:sp>
        <p:nvSpPr>
          <p:cNvPr id="28" name="Text 26"/>
          <p:cNvSpPr/>
          <p:nvPr/>
        </p:nvSpPr>
        <p:spPr>
          <a:xfrm>
            <a:off x="4983480" y="20253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>
                <a:solidFill>
                  <a:srgbClr val="8899AA"/>
                </a:solidFill>
              </a:rPr>
              <a:t>Ramsses (Front)</a:t>
            </a:r>
            <a:endParaRPr lang="en-US" sz="750">
              <a:ea typeface="Calibri"/>
              <a:cs typeface="Calibri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00800" y="202539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FFB703"/>
                </a:solidFill>
              </a:rPr>
              <a:t>2j</a:t>
            </a:r>
            <a:endParaRPr lang="en-US" sz="750"/>
          </a:p>
        </p:txBody>
      </p:sp>
      <p:sp>
        <p:nvSpPr>
          <p:cNvPr id="30" name="Text 28"/>
          <p:cNvSpPr/>
          <p:nvPr/>
        </p:nvSpPr>
        <p:spPr>
          <a:xfrm>
            <a:off x="7223760" y="20253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6D6A0"/>
                </a:solidFill>
              </a:rPr>
              <a:t>✅ </a:t>
            </a:r>
            <a:r>
              <a:rPr lang="en-US" sz="700" b="1">
                <a:solidFill>
                  <a:srgbClr val="06D6A0"/>
                </a:solidFill>
              </a:rPr>
              <a:t>TERMINER</a:t>
            </a:r>
            <a:endParaRPr lang="en-US" sz="750"/>
          </a:p>
        </p:txBody>
      </p:sp>
      <p:sp>
        <p:nvSpPr>
          <p:cNvPr id="31" name="Shape 29"/>
          <p:cNvSpPr/>
          <p:nvPr/>
        </p:nvSpPr>
        <p:spPr>
          <a:xfrm>
            <a:off x="274320" y="2331720"/>
            <a:ext cx="8549640" cy="292608"/>
          </a:xfrm>
          <a:prstGeom prst="rect">
            <a:avLst/>
          </a:prstGeom>
          <a:solidFill>
            <a:srgbClr val="0D1B2A"/>
          </a:solidFill>
          <a:ln w="381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33172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0C6FF"/>
                </a:solidFill>
              </a:rPr>
              <a:t>US01</a:t>
            </a:r>
            <a:endParaRPr lang="en-US" sz="750"/>
          </a:p>
        </p:txBody>
      </p:sp>
      <p:sp>
        <p:nvSpPr>
          <p:cNvPr id="33" name="Text 31"/>
          <p:cNvSpPr/>
          <p:nvPr/>
        </p:nvSpPr>
        <p:spPr>
          <a:xfrm>
            <a:off x="731520" y="2331720"/>
            <a:ext cx="4206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0F0FF"/>
                </a:solidFill>
              </a:rPr>
              <a:t>API endpoint GET /resources/availability</a:t>
            </a:r>
            <a:endParaRPr lang="en-US" sz="750"/>
          </a:p>
        </p:txBody>
      </p:sp>
      <p:sp>
        <p:nvSpPr>
          <p:cNvPr id="34" name="Text 32"/>
          <p:cNvSpPr/>
          <p:nvPr/>
        </p:nvSpPr>
        <p:spPr>
          <a:xfrm>
            <a:off x="4983480" y="2331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>
                <a:solidFill>
                  <a:srgbClr val="8899AA"/>
                </a:solidFill>
              </a:rPr>
              <a:t>Fati (Back)</a:t>
            </a:r>
            <a:endParaRPr lang="en-US" sz="750"/>
          </a:p>
        </p:txBody>
      </p:sp>
      <p:sp>
        <p:nvSpPr>
          <p:cNvPr id="35" name="Text 33"/>
          <p:cNvSpPr/>
          <p:nvPr/>
        </p:nvSpPr>
        <p:spPr>
          <a:xfrm>
            <a:off x="6400800" y="23317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FFB703"/>
                </a:solidFill>
              </a:rPr>
              <a:t>1.5j</a:t>
            </a:r>
            <a:endParaRPr lang="en-US" sz="750"/>
          </a:p>
        </p:txBody>
      </p:sp>
      <p:sp>
        <p:nvSpPr>
          <p:cNvPr id="36" name="Text 34"/>
          <p:cNvSpPr/>
          <p:nvPr/>
        </p:nvSpPr>
        <p:spPr>
          <a:xfrm>
            <a:off x="7223760" y="2331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6D6A0"/>
                </a:solidFill>
              </a:rPr>
              <a:t>✅ </a:t>
            </a:r>
            <a:r>
              <a:rPr lang="en-US" sz="700" b="1">
                <a:solidFill>
                  <a:srgbClr val="06D6A0"/>
                </a:solidFill>
              </a:rPr>
              <a:t>TERMINER</a:t>
            </a:r>
            <a:endParaRPr lang="en-US" sz="750"/>
          </a:p>
        </p:txBody>
      </p:sp>
      <p:sp>
        <p:nvSpPr>
          <p:cNvPr id="37" name="Shape 35"/>
          <p:cNvSpPr/>
          <p:nvPr/>
        </p:nvSpPr>
        <p:spPr>
          <a:xfrm>
            <a:off x="274320" y="2638044"/>
            <a:ext cx="8549640" cy="292608"/>
          </a:xfrm>
          <a:prstGeom prst="rect">
            <a:avLst/>
          </a:prstGeom>
          <a:solidFill>
            <a:srgbClr val="101F30"/>
          </a:solidFill>
          <a:ln w="3810">
            <a:solidFill>
              <a:srgbClr val="1B2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263804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0C6FF"/>
                </a:solidFill>
              </a:rPr>
              <a:t>US01</a:t>
            </a:r>
            <a:endParaRPr lang="en-US" sz="750"/>
          </a:p>
        </p:txBody>
      </p:sp>
      <p:sp>
        <p:nvSpPr>
          <p:cNvPr id="39" name="Text 37"/>
          <p:cNvSpPr/>
          <p:nvPr/>
        </p:nvSpPr>
        <p:spPr>
          <a:xfrm>
            <a:off x="731520" y="2638044"/>
            <a:ext cx="4206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0F0FF"/>
                </a:solidFill>
              </a:rPr>
              <a:t>Tests &amp; intégration calendrier</a:t>
            </a:r>
            <a:endParaRPr lang="en-US" sz="750"/>
          </a:p>
        </p:txBody>
      </p:sp>
      <p:sp>
        <p:nvSpPr>
          <p:cNvPr id="40" name="Text 38"/>
          <p:cNvSpPr/>
          <p:nvPr/>
        </p:nvSpPr>
        <p:spPr>
          <a:xfrm>
            <a:off x="4983480" y="26380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>
                <a:solidFill>
                  <a:srgbClr val="8899AA"/>
                </a:solidFill>
                <a:ea typeface="Calibri"/>
                <a:cs typeface="Calibri"/>
              </a:rPr>
              <a:t>Fati + Ramsses</a:t>
            </a:r>
            <a:endParaRPr lang="en-US" sz="75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400800" y="263804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FFB703"/>
                </a:solidFill>
              </a:rPr>
              <a:t>0.5j</a:t>
            </a:r>
            <a:endParaRPr lang="en-US" sz="750"/>
          </a:p>
        </p:txBody>
      </p:sp>
      <p:sp>
        <p:nvSpPr>
          <p:cNvPr id="42" name="Text 40"/>
          <p:cNvSpPr/>
          <p:nvPr/>
        </p:nvSpPr>
        <p:spPr>
          <a:xfrm>
            <a:off x="7223760" y="26380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6D6A0"/>
                </a:solidFill>
              </a:rPr>
              <a:t>✅ </a:t>
            </a:r>
            <a:r>
              <a:rPr lang="en-US" sz="700" b="1">
                <a:solidFill>
                  <a:srgbClr val="06D6A0"/>
                </a:solidFill>
              </a:rPr>
              <a:t>TERMINER</a:t>
            </a:r>
            <a:endParaRPr lang="en-US" sz="750"/>
          </a:p>
        </p:txBody>
      </p:sp>
      <p:sp>
        <p:nvSpPr>
          <p:cNvPr id="43" name="Shape 41"/>
          <p:cNvSpPr/>
          <p:nvPr/>
        </p:nvSpPr>
        <p:spPr>
          <a:xfrm>
            <a:off x="274320" y="2944368"/>
            <a:ext cx="8549640" cy="292608"/>
          </a:xfrm>
          <a:prstGeom prst="rect">
            <a:avLst/>
          </a:prstGeom>
          <a:solidFill>
            <a:srgbClr val="0D1B2A"/>
          </a:solidFill>
          <a:ln w="3810">
            <a:solidFill>
              <a:srgbClr val="1B2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294436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0C6FF"/>
                </a:solidFill>
              </a:rPr>
              <a:t>US02</a:t>
            </a:r>
            <a:endParaRPr lang="en-US" sz="750"/>
          </a:p>
        </p:txBody>
      </p:sp>
      <p:sp>
        <p:nvSpPr>
          <p:cNvPr id="45" name="Text 43"/>
          <p:cNvSpPr/>
          <p:nvPr/>
        </p:nvSpPr>
        <p:spPr>
          <a:xfrm>
            <a:off x="731520" y="2944368"/>
            <a:ext cx="4206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0F0FF"/>
                </a:solidFill>
              </a:rPr>
              <a:t>Formulaire de réservation (validation)</a:t>
            </a:r>
            <a:endParaRPr lang="en-US" sz="750"/>
          </a:p>
        </p:txBody>
      </p:sp>
      <p:sp>
        <p:nvSpPr>
          <p:cNvPr id="46" name="Text 44"/>
          <p:cNvSpPr/>
          <p:nvPr/>
        </p:nvSpPr>
        <p:spPr>
          <a:xfrm>
            <a:off x="4983480" y="29443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>
                <a:solidFill>
                  <a:srgbClr val="8899AA"/>
                </a:solidFill>
              </a:rPr>
              <a:t>Ramsses (Front)</a:t>
            </a:r>
            <a:endParaRPr lang="en-US" sz="750"/>
          </a:p>
        </p:txBody>
      </p:sp>
      <p:sp>
        <p:nvSpPr>
          <p:cNvPr id="47" name="Text 45"/>
          <p:cNvSpPr/>
          <p:nvPr/>
        </p:nvSpPr>
        <p:spPr>
          <a:xfrm>
            <a:off x="6400800" y="294436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FFB703"/>
                </a:solidFill>
              </a:rPr>
              <a:t>1.5j</a:t>
            </a:r>
            <a:endParaRPr lang="en-US" sz="750"/>
          </a:p>
        </p:txBody>
      </p:sp>
      <p:sp>
        <p:nvSpPr>
          <p:cNvPr id="48" name="Text 46"/>
          <p:cNvSpPr/>
          <p:nvPr/>
        </p:nvSpPr>
        <p:spPr>
          <a:xfrm>
            <a:off x="7223760" y="29443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6D6A0"/>
                </a:solidFill>
              </a:rPr>
              <a:t>✅ </a:t>
            </a:r>
            <a:r>
              <a:rPr lang="en-US" sz="700" b="1">
                <a:solidFill>
                  <a:srgbClr val="06D6A0"/>
                </a:solidFill>
              </a:rPr>
              <a:t>TERMINER</a:t>
            </a:r>
            <a:endParaRPr lang="en-US" sz="750"/>
          </a:p>
        </p:txBody>
      </p:sp>
      <p:sp>
        <p:nvSpPr>
          <p:cNvPr id="49" name="Shape 47"/>
          <p:cNvSpPr/>
          <p:nvPr/>
        </p:nvSpPr>
        <p:spPr>
          <a:xfrm>
            <a:off x="274320" y="3250692"/>
            <a:ext cx="8549640" cy="292608"/>
          </a:xfrm>
          <a:prstGeom prst="rect">
            <a:avLst/>
          </a:prstGeom>
          <a:solidFill>
            <a:srgbClr val="101F30"/>
          </a:solidFill>
          <a:ln w="3810">
            <a:solidFill>
              <a:srgbClr val="1B2A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325069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0C6FF"/>
                </a:solidFill>
              </a:rPr>
              <a:t>US02</a:t>
            </a:r>
            <a:endParaRPr lang="en-US" sz="750"/>
          </a:p>
        </p:txBody>
      </p:sp>
      <p:sp>
        <p:nvSpPr>
          <p:cNvPr id="51" name="Text 49"/>
          <p:cNvSpPr/>
          <p:nvPr/>
        </p:nvSpPr>
        <p:spPr>
          <a:xfrm>
            <a:off x="731520" y="3250692"/>
            <a:ext cx="4206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0F0FF"/>
                </a:solidFill>
              </a:rPr>
              <a:t>Logique anti-conflit (back-end)</a:t>
            </a:r>
            <a:endParaRPr lang="en-US" sz="750"/>
          </a:p>
        </p:txBody>
      </p:sp>
      <p:sp>
        <p:nvSpPr>
          <p:cNvPr id="52" name="Text 50"/>
          <p:cNvSpPr/>
          <p:nvPr/>
        </p:nvSpPr>
        <p:spPr>
          <a:xfrm>
            <a:off x="4983480" y="32506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>
                <a:solidFill>
                  <a:srgbClr val="8899AA"/>
                </a:solidFill>
              </a:rPr>
              <a:t>Fati (Back)</a:t>
            </a:r>
            <a:endParaRPr lang="en-US" sz="750"/>
          </a:p>
        </p:txBody>
      </p:sp>
      <p:sp>
        <p:nvSpPr>
          <p:cNvPr id="53" name="Text 51"/>
          <p:cNvSpPr/>
          <p:nvPr/>
        </p:nvSpPr>
        <p:spPr>
          <a:xfrm>
            <a:off x="6400800" y="325069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FFB703"/>
                </a:solidFill>
              </a:rPr>
              <a:t>2j</a:t>
            </a:r>
            <a:endParaRPr lang="en-US" sz="750"/>
          </a:p>
        </p:txBody>
      </p:sp>
      <p:sp>
        <p:nvSpPr>
          <p:cNvPr id="54" name="Text 52"/>
          <p:cNvSpPr/>
          <p:nvPr/>
        </p:nvSpPr>
        <p:spPr>
          <a:xfrm>
            <a:off x="7223760" y="32506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6D6A0"/>
                </a:solidFill>
              </a:rPr>
              <a:t>✅ </a:t>
            </a:r>
            <a:r>
              <a:rPr lang="en-US" sz="700" b="1">
                <a:solidFill>
                  <a:srgbClr val="06D6A0"/>
                </a:solidFill>
              </a:rPr>
              <a:t>TERMINER</a:t>
            </a:r>
            <a:endParaRPr lang="en-US" sz="750"/>
          </a:p>
        </p:txBody>
      </p:sp>
      <p:sp>
        <p:nvSpPr>
          <p:cNvPr id="55" name="Shape 53"/>
          <p:cNvSpPr/>
          <p:nvPr/>
        </p:nvSpPr>
        <p:spPr>
          <a:xfrm>
            <a:off x="274320" y="3557016"/>
            <a:ext cx="8549640" cy="292608"/>
          </a:xfrm>
          <a:prstGeom prst="rect">
            <a:avLst/>
          </a:prstGeom>
          <a:solidFill>
            <a:srgbClr val="0D1B2A"/>
          </a:solidFill>
          <a:ln w="3810">
            <a:solidFill>
              <a:srgbClr val="1B2A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355701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0C6FF"/>
                </a:solidFill>
              </a:rPr>
              <a:t>US02</a:t>
            </a:r>
            <a:endParaRPr lang="en-US" sz="750"/>
          </a:p>
        </p:txBody>
      </p:sp>
      <p:sp>
        <p:nvSpPr>
          <p:cNvPr id="57" name="Text 55"/>
          <p:cNvSpPr/>
          <p:nvPr/>
        </p:nvSpPr>
        <p:spPr>
          <a:xfrm>
            <a:off x="731520" y="3557016"/>
            <a:ext cx="4206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0F0FF"/>
                </a:solidFill>
              </a:rPr>
              <a:t>API POST /reservations + base de données</a:t>
            </a:r>
            <a:endParaRPr lang="en-US" sz="750"/>
          </a:p>
        </p:txBody>
      </p:sp>
      <p:sp>
        <p:nvSpPr>
          <p:cNvPr id="58" name="Text 56"/>
          <p:cNvSpPr/>
          <p:nvPr/>
        </p:nvSpPr>
        <p:spPr>
          <a:xfrm>
            <a:off x="4983480" y="35570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>
                <a:solidFill>
                  <a:srgbClr val="8899AA"/>
                </a:solidFill>
              </a:rPr>
              <a:t>Fati (Back)</a:t>
            </a:r>
            <a:endParaRPr lang="en-US" sz="750"/>
          </a:p>
        </p:txBody>
      </p:sp>
      <p:sp>
        <p:nvSpPr>
          <p:cNvPr id="59" name="Text 57"/>
          <p:cNvSpPr/>
          <p:nvPr/>
        </p:nvSpPr>
        <p:spPr>
          <a:xfrm>
            <a:off x="6400800" y="355701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FFB703"/>
                </a:solidFill>
              </a:rPr>
              <a:t>1j</a:t>
            </a:r>
            <a:endParaRPr lang="en-US" sz="750"/>
          </a:p>
        </p:txBody>
      </p:sp>
      <p:sp>
        <p:nvSpPr>
          <p:cNvPr id="60" name="Text 58"/>
          <p:cNvSpPr/>
          <p:nvPr/>
        </p:nvSpPr>
        <p:spPr>
          <a:xfrm>
            <a:off x="7223760" y="35570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6D6A0"/>
                </a:solidFill>
              </a:rPr>
              <a:t>✅ </a:t>
            </a:r>
            <a:r>
              <a:rPr lang="en-US" sz="700" b="1">
                <a:solidFill>
                  <a:srgbClr val="06D6A0"/>
                </a:solidFill>
              </a:rPr>
              <a:t>TERMINER</a:t>
            </a:r>
            <a:endParaRPr lang="en-US" sz="750"/>
          </a:p>
        </p:txBody>
      </p:sp>
      <p:sp>
        <p:nvSpPr>
          <p:cNvPr id="61" name="Shape 59"/>
          <p:cNvSpPr/>
          <p:nvPr/>
        </p:nvSpPr>
        <p:spPr>
          <a:xfrm>
            <a:off x="274320" y="3863340"/>
            <a:ext cx="8549640" cy="292608"/>
          </a:xfrm>
          <a:prstGeom prst="rect">
            <a:avLst/>
          </a:prstGeom>
          <a:solidFill>
            <a:srgbClr val="101F30"/>
          </a:solidFill>
          <a:ln w="3810">
            <a:solidFill>
              <a:srgbClr val="1B2A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386334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0C6FF"/>
                </a:solidFill>
              </a:rPr>
              <a:t>US03</a:t>
            </a:r>
            <a:endParaRPr lang="en-US" sz="750"/>
          </a:p>
        </p:txBody>
      </p:sp>
      <p:sp>
        <p:nvSpPr>
          <p:cNvPr id="63" name="Text 61"/>
          <p:cNvSpPr/>
          <p:nvPr/>
        </p:nvSpPr>
        <p:spPr>
          <a:xfrm>
            <a:off x="731520" y="3863340"/>
            <a:ext cx="4206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0F0FF"/>
                </a:solidFill>
              </a:rPr>
              <a:t>Service d'email de confirmation</a:t>
            </a:r>
            <a:endParaRPr lang="en-US" sz="750"/>
          </a:p>
        </p:txBody>
      </p:sp>
      <p:sp>
        <p:nvSpPr>
          <p:cNvPr id="64" name="Text 62"/>
          <p:cNvSpPr/>
          <p:nvPr/>
        </p:nvSpPr>
        <p:spPr>
          <a:xfrm>
            <a:off x="4983480" y="38633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>
                <a:solidFill>
                  <a:srgbClr val="8899AA"/>
                </a:solidFill>
              </a:rPr>
              <a:t>Fati  </a:t>
            </a:r>
            <a:r>
              <a:rPr lang="en-US" sz="750">
                <a:solidFill>
                  <a:srgbClr val="8899AA"/>
                </a:solidFill>
              </a:rPr>
              <a:t>(Back)</a:t>
            </a:r>
            <a:endParaRPr lang="en-US" sz="750">
              <a:ea typeface="Calibri"/>
              <a:cs typeface="Calibri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6400800" y="38633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FFB703"/>
                </a:solidFill>
              </a:rPr>
              <a:t>1j</a:t>
            </a:r>
            <a:endParaRPr lang="en-US" sz="750"/>
          </a:p>
        </p:txBody>
      </p:sp>
      <p:sp>
        <p:nvSpPr>
          <p:cNvPr id="66" name="Text 64"/>
          <p:cNvSpPr/>
          <p:nvPr/>
        </p:nvSpPr>
        <p:spPr>
          <a:xfrm>
            <a:off x="7223760" y="38633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6D6A0"/>
                </a:solidFill>
              </a:rPr>
              <a:t>✅ </a:t>
            </a:r>
            <a:r>
              <a:rPr lang="en-US" sz="700" b="1">
                <a:solidFill>
                  <a:srgbClr val="06D6A0"/>
                </a:solidFill>
              </a:rPr>
              <a:t>TERMINER</a:t>
            </a:r>
            <a:endParaRPr lang="en-US" sz="750"/>
          </a:p>
        </p:txBody>
      </p:sp>
      <p:sp>
        <p:nvSpPr>
          <p:cNvPr id="67" name="Shape 65"/>
          <p:cNvSpPr/>
          <p:nvPr/>
        </p:nvSpPr>
        <p:spPr>
          <a:xfrm>
            <a:off x="274320" y="4169664"/>
            <a:ext cx="8549640" cy="292608"/>
          </a:xfrm>
          <a:prstGeom prst="rect">
            <a:avLst/>
          </a:prstGeom>
          <a:solidFill>
            <a:srgbClr val="0D1B2A"/>
          </a:solidFill>
          <a:ln w="3810">
            <a:solidFill>
              <a:srgbClr val="1B2A4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74320" y="416966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0C6FF"/>
                </a:solidFill>
              </a:rPr>
              <a:t>US03</a:t>
            </a:r>
            <a:endParaRPr lang="en-US" sz="750"/>
          </a:p>
        </p:txBody>
      </p:sp>
      <p:sp>
        <p:nvSpPr>
          <p:cNvPr id="69" name="Text 67"/>
          <p:cNvSpPr/>
          <p:nvPr/>
        </p:nvSpPr>
        <p:spPr>
          <a:xfrm>
            <a:off x="731520" y="4169664"/>
            <a:ext cx="4206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0F0FF"/>
                </a:solidFill>
              </a:rPr>
              <a:t>Notification in-app temps réel</a:t>
            </a:r>
            <a:endParaRPr lang="en-US" sz="750"/>
          </a:p>
        </p:txBody>
      </p:sp>
      <p:sp>
        <p:nvSpPr>
          <p:cNvPr id="70" name="Text 68"/>
          <p:cNvSpPr/>
          <p:nvPr/>
        </p:nvSpPr>
        <p:spPr>
          <a:xfrm>
            <a:off x="4983480" y="41696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>
                <a:solidFill>
                  <a:srgbClr val="8899AA"/>
                </a:solidFill>
              </a:rPr>
              <a:t>Ramsses </a:t>
            </a:r>
            <a:r>
              <a:rPr lang="en-US" sz="750">
                <a:solidFill>
                  <a:srgbClr val="8899AA"/>
                </a:solidFill>
              </a:rPr>
              <a:t>(Front)</a:t>
            </a:r>
            <a:endParaRPr lang="en-US" sz="750">
              <a:ea typeface="Calibri"/>
              <a:cs typeface="Calibri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6400800" y="416966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FFB703"/>
                </a:solidFill>
              </a:rPr>
              <a:t>1j</a:t>
            </a:r>
            <a:endParaRPr lang="en-US" sz="750"/>
          </a:p>
        </p:txBody>
      </p:sp>
      <p:sp>
        <p:nvSpPr>
          <p:cNvPr id="72" name="Text 70"/>
          <p:cNvSpPr/>
          <p:nvPr/>
        </p:nvSpPr>
        <p:spPr>
          <a:xfrm>
            <a:off x="7223760" y="41696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>
                <a:solidFill>
                  <a:srgbClr val="FFB703"/>
                </a:solidFill>
              </a:rPr>
              <a:t>🔄 EN REVIEW</a:t>
            </a:r>
            <a:endParaRPr lang="en-US" sz="750"/>
          </a:p>
        </p:txBody>
      </p:sp>
      <p:sp>
        <p:nvSpPr>
          <p:cNvPr id="73" name="Shape 71"/>
          <p:cNvSpPr/>
          <p:nvPr/>
        </p:nvSpPr>
        <p:spPr>
          <a:xfrm>
            <a:off x="274320" y="4475988"/>
            <a:ext cx="8549640" cy="292608"/>
          </a:xfrm>
          <a:prstGeom prst="rect">
            <a:avLst/>
          </a:prstGeom>
          <a:solidFill>
            <a:srgbClr val="101F30"/>
          </a:solidFill>
          <a:ln w="3810">
            <a:solidFill>
              <a:srgbClr val="1B2A4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74320" y="447598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0C6FF"/>
                </a:solidFill>
              </a:rPr>
              <a:t>–</a:t>
            </a:r>
            <a:endParaRPr lang="en-US" sz="750"/>
          </a:p>
        </p:txBody>
      </p:sp>
      <p:sp>
        <p:nvSpPr>
          <p:cNvPr id="75" name="Text 73"/>
          <p:cNvSpPr/>
          <p:nvPr/>
        </p:nvSpPr>
        <p:spPr>
          <a:xfrm>
            <a:off x="731520" y="4475988"/>
            <a:ext cx="4206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E0F0FF"/>
                </a:solidFill>
              </a:rPr>
              <a:t>Tests end-to-end + déploiement staging</a:t>
            </a:r>
            <a:endParaRPr lang="en-US" sz="750"/>
          </a:p>
        </p:txBody>
      </p:sp>
      <p:sp>
        <p:nvSpPr>
          <p:cNvPr id="76" name="Text 74"/>
          <p:cNvSpPr/>
          <p:nvPr/>
        </p:nvSpPr>
        <p:spPr>
          <a:xfrm>
            <a:off x="4983480" y="44759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8899AA"/>
                </a:solidFill>
              </a:rPr>
              <a:t>Toute l'équipe</a:t>
            </a:r>
            <a:endParaRPr lang="en-US" sz="750"/>
          </a:p>
        </p:txBody>
      </p:sp>
      <p:sp>
        <p:nvSpPr>
          <p:cNvPr id="77" name="Text 75"/>
          <p:cNvSpPr/>
          <p:nvPr/>
        </p:nvSpPr>
        <p:spPr>
          <a:xfrm>
            <a:off x="6400800" y="44759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FFB703"/>
                </a:solidFill>
              </a:rPr>
              <a:t>1.5j</a:t>
            </a:r>
            <a:endParaRPr lang="en-US" sz="750"/>
          </a:p>
        </p:txBody>
      </p:sp>
      <p:sp>
        <p:nvSpPr>
          <p:cNvPr id="78" name="Text 76"/>
          <p:cNvSpPr/>
          <p:nvPr/>
        </p:nvSpPr>
        <p:spPr>
          <a:xfrm>
            <a:off x="7223760" y="44759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>
                <a:solidFill>
                  <a:srgbClr val="FFB703"/>
                </a:solidFill>
              </a:rPr>
              <a:t>🔄 EN REVIEW</a:t>
            </a:r>
            <a:endParaRPr lang="en-US" sz="750"/>
          </a:p>
        </p:txBody>
      </p:sp>
      <p:sp>
        <p:nvSpPr>
          <p:cNvPr id="79" name="Text 77"/>
          <p:cNvSpPr/>
          <p:nvPr/>
        </p:nvSpPr>
        <p:spPr>
          <a:xfrm>
            <a:off x="274320" y="4846320"/>
            <a:ext cx="8549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6D6A0"/>
                </a:solidFill>
              </a:rPr>
              <a:t>Vélocité Sprint 1 : 16 points livrés / 16 planifiés  (100%)  🎉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84390" y="447023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i="1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Semaines</a:t>
            </a:r>
            <a:r>
              <a:rPr lang="en-US" sz="1100" i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1–2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4191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00C6FF"/>
                </a:solidFill>
                <a:latin typeface="Calibri"/>
                <a:ea typeface="Calibri"/>
                <a:cs typeface="Calibri"/>
              </a:rPr>
              <a:t>  SPRINT 1 - &amp; PLANIFICATION - TABLEAU JIRA 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24729" y="752718"/>
            <a:ext cx="8229600" cy="0"/>
          </a:xfrm>
          <a:prstGeom prst="line">
            <a:avLst/>
          </a:prstGeom>
          <a:noFill/>
          <a:ln w="19050">
            <a:solidFill>
              <a:srgbClr val="7B2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914400"/>
            <a:ext cx="2057400" cy="347472"/>
          </a:xfrm>
          <a:prstGeom prst="rect">
            <a:avLst/>
          </a:prstGeom>
          <a:solidFill>
            <a:srgbClr val="2D3A52"/>
          </a:solidFill>
          <a:ln w="6350">
            <a:solidFill>
              <a:srgbClr val="00C6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914400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BACKLOG </a:t>
            </a:r>
            <a:endParaRPr lang="en-US" sz="95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965960" y="978408"/>
            <a:ext cx="219456" cy="219456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9784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3</a:t>
            </a:r>
            <a:endParaRPr lang="en-US" sz="700"/>
          </a:p>
        </p:txBody>
      </p:sp>
      <p:sp>
        <p:nvSpPr>
          <p:cNvPr id="11" name="Shape 9"/>
          <p:cNvSpPr/>
          <p:nvPr/>
        </p:nvSpPr>
        <p:spPr>
          <a:xfrm>
            <a:off x="228600" y="1325880"/>
            <a:ext cx="2057400" cy="822960"/>
          </a:xfrm>
          <a:prstGeom prst="rect">
            <a:avLst/>
          </a:prstGeom>
          <a:solidFill>
            <a:srgbClr val="0D1B35"/>
          </a:solidFill>
          <a:ln w="9525">
            <a:solidFill>
              <a:srgbClr val="2D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1325880"/>
            <a:ext cx="45720" cy="82296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389888"/>
            <a:ext cx="548640" cy="182880"/>
          </a:xfrm>
          <a:prstGeom prst="rect">
            <a:avLst/>
          </a:prstGeom>
          <a:solidFill>
            <a:srgbClr val="FF6B9D">
              <a:alpha val="35000"/>
            </a:srgbClr>
          </a:solidFill>
          <a:ln w="12700">
            <a:solidFill>
              <a:srgbClr val="FF6B9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3898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Design</a:t>
            </a:r>
            <a:endParaRPr lang="en-US" sz="650"/>
          </a:p>
        </p:txBody>
      </p:sp>
      <p:sp>
        <p:nvSpPr>
          <p:cNvPr id="15" name="Shape 13"/>
          <p:cNvSpPr/>
          <p:nvPr/>
        </p:nvSpPr>
        <p:spPr>
          <a:xfrm>
            <a:off x="2011680" y="1371600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13716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2</a:t>
            </a:r>
            <a:endParaRPr lang="en-US" sz="700"/>
          </a:p>
        </p:txBody>
      </p:sp>
      <p:sp>
        <p:nvSpPr>
          <p:cNvPr id="17" name="Text 15"/>
          <p:cNvSpPr/>
          <p:nvPr/>
        </p:nvSpPr>
        <p:spPr>
          <a:xfrm>
            <a:off x="320040" y="1600200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Conception maquette </a:t>
            </a:r>
            <a:r>
              <a:rPr lang="en-US" sz="800" err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calendrier</a:t>
            </a:r>
            <a:r>
              <a:rPr lang="en-US" sz="800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800" err="1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ressources</a:t>
            </a:r>
          </a:p>
          <a:p>
            <a:endParaRPr lang="en-US" sz="800">
              <a:solidFill>
                <a:srgbClr val="E0F0FF"/>
              </a:solidFill>
              <a:ea typeface="Calibri"/>
              <a:cs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0040" y="1901952"/>
            <a:ext cx="182880" cy="18288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9019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  <a:ea typeface="Calibri"/>
                <a:cs typeface="Calibri"/>
              </a:rPr>
              <a:t>LM</a:t>
            </a:r>
          </a:p>
        </p:txBody>
      </p:sp>
      <p:sp>
        <p:nvSpPr>
          <p:cNvPr id="20" name="Shape 18"/>
          <p:cNvSpPr/>
          <p:nvPr/>
        </p:nvSpPr>
        <p:spPr>
          <a:xfrm>
            <a:off x="228600" y="2304288"/>
            <a:ext cx="2057400" cy="822960"/>
          </a:xfrm>
          <a:prstGeom prst="rect">
            <a:avLst/>
          </a:prstGeom>
          <a:solidFill>
            <a:srgbClr val="0D1B35"/>
          </a:solidFill>
          <a:ln w="9525">
            <a:solidFill>
              <a:srgbClr val="2D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304288"/>
            <a:ext cx="45720" cy="82296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368296"/>
            <a:ext cx="548640" cy="182880"/>
          </a:xfrm>
          <a:prstGeom prst="rect">
            <a:avLst/>
          </a:prstGeom>
          <a:solidFill>
            <a:srgbClr val="7B2FFF">
              <a:alpha val="35000"/>
            </a:srgbClr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36829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Back</a:t>
            </a:r>
            <a:endParaRPr lang="en-US" sz="650"/>
          </a:p>
        </p:txBody>
      </p:sp>
      <p:sp>
        <p:nvSpPr>
          <p:cNvPr id="24" name="Shape 22"/>
          <p:cNvSpPr/>
          <p:nvPr/>
        </p:nvSpPr>
        <p:spPr>
          <a:xfrm>
            <a:off x="2011680" y="2350008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0" y="23500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1</a:t>
            </a:r>
            <a:endParaRPr lang="en-US" sz="700"/>
          </a:p>
        </p:txBody>
      </p:sp>
      <p:sp>
        <p:nvSpPr>
          <p:cNvPr id="27" name="Shape 25"/>
          <p:cNvSpPr/>
          <p:nvPr/>
        </p:nvSpPr>
        <p:spPr>
          <a:xfrm>
            <a:off x="320040" y="2880360"/>
            <a:ext cx="182880" cy="18288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8803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FC</a:t>
            </a:r>
            <a:endParaRPr lang="en-US" sz="550"/>
          </a:p>
        </p:txBody>
      </p:sp>
      <p:sp>
        <p:nvSpPr>
          <p:cNvPr id="29" name="Shape 27"/>
          <p:cNvSpPr/>
          <p:nvPr/>
        </p:nvSpPr>
        <p:spPr>
          <a:xfrm>
            <a:off x="228600" y="3282696"/>
            <a:ext cx="2057400" cy="822960"/>
          </a:xfrm>
          <a:prstGeom prst="rect">
            <a:avLst/>
          </a:prstGeom>
          <a:solidFill>
            <a:srgbClr val="0D1B35"/>
          </a:solidFill>
          <a:ln w="9525">
            <a:solidFill>
              <a:srgbClr val="2D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0040" y="2578608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base de données PostgreSQL</a:t>
            </a:r>
            <a:endParaRPr lang="en-US" sz="800"/>
          </a:p>
        </p:txBody>
      </p:sp>
      <p:sp>
        <p:nvSpPr>
          <p:cNvPr id="30" name="Shape 28"/>
          <p:cNvSpPr/>
          <p:nvPr/>
        </p:nvSpPr>
        <p:spPr>
          <a:xfrm>
            <a:off x="228600" y="3282696"/>
            <a:ext cx="45720" cy="82296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346704"/>
            <a:ext cx="548640" cy="182880"/>
          </a:xfrm>
          <a:prstGeom prst="rect">
            <a:avLst/>
          </a:prstGeom>
          <a:solidFill>
            <a:srgbClr val="7B2FFF">
              <a:alpha val="35000"/>
            </a:srgbClr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3467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Back</a:t>
            </a:r>
            <a:endParaRPr lang="en-US" sz="650"/>
          </a:p>
        </p:txBody>
      </p:sp>
      <p:sp>
        <p:nvSpPr>
          <p:cNvPr id="33" name="Shape 31"/>
          <p:cNvSpPr/>
          <p:nvPr/>
        </p:nvSpPr>
        <p:spPr>
          <a:xfrm>
            <a:off x="2011680" y="3328416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0" y="33284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2</a:t>
            </a:r>
            <a:endParaRPr lang="en-US" sz="700"/>
          </a:p>
        </p:txBody>
      </p:sp>
      <p:sp>
        <p:nvSpPr>
          <p:cNvPr id="35" name="Text 33"/>
          <p:cNvSpPr/>
          <p:nvPr/>
        </p:nvSpPr>
        <p:spPr>
          <a:xfrm>
            <a:off x="320040" y="3557016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 ressources</a:t>
            </a:r>
            <a:endParaRPr lang="en-US" sz="800"/>
          </a:p>
        </p:txBody>
      </p:sp>
      <p:sp>
        <p:nvSpPr>
          <p:cNvPr id="36" name="Shape 34"/>
          <p:cNvSpPr/>
          <p:nvPr/>
        </p:nvSpPr>
        <p:spPr>
          <a:xfrm>
            <a:off x="320040" y="3858768"/>
            <a:ext cx="182880" cy="18288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8587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FC</a:t>
            </a:r>
            <a:endParaRPr lang="en-US" sz="550"/>
          </a:p>
        </p:txBody>
      </p:sp>
      <p:sp>
        <p:nvSpPr>
          <p:cNvPr id="38" name="Shape 36"/>
          <p:cNvSpPr/>
          <p:nvPr/>
        </p:nvSpPr>
        <p:spPr>
          <a:xfrm>
            <a:off x="2423160" y="914400"/>
            <a:ext cx="2057400" cy="347472"/>
          </a:xfrm>
          <a:prstGeom prst="rect">
            <a:avLst/>
          </a:prstGeom>
          <a:solidFill>
            <a:srgbClr val="1B3A5C"/>
          </a:solidFill>
          <a:ln w="6350">
            <a:solidFill>
              <a:srgbClr val="00C6FF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96312" y="914400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EN COURS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160520" y="978408"/>
            <a:ext cx="219456" cy="219456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0520" y="9784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3</a:t>
            </a:r>
            <a:endParaRPr lang="en-US" sz="700"/>
          </a:p>
        </p:txBody>
      </p:sp>
      <p:sp>
        <p:nvSpPr>
          <p:cNvPr id="43" name="Shape 41"/>
          <p:cNvSpPr/>
          <p:nvPr/>
        </p:nvSpPr>
        <p:spPr>
          <a:xfrm>
            <a:off x="2423160" y="1325880"/>
            <a:ext cx="45720" cy="896112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14600" y="1389888"/>
            <a:ext cx="548640" cy="182880"/>
          </a:xfrm>
          <a:prstGeom prst="rect">
            <a:avLst/>
          </a:prstGeom>
          <a:solidFill>
            <a:srgbClr val="7B2FFF">
              <a:alpha val="35000"/>
            </a:srgbClr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06240" y="1371600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06240" y="13716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3</a:t>
            </a:r>
            <a:endParaRPr lang="en-US" sz="700"/>
          </a:p>
        </p:txBody>
      </p:sp>
      <p:sp>
        <p:nvSpPr>
          <p:cNvPr id="49" name="Shape 47"/>
          <p:cNvSpPr/>
          <p:nvPr/>
        </p:nvSpPr>
        <p:spPr>
          <a:xfrm>
            <a:off x="2514600" y="2020824"/>
            <a:ext cx="1874520" cy="640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14600" y="1947672"/>
            <a:ext cx="182880" cy="18288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23160" y="1325880"/>
            <a:ext cx="2057400" cy="896112"/>
          </a:xfrm>
          <a:prstGeom prst="rect">
            <a:avLst/>
          </a:prstGeom>
          <a:solidFill>
            <a:srgbClr val="0D1B35"/>
          </a:solidFill>
          <a:ln w="9525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514600" y="13898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Back</a:t>
            </a:r>
            <a:endParaRPr lang="en-US" sz="650"/>
          </a:p>
        </p:txBody>
      </p:sp>
      <p:sp>
        <p:nvSpPr>
          <p:cNvPr id="48" name="Text 46"/>
          <p:cNvSpPr/>
          <p:nvPr/>
        </p:nvSpPr>
        <p:spPr>
          <a:xfrm>
            <a:off x="2514600" y="1600200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GET /resources/availability</a:t>
            </a:r>
            <a:endParaRPr lang="en-US" sz="800"/>
          </a:p>
        </p:txBody>
      </p:sp>
      <p:sp>
        <p:nvSpPr>
          <p:cNvPr id="50" name="Shape 48"/>
          <p:cNvSpPr/>
          <p:nvPr/>
        </p:nvSpPr>
        <p:spPr>
          <a:xfrm>
            <a:off x="2514600" y="2020824"/>
            <a:ext cx="1218438" cy="640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96512" y="194767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>
                <a:solidFill>
                  <a:srgbClr val="7B2FFF"/>
                </a:solidFill>
              </a:rPr>
              <a:t>65%</a:t>
            </a:r>
            <a:endParaRPr lang="en-US" sz="650"/>
          </a:p>
        </p:txBody>
      </p:sp>
      <p:sp>
        <p:nvSpPr>
          <p:cNvPr id="53" name="Text 51"/>
          <p:cNvSpPr/>
          <p:nvPr/>
        </p:nvSpPr>
        <p:spPr>
          <a:xfrm>
            <a:off x="2514600" y="19476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  <a:ea typeface="Calibri"/>
                <a:cs typeface="Calibri"/>
              </a:rPr>
              <a:t>FB</a:t>
            </a:r>
          </a:p>
        </p:txBody>
      </p:sp>
      <p:sp>
        <p:nvSpPr>
          <p:cNvPr id="54" name="Shape 52"/>
          <p:cNvSpPr/>
          <p:nvPr/>
        </p:nvSpPr>
        <p:spPr>
          <a:xfrm>
            <a:off x="2423160" y="2304288"/>
            <a:ext cx="2057400" cy="896112"/>
          </a:xfrm>
          <a:prstGeom prst="rect">
            <a:avLst/>
          </a:prstGeom>
          <a:solidFill>
            <a:srgbClr val="0D1B35"/>
          </a:solidFill>
          <a:ln w="9525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423160" y="2304288"/>
            <a:ext cx="45720" cy="896112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514600" y="2368296"/>
            <a:ext cx="548640" cy="182880"/>
          </a:xfrm>
          <a:prstGeom prst="rect">
            <a:avLst/>
          </a:prstGeom>
          <a:solidFill>
            <a:srgbClr val="00C6FF">
              <a:alpha val="35000"/>
            </a:srgbClr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14600" y="236829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Front</a:t>
            </a:r>
            <a:endParaRPr lang="en-US" sz="650"/>
          </a:p>
        </p:txBody>
      </p:sp>
      <p:sp>
        <p:nvSpPr>
          <p:cNvPr id="58" name="Shape 56"/>
          <p:cNvSpPr/>
          <p:nvPr/>
        </p:nvSpPr>
        <p:spPr>
          <a:xfrm>
            <a:off x="4206240" y="2350008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06240" y="23500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5</a:t>
            </a:r>
            <a:endParaRPr lang="en-US" sz="700"/>
          </a:p>
        </p:txBody>
      </p:sp>
      <p:sp>
        <p:nvSpPr>
          <p:cNvPr id="60" name="Text 58"/>
          <p:cNvSpPr/>
          <p:nvPr/>
        </p:nvSpPr>
        <p:spPr>
          <a:xfrm>
            <a:off x="2514600" y="2578608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 calendrier React</a:t>
            </a:r>
            <a:endParaRPr lang="en-US" sz="800"/>
          </a:p>
        </p:txBody>
      </p:sp>
      <p:sp>
        <p:nvSpPr>
          <p:cNvPr id="61" name="Shape 59"/>
          <p:cNvSpPr/>
          <p:nvPr/>
        </p:nvSpPr>
        <p:spPr>
          <a:xfrm>
            <a:off x="2514600" y="2999232"/>
            <a:ext cx="1874520" cy="640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514600" y="2999232"/>
            <a:ext cx="1499616" cy="6400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096512" y="292608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>
                <a:solidFill>
                  <a:srgbClr val="00C6FF"/>
                </a:solidFill>
              </a:rPr>
              <a:t>80%</a:t>
            </a:r>
            <a:endParaRPr lang="en-US" sz="650"/>
          </a:p>
        </p:txBody>
      </p:sp>
      <p:sp>
        <p:nvSpPr>
          <p:cNvPr id="64" name="Shape 62"/>
          <p:cNvSpPr/>
          <p:nvPr/>
        </p:nvSpPr>
        <p:spPr>
          <a:xfrm>
            <a:off x="2514600" y="2926080"/>
            <a:ext cx="182880" cy="18288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514600" y="2926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RT</a:t>
            </a:r>
            <a:endParaRPr lang="en-US" sz="550"/>
          </a:p>
        </p:txBody>
      </p:sp>
      <p:sp>
        <p:nvSpPr>
          <p:cNvPr id="66" name="Shape 64"/>
          <p:cNvSpPr/>
          <p:nvPr/>
        </p:nvSpPr>
        <p:spPr>
          <a:xfrm>
            <a:off x="2423160" y="3282696"/>
            <a:ext cx="2057400" cy="896112"/>
          </a:xfrm>
          <a:prstGeom prst="rect">
            <a:avLst/>
          </a:prstGeom>
          <a:solidFill>
            <a:srgbClr val="0D1B35"/>
          </a:solidFill>
          <a:ln w="9525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2423160" y="3282696"/>
            <a:ext cx="45720" cy="89611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14600" y="3346704"/>
            <a:ext cx="548640" cy="182880"/>
          </a:xfrm>
          <a:prstGeom prst="rect">
            <a:avLst/>
          </a:prstGeom>
          <a:solidFill>
            <a:srgbClr val="FF6B9D">
              <a:alpha val="35000"/>
            </a:srgbClr>
          </a:solidFill>
          <a:ln w="12700">
            <a:solidFill>
              <a:srgbClr val="FF6B9D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514600" y="33467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Design</a:t>
            </a:r>
            <a:endParaRPr lang="en-US" sz="650"/>
          </a:p>
        </p:txBody>
      </p:sp>
      <p:sp>
        <p:nvSpPr>
          <p:cNvPr id="70" name="Shape 68"/>
          <p:cNvSpPr/>
          <p:nvPr/>
        </p:nvSpPr>
        <p:spPr>
          <a:xfrm>
            <a:off x="4206240" y="3328416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06240" y="33284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3</a:t>
            </a:r>
            <a:endParaRPr lang="en-US" sz="700"/>
          </a:p>
        </p:txBody>
      </p:sp>
      <p:sp>
        <p:nvSpPr>
          <p:cNvPr id="72" name="Text 70"/>
          <p:cNvSpPr/>
          <p:nvPr/>
        </p:nvSpPr>
        <p:spPr>
          <a:xfrm>
            <a:off x="2514600" y="3557016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tableau de bord</a:t>
            </a:r>
            <a:endParaRPr lang="en-US" sz="800"/>
          </a:p>
        </p:txBody>
      </p:sp>
      <p:sp>
        <p:nvSpPr>
          <p:cNvPr id="73" name="Shape 71"/>
          <p:cNvSpPr/>
          <p:nvPr/>
        </p:nvSpPr>
        <p:spPr>
          <a:xfrm>
            <a:off x="2514600" y="3977640"/>
            <a:ext cx="1874520" cy="640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514600" y="3977640"/>
            <a:ext cx="1687068" cy="64008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>
                <a:alpha val="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096512" y="390448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>
                <a:solidFill>
                  <a:srgbClr val="FF6B9D"/>
                </a:solidFill>
              </a:rPr>
              <a:t>90%</a:t>
            </a:r>
            <a:endParaRPr lang="en-US" sz="650"/>
          </a:p>
        </p:txBody>
      </p:sp>
      <p:sp>
        <p:nvSpPr>
          <p:cNvPr id="76" name="Shape 74"/>
          <p:cNvSpPr/>
          <p:nvPr/>
        </p:nvSpPr>
        <p:spPr>
          <a:xfrm>
            <a:off x="2514600" y="3904488"/>
            <a:ext cx="182880" cy="18288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>
                <a:alpha val="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514600" y="39044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SO</a:t>
            </a:r>
            <a:endParaRPr lang="en-US" sz="550"/>
          </a:p>
        </p:txBody>
      </p:sp>
      <p:sp>
        <p:nvSpPr>
          <p:cNvPr id="78" name="Shape 76"/>
          <p:cNvSpPr/>
          <p:nvPr/>
        </p:nvSpPr>
        <p:spPr>
          <a:xfrm>
            <a:off x="4617720" y="914400"/>
            <a:ext cx="2057400" cy="347472"/>
          </a:xfrm>
          <a:prstGeom prst="rect">
            <a:avLst/>
          </a:prstGeom>
          <a:solidFill>
            <a:srgbClr val="1A3040"/>
          </a:solidFill>
          <a:ln w="6350">
            <a:solidFill>
              <a:srgbClr val="00C6FF">
                <a:alpha val="40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690872" y="914400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 REVIEW</a:t>
            </a:r>
          </a:p>
        </p:txBody>
      </p:sp>
      <p:sp>
        <p:nvSpPr>
          <p:cNvPr id="80" name="Shape 78"/>
          <p:cNvSpPr/>
          <p:nvPr/>
        </p:nvSpPr>
        <p:spPr>
          <a:xfrm>
            <a:off x="6355080" y="978408"/>
            <a:ext cx="219456" cy="219456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55080" y="9784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2</a:t>
            </a:r>
            <a:endParaRPr lang="en-US" sz="700"/>
          </a:p>
        </p:txBody>
      </p:sp>
      <p:sp>
        <p:nvSpPr>
          <p:cNvPr id="82" name="Shape 80"/>
          <p:cNvSpPr/>
          <p:nvPr/>
        </p:nvSpPr>
        <p:spPr>
          <a:xfrm>
            <a:off x="4617720" y="1325880"/>
            <a:ext cx="2057400" cy="822960"/>
          </a:xfrm>
          <a:prstGeom prst="rect">
            <a:avLst/>
          </a:prstGeom>
          <a:solidFill>
            <a:srgbClr val="0D1B35"/>
          </a:solidFill>
          <a:ln w="9525">
            <a:solidFill>
              <a:srgbClr val="1A3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4617720" y="1325880"/>
            <a:ext cx="45720" cy="82296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709160" y="1389888"/>
            <a:ext cx="548640" cy="182880"/>
          </a:xfrm>
          <a:prstGeom prst="rect">
            <a:avLst/>
          </a:prstGeom>
          <a:solidFill>
            <a:srgbClr val="00C6FF">
              <a:alpha val="35000"/>
            </a:srgbClr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709160" y="13898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Front</a:t>
            </a:r>
            <a:endParaRPr lang="en-US" sz="650"/>
          </a:p>
        </p:txBody>
      </p:sp>
      <p:sp>
        <p:nvSpPr>
          <p:cNvPr id="86" name="Shape 84"/>
          <p:cNvSpPr/>
          <p:nvPr/>
        </p:nvSpPr>
        <p:spPr>
          <a:xfrm>
            <a:off x="6400800" y="1371600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400800" y="13716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5</a:t>
            </a:r>
            <a:endParaRPr lang="en-US" sz="700"/>
          </a:p>
        </p:txBody>
      </p:sp>
      <p:sp>
        <p:nvSpPr>
          <p:cNvPr id="88" name="Text 86"/>
          <p:cNvSpPr/>
          <p:nvPr/>
        </p:nvSpPr>
        <p:spPr>
          <a:xfrm>
            <a:off x="4709160" y="1600200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réservation (front)</a:t>
            </a:r>
            <a:endParaRPr lang="en-US" sz="800"/>
          </a:p>
        </p:txBody>
      </p:sp>
      <p:sp>
        <p:nvSpPr>
          <p:cNvPr id="89" name="Shape 87"/>
          <p:cNvSpPr/>
          <p:nvPr/>
        </p:nvSpPr>
        <p:spPr>
          <a:xfrm>
            <a:off x="4709160" y="1901952"/>
            <a:ext cx="182880" cy="18288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709160" y="19019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RT</a:t>
            </a:r>
            <a:endParaRPr lang="en-US" sz="550"/>
          </a:p>
        </p:txBody>
      </p:sp>
      <p:sp>
        <p:nvSpPr>
          <p:cNvPr id="91" name="Shape 89"/>
          <p:cNvSpPr/>
          <p:nvPr/>
        </p:nvSpPr>
        <p:spPr>
          <a:xfrm>
            <a:off x="4617720" y="2304288"/>
            <a:ext cx="2057400" cy="822960"/>
          </a:xfrm>
          <a:prstGeom prst="rect">
            <a:avLst/>
          </a:prstGeom>
          <a:solidFill>
            <a:srgbClr val="0D1B35"/>
          </a:solidFill>
          <a:ln w="9525">
            <a:solidFill>
              <a:srgbClr val="1A3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4617720" y="2304288"/>
            <a:ext cx="45720" cy="82296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709160" y="2368296"/>
            <a:ext cx="548640" cy="182880"/>
          </a:xfrm>
          <a:prstGeom prst="rect">
            <a:avLst/>
          </a:prstGeom>
          <a:solidFill>
            <a:srgbClr val="7B2FFF">
              <a:alpha val="35000"/>
            </a:srgbClr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709160" y="236829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Back</a:t>
            </a:r>
            <a:endParaRPr lang="en-US" sz="650"/>
          </a:p>
        </p:txBody>
      </p:sp>
      <p:sp>
        <p:nvSpPr>
          <p:cNvPr id="95" name="Shape 93"/>
          <p:cNvSpPr/>
          <p:nvPr/>
        </p:nvSpPr>
        <p:spPr>
          <a:xfrm>
            <a:off x="6400800" y="2350008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400800" y="23500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8</a:t>
            </a:r>
            <a:endParaRPr lang="en-US" sz="700"/>
          </a:p>
        </p:txBody>
      </p:sp>
      <p:sp>
        <p:nvSpPr>
          <p:cNvPr id="97" name="Text 95"/>
          <p:cNvSpPr/>
          <p:nvPr/>
        </p:nvSpPr>
        <p:spPr>
          <a:xfrm>
            <a:off x="4709160" y="2578608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anti-conflit backend</a:t>
            </a:r>
            <a:endParaRPr lang="en-US" sz="800"/>
          </a:p>
        </p:txBody>
      </p:sp>
      <p:sp>
        <p:nvSpPr>
          <p:cNvPr id="98" name="Shape 96"/>
          <p:cNvSpPr/>
          <p:nvPr/>
        </p:nvSpPr>
        <p:spPr>
          <a:xfrm>
            <a:off x="4709160" y="2880360"/>
            <a:ext cx="182880" cy="18288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709160" y="28803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FC</a:t>
            </a:r>
            <a:endParaRPr lang="en-US" sz="550"/>
          </a:p>
        </p:txBody>
      </p:sp>
      <p:sp>
        <p:nvSpPr>
          <p:cNvPr id="100" name="Shape 98"/>
          <p:cNvSpPr/>
          <p:nvPr/>
        </p:nvSpPr>
        <p:spPr>
          <a:xfrm>
            <a:off x="6812280" y="914400"/>
            <a:ext cx="2057400" cy="347472"/>
          </a:xfrm>
          <a:prstGeom prst="rect">
            <a:avLst/>
          </a:prstGeom>
          <a:solidFill>
            <a:srgbClr val="0A2A1A"/>
          </a:solidFill>
          <a:ln w="6350">
            <a:solidFill>
              <a:srgbClr val="00C6FF">
                <a:alpha val="40000"/>
              </a:srgbClr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885432" y="914400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TERMINÉ</a:t>
            </a:r>
            <a:endParaRPr lang="en-US" sz="950"/>
          </a:p>
        </p:txBody>
      </p:sp>
      <p:sp>
        <p:nvSpPr>
          <p:cNvPr id="102" name="Shape 100"/>
          <p:cNvSpPr/>
          <p:nvPr/>
        </p:nvSpPr>
        <p:spPr>
          <a:xfrm>
            <a:off x="8549640" y="978408"/>
            <a:ext cx="219456" cy="219456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549640" y="9784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4</a:t>
            </a:r>
            <a:endParaRPr lang="en-US" sz="700"/>
          </a:p>
        </p:txBody>
      </p:sp>
      <p:sp>
        <p:nvSpPr>
          <p:cNvPr id="104" name="Shape 102"/>
          <p:cNvSpPr/>
          <p:nvPr/>
        </p:nvSpPr>
        <p:spPr>
          <a:xfrm>
            <a:off x="6812280" y="1325880"/>
            <a:ext cx="2057400" cy="822960"/>
          </a:xfrm>
          <a:prstGeom prst="rect">
            <a:avLst/>
          </a:prstGeom>
          <a:solidFill>
            <a:srgbClr val="0D1B35"/>
          </a:solidFill>
          <a:ln w="9525">
            <a:solidFill>
              <a:srgbClr val="0A2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6812280" y="1325880"/>
            <a:ext cx="45720" cy="82296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903720" y="1389888"/>
            <a:ext cx="548640" cy="182880"/>
          </a:xfrm>
          <a:prstGeom prst="rect">
            <a:avLst/>
          </a:prstGeom>
          <a:solidFill>
            <a:srgbClr val="00C6FF">
              <a:alpha val="35000"/>
            </a:srgbClr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903720" y="13898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Front</a:t>
            </a:r>
            <a:endParaRPr lang="en-US" sz="650"/>
          </a:p>
        </p:txBody>
      </p:sp>
      <p:sp>
        <p:nvSpPr>
          <p:cNvPr id="108" name="Shape 106"/>
          <p:cNvSpPr/>
          <p:nvPr/>
        </p:nvSpPr>
        <p:spPr>
          <a:xfrm>
            <a:off x="8595360" y="1371600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595360" y="13716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1</a:t>
            </a:r>
            <a:endParaRPr lang="en-US" sz="700"/>
          </a:p>
        </p:txBody>
      </p:sp>
      <p:sp>
        <p:nvSpPr>
          <p:cNvPr id="110" name="Text 108"/>
          <p:cNvSpPr/>
          <p:nvPr/>
        </p:nvSpPr>
        <p:spPr>
          <a:xfrm>
            <a:off x="6903720" y="1600200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projet React + TypeScript</a:t>
            </a:r>
            <a:endParaRPr lang="en-US" sz="800"/>
          </a:p>
        </p:txBody>
      </p:sp>
      <p:sp>
        <p:nvSpPr>
          <p:cNvPr id="111" name="Shape 109"/>
          <p:cNvSpPr/>
          <p:nvPr/>
        </p:nvSpPr>
        <p:spPr>
          <a:xfrm>
            <a:off x="6903720" y="1901952"/>
            <a:ext cx="182880" cy="18288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903720" y="19019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RT</a:t>
            </a:r>
            <a:endParaRPr lang="en-US" sz="550"/>
          </a:p>
        </p:txBody>
      </p:sp>
      <p:sp>
        <p:nvSpPr>
          <p:cNvPr id="113" name="Shape 111"/>
          <p:cNvSpPr/>
          <p:nvPr/>
        </p:nvSpPr>
        <p:spPr>
          <a:xfrm>
            <a:off x="6812280" y="2304288"/>
            <a:ext cx="2057400" cy="822960"/>
          </a:xfrm>
          <a:prstGeom prst="rect">
            <a:avLst/>
          </a:prstGeom>
          <a:solidFill>
            <a:srgbClr val="0D1B35"/>
          </a:solidFill>
          <a:ln w="9525">
            <a:solidFill>
              <a:srgbClr val="0A2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4" name="Shape 112"/>
          <p:cNvSpPr/>
          <p:nvPr/>
        </p:nvSpPr>
        <p:spPr>
          <a:xfrm>
            <a:off x="6812280" y="2304288"/>
            <a:ext cx="45720" cy="822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903720" y="2368296"/>
            <a:ext cx="548640" cy="182880"/>
          </a:xfrm>
          <a:prstGeom prst="rect">
            <a:avLst/>
          </a:prstGeom>
          <a:solidFill>
            <a:srgbClr val="FFB703">
              <a:alpha val="35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903720" y="236829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DevOps</a:t>
            </a:r>
            <a:endParaRPr lang="en-US" sz="650"/>
          </a:p>
        </p:txBody>
      </p:sp>
      <p:sp>
        <p:nvSpPr>
          <p:cNvPr id="117" name="Shape 115"/>
          <p:cNvSpPr/>
          <p:nvPr/>
        </p:nvSpPr>
        <p:spPr>
          <a:xfrm>
            <a:off x="8595360" y="2350008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595360" y="23500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2</a:t>
            </a:r>
            <a:endParaRPr lang="en-US" sz="700"/>
          </a:p>
        </p:txBody>
      </p:sp>
      <p:sp>
        <p:nvSpPr>
          <p:cNvPr id="119" name="Text 117"/>
          <p:cNvSpPr/>
          <p:nvPr/>
        </p:nvSpPr>
        <p:spPr>
          <a:xfrm>
            <a:off x="6903720" y="2578608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E0F0FF"/>
                </a:solidFill>
                <a:latin typeface="Calibri"/>
                <a:ea typeface="Calibri"/>
                <a:cs typeface="Calibri"/>
              </a:rPr>
              <a:t>CI/CD pipeline GitLab CI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120" name="Shape 118"/>
          <p:cNvSpPr/>
          <p:nvPr/>
        </p:nvSpPr>
        <p:spPr>
          <a:xfrm>
            <a:off x="6903720" y="2880360"/>
            <a:ext cx="182880" cy="18288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903720" y="28803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FC</a:t>
            </a:r>
            <a:endParaRPr lang="en-US" sz="550"/>
          </a:p>
        </p:txBody>
      </p:sp>
      <p:sp>
        <p:nvSpPr>
          <p:cNvPr id="122" name="Shape 120"/>
          <p:cNvSpPr/>
          <p:nvPr/>
        </p:nvSpPr>
        <p:spPr>
          <a:xfrm>
            <a:off x="6812280" y="3282696"/>
            <a:ext cx="2057400" cy="822960"/>
          </a:xfrm>
          <a:prstGeom prst="rect">
            <a:avLst/>
          </a:prstGeom>
          <a:solidFill>
            <a:srgbClr val="0D1B35"/>
          </a:solidFill>
          <a:ln w="9525">
            <a:solidFill>
              <a:srgbClr val="0A2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3" name="Shape 121"/>
          <p:cNvSpPr/>
          <p:nvPr/>
        </p:nvSpPr>
        <p:spPr>
          <a:xfrm>
            <a:off x="6812280" y="3282696"/>
            <a:ext cx="45720" cy="82296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903720" y="3346704"/>
            <a:ext cx="548640" cy="182880"/>
          </a:xfrm>
          <a:prstGeom prst="rect">
            <a:avLst/>
          </a:prstGeom>
          <a:solidFill>
            <a:srgbClr val="FF6B9D">
              <a:alpha val="35000"/>
            </a:srgbClr>
          </a:solidFill>
          <a:ln w="12700">
            <a:solidFill>
              <a:srgbClr val="FF6B9D">
                <a:alpha val="0"/>
              </a:srgbClr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903720" y="33467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Design</a:t>
            </a:r>
            <a:endParaRPr lang="en-US" sz="650"/>
          </a:p>
        </p:txBody>
      </p:sp>
      <p:sp>
        <p:nvSpPr>
          <p:cNvPr id="126" name="Shape 124"/>
          <p:cNvSpPr/>
          <p:nvPr/>
        </p:nvSpPr>
        <p:spPr>
          <a:xfrm>
            <a:off x="8595360" y="3328416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595360" y="33284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2</a:t>
            </a:r>
            <a:endParaRPr lang="en-US" sz="700"/>
          </a:p>
        </p:txBody>
      </p:sp>
      <p:sp>
        <p:nvSpPr>
          <p:cNvPr id="128" name="Text 126"/>
          <p:cNvSpPr/>
          <p:nvPr/>
        </p:nvSpPr>
        <p:spPr>
          <a:xfrm>
            <a:off x="6903720" y="3557016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 landing page</a:t>
            </a:r>
            <a:endParaRPr lang="en-US" sz="800"/>
          </a:p>
        </p:txBody>
      </p:sp>
      <p:sp>
        <p:nvSpPr>
          <p:cNvPr id="129" name="Shape 127"/>
          <p:cNvSpPr/>
          <p:nvPr/>
        </p:nvSpPr>
        <p:spPr>
          <a:xfrm>
            <a:off x="6903720" y="3858768"/>
            <a:ext cx="182880" cy="18288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>
                <a:alpha val="0"/>
              </a:srgbClr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903720" y="38587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SO</a:t>
            </a:r>
            <a:endParaRPr lang="en-US" sz="550"/>
          </a:p>
        </p:txBody>
      </p:sp>
      <p:sp>
        <p:nvSpPr>
          <p:cNvPr id="131" name="Shape 129"/>
          <p:cNvSpPr/>
          <p:nvPr/>
        </p:nvSpPr>
        <p:spPr>
          <a:xfrm>
            <a:off x="6812280" y="4261104"/>
            <a:ext cx="2057400" cy="822960"/>
          </a:xfrm>
          <a:prstGeom prst="rect">
            <a:avLst/>
          </a:prstGeom>
          <a:solidFill>
            <a:srgbClr val="0D1B35"/>
          </a:solidFill>
          <a:ln w="9525">
            <a:solidFill>
              <a:srgbClr val="0A2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2" name="Shape 130"/>
          <p:cNvSpPr/>
          <p:nvPr/>
        </p:nvSpPr>
        <p:spPr>
          <a:xfrm>
            <a:off x="6812280" y="4261104"/>
            <a:ext cx="45720" cy="82296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903720" y="4325112"/>
            <a:ext cx="548640" cy="182880"/>
          </a:xfrm>
          <a:prstGeom prst="rect">
            <a:avLst/>
          </a:prstGeom>
          <a:solidFill>
            <a:srgbClr val="7B2FFF">
              <a:alpha val="35000"/>
            </a:srgbClr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903720" y="43251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Back</a:t>
            </a:r>
            <a:endParaRPr lang="en-US" sz="650"/>
          </a:p>
        </p:txBody>
      </p:sp>
      <p:sp>
        <p:nvSpPr>
          <p:cNvPr id="135" name="Shape 133"/>
          <p:cNvSpPr/>
          <p:nvPr/>
        </p:nvSpPr>
        <p:spPr>
          <a:xfrm>
            <a:off x="8595360" y="4306824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8595360" y="43068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3</a:t>
            </a:r>
            <a:endParaRPr lang="en-US" sz="700"/>
          </a:p>
        </p:txBody>
      </p:sp>
      <p:sp>
        <p:nvSpPr>
          <p:cNvPr id="137" name="Text 135"/>
          <p:cNvSpPr/>
          <p:nvPr/>
        </p:nvSpPr>
        <p:spPr>
          <a:xfrm>
            <a:off x="6903720" y="4535424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email confirmation</a:t>
            </a:r>
            <a:endParaRPr lang="en-US" sz="800"/>
          </a:p>
        </p:txBody>
      </p:sp>
      <p:sp>
        <p:nvSpPr>
          <p:cNvPr id="138" name="Shape 136"/>
          <p:cNvSpPr/>
          <p:nvPr/>
        </p:nvSpPr>
        <p:spPr>
          <a:xfrm>
            <a:off x="6903720" y="4837176"/>
            <a:ext cx="182880" cy="18288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6903720" y="4837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FC</a:t>
            </a:r>
            <a:endParaRPr lang="en-US" sz="550"/>
          </a:p>
        </p:txBody>
      </p:sp>
      <p:sp>
        <p:nvSpPr>
          <p:cNvPr id="140" name="Text 138"/>
          <p:cNvSpPr/>
          <p:nvPr/>
        </p:nvSpPr>
        <p:spPr>
          <a:xfrm>
            <a:off x="228600" y="4818888"/>
            <a:ext cx="86868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B703"/>
                </a:solidFill>
                <a:latin typeface="Calibri"/>
                <a:ea typeface="Calibri"/>
                <a:cs typeface="Calibri"/>
              </a:rPr>
              <a:t>RT = Ramsses </a:t>
            </a:r>
            <a:r>
              <a:rPr lang="en-US" sz="800" b="1" err="1">
                <a:solidFill>
                  <a:srgbClr val="FFB703"/>
                </a:solidFill>
                <a:latin typeface="Calibri"/>
                <a:ea typeface="Calibri"/>
                <a:cs typeface="Calibri"/>
              </a:rPr>
              <a:t>Tining</a:t>
            </a:r>
            <a:r>
              <a:rPr lang="en-US" sz="800" b="1">
                <a:solidFill>
                  <a:srgbClr val="FFB703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800" b="1">
                <a:solidFill>
                  <a:srgbClr val="00C6FF"/>
                </a:solidFill>
                <a:latin typeface="Calibri"/>
                <a:ea typeface="Calibri"/>
                <a:cs typeface="Calibri"/>
              </a:rPr>
              <a:t>  FC = Fouad </a:t>
            </a:r>
            <a:r>
              <a:rPr lang="en-US" sz="800" b="1" err="1">
                <a:solidFill>
                  <a:srgbClr val="00C6FF"/>
                </a:solidFill>
                <a:latin typeface="Calibri"/>
                <a:ea typeface="Calibri"/>
                <a:cs typeface="Calibri"/>
              </a:rPr>
              <a:t>Chitou</a:t>
            </a:r>
            <a:r>
              <a:rPr lang="en-US" sz="800" b="1">
                <a:solidFill>
                  <a:srgbClr val="00C6FF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800" b="1">
                <a:solidFill>
                  <a:srgbClr val="FF6B9D"/>
                </a:solidFill>
                <a:latin typeface="Calibri"/>
                <a:ea typeface="Calibri"/>
                <a:cs typeface="Calibri"/>
              </a:rPr>
              <a:t>  SO = SOW </a:t>
            </a:r>
            <a:r>
              <a:rPr lang="en-US" sz="800" b="1" err="1">
                <a:solidFill>
                  <a:srgbClr val="FF6B9D"/>
                </a:solidFill>
                <a:latin typeface="Calibri"/>
                <a:ea typeface="Calibri"/>
                <a:cs typeface="Calibri"/>
              </a:rPr>
              <a:t>Omou</a:t>
            </a:r>
            <a:r>
              <a:rPr lang="en-US" sz="800" b="1">
                <a:solidFill>
                  <a:srgbClr val="FF6B9D"/>
                </a:solidFill>
                <a:latin typeface="Calibri"/>
                <a:ea typeface="Calibri"/>
                <a:cs typeface="Calibri"/>
              </a:rPr>
              <a:t> </a:t>
            </a:r>
            <a:endParaRPr lang="en-US" sz="800">
              <a:solidFill>
                <a:srgbClr val="8899AA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2743200"/>
          </a:xfrm>
          <a:prstGeom prst="ellipse">
            <a:avLst/>
          </a:prstGeom>
          <a:solidFill>
            <a:srgbClr val="1B0A3A">
              <a:alpha val="60000"/>
            </a:srgbClr>
          </a:solidFill>
          <a:ln w="12700">
            <a:solidFill>
              <a:srgbClr val="1B0A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200400"/>
          </a:xfrm>
          <a:prstGeom prst="ellipse">
            <a:avLst/>
          </a:prstGeom>
          <a:solidFill>
            <a:srgbClr val="001A3A">
              <a:alpha val="55000"/>
            </a:srgbClr>
          </a:solidFill>
          <a:ln w="12700">
            <a:solidFill>
              <a:srgbClr val="001A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00C6FF"/>
                </a:solidFill>
                <a:latin typeface="Calibri"/>
                <a:ea typeface="Calibri"/>
                <a:cs typeface="Calibri"/>
              </a:rPr>
              <a:t>  SPRINT 1 REVIEW — COMPTE RENDU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7B2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· Démo &amp; retours utilisateurs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8595360" cy="32004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60120"/>
            <a:ext cx="859536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85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Date : 14 </a:t>
            </a:r>
            <a:r>
              <a:rPr lang="en-US" sz="85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mai</a:t>
            </a:r>
            <a:r>
              <a:rPr lang="en-US" sz="85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2026  |  ⏱  Durée : 1h30  |  Lieu : Mission Control, </a:t>
            </a:r>
            <a:r>
              <a:rPr lang="en-US" sz="85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AstroSoft</a:t>
            </a:r>
            <a:r>
              <a:rPr lang="en-US" sz="85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Labs  |  Participants : équipe + 4 </a:t>
            </a:r>
            <a:r>
              <a:rPr lang="en-US" sz="85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représentants</a:t>
            </a:r>
            <a:r>
              <a:rPr lang="en-US" sz="85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5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utilisateurs</a:t>
            </a:r>
            <a:endParaRPr lang="en-US" sz="850" err="1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4114800" cy="192024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371600"/>
            <a:ext cx="4114800" cy="320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0E1A"/>
                </a:solidFill>
              </a:rPr>
              <a:t>  </a:t>
            </a:r>
            <a:r>
              <a:rPr lang="en-US" sz="1000" b="1" err="1">
                <a:solidFill>
                  <a:srgbClr val="0A0E1A"/>
                </a:solidFill>
              </a:rPr>
              <a:t>Fonctionnalités</a:t>
            </a:r>
            <a:r>
              <a:rPr lang="en-US" sz="1000" b="1">
                <a:solidFill>
                  <a:srgbClr val="0A0E1A"/>
                </a:solidFill>
              </a:rPr>
              <a:t> LIVRÉES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457200" y="1783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Calendrier des ressources (temps réel)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457200" y="21305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Réservation de créneau (anti-conflit)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457200" y="24780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Confirmation automatique par email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457200" y="28254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Profil utilisateur de base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4114800" cy="192024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371600"/>
            <a:ext cx="4114800" cy="32004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  </a:t>
            </a:r>
            <a:r>
              <a:rPr lang="en-US" sz="1000" b="1" err="1">
                <a:solidFill>
                  <a:srgbClr val="FFFFFF"/>
                </a:solidFill>
              </a:rPr>
              <a:t>Reporté</a:t>
            </a:r>
            <a:r>
              <a:rPr lang="en-US" sz="1000" b="1">
                <a:solidFill>
                  <a:srgbClr val="FFFFFF"/>
                </a:solidFill>
              </a:rPr>
              <a:t> au Sprint 2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4937760" y="1783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Notification push in-app (80% fait)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4937760" y="21305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Tests de charge (dépendance infra)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4937760" y="25420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6D6A0"/>
                </a:solidFill>
              </a:rPr>
              <a:t>⚡  Vélocité atteinte : 16/16 pts (100%)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274320" y="3429000"/>
            <a:ext cx="8595360" cy="1554480"/>
          </a:xfrm>
          <a:prstGeom prst="rect">
            <a:avLst/>
          </a:prstGeom>
          <a:solidFill>
            <a:srgbClr val="0A1428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429000"/>
            <a:ext cx="8595360" cy="32004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4290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  RETOURS UTILISATEURS — </a:t>
            </a:r>
            <a:r>
              <a:rPr lang="en-US" sz="1000" b="1" err="1">
                <a:solidFill>
                  <a:srgbClr val="FFFFFF"/>
                </a:solidFill>
              </a:rPr>
              <a:t>Démo</a:t>
            </a:r>
            <a:r>
              <a:rPr lang="en-US" sz="1000" b="1">
                <a:solidFill>
                  <a:srgbClr val="FFFFFF"/>
                </a:solidFill>
              </a:rPr>
              <a:t> Sprint 1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365760" y="3822192"/>
            <a:ext cx="45720" cy="411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8221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>
                <a:solidFill>
                  <a:srgbClr val="06D6A0"/>
                </a:solidFill>
              </a:rPr>
              <a:t> Dr. Anthony (JPL) </a:t>
            </a:r>
            <a:r>
              <a:rPr lang="en-US" sz="800" b="1" err="1">
                <a:solidFill>
                  <a:srgbClr val="06D6A0"/>
                </a:solidFill>
              </a:rPr>
              <a:t>zenn</a:t>
            </a:r>
            <a:r>
              <a:rPr lang="en-US" sz="800" b="1">
                <a:solidFill>
                  <a:srgbClr val="06D6A0"/>
                </a:solidFill>
              </a:rPr>
              <a:t> </a:t>
            </a:r>
            <a:r>
              <a:rPr lang="en-US" sz="800" b="1" err="1">
                <a:solidFill>
                  <a:srgbClr val="06D6A0"/>
                </a:solidFill>
              </a:rPr>
              <a:t>quand</a:t>
            </a:r>
            <a:r>
              <a:rPr lang="en-US" sz="800" b="1">
                <a:solidFill>
                  <a:srgbClr val="06D6A0"/>
                </a:solidFill>
              </a:rPr>
              <a:t> est good</a:t>
            </a:r>
            <a:endParaRPr lang="en-US" sz="800"/>
          </a:p>
        </p:txBody>
      </p:sp>
      <p:sp>
        <p:nvSpPr>
          <p:cNvPr id="27" name="Text 25"/>
          <p:cNvSpPr/>
          <p:nvPr/>
        </p:nvSpPr>
        <p:spPr>
          <a:xfrm>
            <a:off x="475488" y="40050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899AA"/>
                </a:solidFill>
              </a:rPr>
              <a:t>Le calendrier est enfin lisible ! On a besoin d'un filtre par type de ressource.</a:t>
            </a:r>
            <a:endParaRPr lang="en-US" sz="800"/>
          </a:p>
        </p:txBody>
      </p:sp>
      <p:sp>
        <p:nvSpPr>
          <p:cNvPr id="28" name="Shape 26"/>
          <p:cNvSpPr/>
          <p:nvPr/>
        </p:nvSpPr>
        <p:spPr>
          <a:xfrm>
            <a:off x="365760" y="4334256"/>
            <a:ext cx="45720" cy="411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0248" y="4341876"/>
            <a:ext cx="25831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>
                <a:solidFill>
                  <a:srgbClr val="06D6A0"/>
                </a:solidFill>
              </a:rPr>
              <a:t>😊 </a:t>
            </a:r>
            <a:r>
              <a:rPr lang="en-US" sz="800" b="1" err="1">
                <a:solidFill>
                  <a:srgbClr val="06D6A0"/>
                </a:solidFill>
              </a:rPr>
              <a:t>Norchenne</a:t>
            </a:r>
            <a:r>
              <a:rPr lang="en-US" sz="800" b="1">
                <a:solidFill>
                  <a:srgbClr val="06D6A0"/>
                </a:solidFill>
              </a:rPr>
              <a:t> la magnifique avec </a:t>
            </a:r>
            <a:r>
              <a:rPr lang="en-US" sz="800" b="1" err="1">
                <a:solidFill>
                  <a:srgbClr val="06D6A0"/>
                </a:solidFill>
              </a:rPr>
              <a:t>ça</a:t>
            </a:r>
            <a:r>
              <a:rPr lang="en-US" sz="800" b="1">
                <a:solidFill>
                  <a:srgbClr val="06D6A0"/>
                </a:solidFill>
              </a:rPr>
              <a:t> bonne </a:t>
            </a:r>
            <a:r>
              <a:rPr lang="en-US" sz="800" b="1" err="1">
                <a:solidFill>
                  <a:srgbClr val="06D6A0"/>
                </a:solidFill>
              </a:rPr>
              <a:t>humeur</a:t>
            </a:r>
            <a:r>
              <a:rPr lang="en-US" sz="800" b="1">
                <a:solidFill>
                  <a:srgbClr val="06D6A0"/>
                </a:solidFill>
              </a:rPr>
              <a:t>  </a:t>
            </a:r>
            <a:endParaRPr lang="en-US" sz="800"/>
          </a:p>
        </p:txBody>
      </p:sp>
      <p:sp>
        <p:nvSpPr>
          <p:cNvPr id="30" name="Text 28"/>
          <p:cNvSpPr/>
          <p:nvPr/>
        </p:nvSpPr>
        <p:spPr>
          <a:xfrm>
            <a:off x="475488" y="45171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899AA"/>
                </a:solidFill>
              </a:rPr>
              <a:t>Super que la confirmation soit instantanée. On voudrait aussi une vue hebdomadaire.</a:t>
            </a:r>
            <a:endParaRPr lang="en-US" sz="800"/>
          </a:p>
        </p:txBody>
      </p:sp>
      <p:sp>
        <p:nvSpPr>
          <p:cNvPr id="31" name="Shape 29"/>
          <p:cNvSpPr/>
          <p:nvPr/>
        </p:nvSpPr>
        <p:spPr>
          <a:xfrm>
            <a:off x="4617720" y="3822192"/>
            <a:ext cx="45720" cy="4114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7928" y="3822192"/>
            <a:ext cx="356616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>
                <a:solidFill>
                  <a:srgbClr val="FFB703"/>
                </a:solidFill>
              </a:rPr>
              <a:t> Aymen le </a:t>
            </a:r>
            <a:r>
              <a:rPr lang="en-US" sz="800" b="1" err="1">
                <a:solidFill>
                  <a:srgbClr val="FFB703"/>
                </a:solidFill>
              </a:rPr>
              <a:t>beaugosse</a:t>
            </a:r>
            <a:r>
              <a:rPr lang="en-US" sz="800" b="1">
                <a:solidFill>
                  <a:srgbClr val="FFB703"/>
                </a:solidFill>
              </a:rPr>
              <a:t> qui est </a:t>
            </a:r>
            <a:r>
              <a:rPr lang="en-US" sz="800" b="1" err="1">
                <a:solidFill>
                  <a:srgbClr val="FFB703"/>
                </a:solidFill>
              </a:rPr>
              <a:t>toujours</a:t>
            </a:r>
            <a:r>
              <a:rPr lang="en-US" sz="800" b="1">
                <a:solidFill>
                  <a:srgbClr val="FFB703"/>
                </a:solidFill>
              </a:rPr>
              <a:t> avec les </a:t>
            </a:r>
            <a:r>
              <a:rPr lang="en-US" sz="800" b="1" err="1">
                <a:solidFill>
                  <a:srgbClr val="FFB703"/>
                </a:solidFill>
              </a:rPr>
              <a:t>interos</a:t>
            </a:r>
            <a:endParaRPr lang="en-US" sz="800" err="1"/>
          </a:p>
        </p:txBody>
      </p:sp>
      <p:sp>
        <p:nvSpPr>
          <p:cNvPr id="33" name="Text 31"/>
          <p:cNvSpPr/>
          <p:nvPr/>
        </p:nvSpPr>
        <p:spPr>
          <a:xfrm>
            <a:off x="4727448" y="40050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899AA"/>
                </a:solidFill>
              </a:rPr>
              <a:t>Comment gérer les réservations récurrentes ? Besoin pour nos maintenances.</a:t>
            </a:r>
            <a:endParaRPr lang="en-US" sz="800"/>
          </a:p>
        </p:txBody>
      </p:sp>
      <p:sp>
        <p:nvSpPr>
          <p:cNvPr id="34" name="Shape 32"/>
          <p:cNvSpPr/>
          <p:nvPr/>
        </p:nvSpPr>
        <p:spPr>
          <a:xfrm>
            <a:off x="4617720" y="4334256"/>
            <a:ext cx="45720" cy="41148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7928" y="4341876"/>
            <a:ext cx="3909060" cy="193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>
                <a:solidFill>
                  <a:srgbClr val="EF476F"/>
                </a:solidFill>
              </a:rPr>
              <a:t>⚠️ Anne-Marie </a:t>
            </a:r>
            <a:r>
              <a:rPr lang="en-US" sz="800" b="1" err="1">
                <a:solidFill>
                  <a:srgbClr val="EF476F"/>
                </a:solidFill>
              </a:rPr>
              <a:t>toujours</a:t>
            </a:r>
            <a:r>
              <a:rPr lang="en-US" sz="800" b="1">
                <a:solidFill>
                  <a:srgbClr val="EF476F"/>
                </a:solidFill>
              </a:rPr>
              <a:t> </a:t>
            </a:r>
            <a:r>
              <a:rPr lang="en-US" sz="800" b="1" err="1">
                <a:solidFill>
                  <a:srgbClr val="EF476F"/>
                </a:solidFill>
              </a:rPr>
              <a:t>fachés</a:t>
            </a:r>
            <a:endParaRPr lang="en-US" sz="800" b="1" err="1">
              <a:solidFill>
                <a:srgbClr val="EF476F"/>
              </a:solidFill>
              <a:ea typeface="Calibri"/>
              <a:cs typeface="Calibri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727448" y="45171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899AA"/>
                </a:solidFill>
              </a:rPr>
              <a:t>Intégration avec notre SSO obligatoire avant déploiement en prod.</a:t>
            </a: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2743200"/>
          </a:xfrm>
          <a:prstGeom prst="ellipse">
            <a:avLst/>
          </a:prstGeom>
          <a:solidFill>
            <a:srgbClr val="1B0A3A">
              <a:alpha val="60000"/>
            </a:srgbClr>
          </a:solidFill>
          <a:ln w="12700">
            <a:solidFill>
              <a:srgbClr val="1B0A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200400"/>
          </a:xfrm>
          <a:prstGeom prst="ellipse">
            <a:avLst/>
          </a:prstGeom>
          <a:solidFill>
            <a:srgbClr val="001A3A">
              <a:alpha val="55000"/>
            </a:srgbClr>
          </a:solidFill>
          <a:ln w="12700">
            <a:solidFill>
              <a:srgbClr val="001A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00C6FF"/>
                </a:solidFill>
                <a:latin typeface="Calibri"/>
                <a:ea typeface="Calibri"/>
                <a:cs typeface="Calibri"/>
              </a:rPr>
              <a:t>RÉTROSPECTIVE SPRINT 1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7B2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rendu interne — Keep / Drop / Try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3055907" y="906205"/>
            <a:ext cx="4196751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8899AA"/>
                </a:solidFill>
              </a:rPr>
              <a:t>  15 </a:t>
            </a:r>
            <a:r>
              <a:rPr lang="en-US" sz="850" i="1" err="1">
                <a:solidFill>
                  <a:srgbClr val="8899AA"/>
                </a:solidFill>
              </a:rPr>
              <a:t>mai</a:t>
            </a:r>
            <a:r>
              <a:rPr lang="en-US" sz="850" i="1">
                <a:solidFill>
                  <a:srgbClr val="8899AA"/>
                </a:solidFill>
              </a:rPr>
              <a:t> 2026  |  </a:t>
            </a:r>
            <a:r>
              <a:rPr lang="en-US" sz="850" i="1" err="1">
                <a:solidFill>
                  <a:srgbClr val="8899AA"/>
                </a:solidFill>
              </a:rPr>
              <a:t>Facilitateur</a:t>
            </a:r>
            <a:r>
              <a:rPr lang="en-US" sz="850" i="1">
                <a:solidFill>
                  <a:srgbClr val="8899AA"/>
                </a:solidFill>
              </a:rPr>
              <a:t> : Karim Belhadj (Scrum Master)  |  Équipe </a:t>
            </a:r>
            <a:r>
              <a:rPr lang="en-US" sz="850" i="1" err="1">
                <a:solidFill>
                  <a:srgbClr val="8899AA"/>
                </a:solidFill>
              </a:rPr>
              <a:t>complète</a:t>
            </a:r>
            <a:r>
              <a:rPr lang="en-US" sz="850" i="1">
                <a:solidFill>
                  <a:srgbClr val="8899AA"/>
                </a:solidFill>
              </a:rPr>
              <a:t> </a:t>
            </a:r>
            <a:r>
              <a:rPr lang="en-US" sz="850" i="1" err="1">
                <a:solidFill>
                  <a:srgbClr val="8899AA"/>
                </a:solidFill>
              </a:rPr>
              <a:t>présente</a:t>
            </a:r>
            <a:endParaRPr lang="en-US" sz="850" err="1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2834640" cy="3474720"/>
          </a:xfrm>
          <a:prstGeom prst="rect">
            <a:avLst/>
          </a:prstGeom>
          <a:solidFill>
            <a:srgbClr val="001A0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98448"/>
            <a:ext cx="2834640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984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0E1A"/>
                </a:solidFill>
              </a:rPr>
              <a:t>KEEP — Ce qui a bien </a:t>
            </a:r>
            <a:r>
              <a:rPr lang="en-US" sz="900" b="1" err="1">
                <a:solidFill>
                  <a:srgbClr val="0A0E1A"/>
                </a:solidFill>
              </a:rPr>
              <a:t>fonctionné</a:t>
            </a:r>
            <a:endParaRPr lang="en-US" sz="900" err="1"/>
          </a:p>
        </p:txBody>
      </p:sp>
      <p:sp>
        <p:nvSpPr>
          <p:cNvPr id="11" name="Shape 9"/>
          <p:cNvSpPr/>
          <p:nvPr/>
        </p:nvSpPr>
        <p:spPr>
          <a:xfrm>
            <a:off x="411480" y="1764792"/>
            <a:ext cx="109728" cy="10972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71907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Scrum de 15 min — très efficace, on va garder ce format</a:t>
            </a:r>
            <a:endParaRPr lang="en-US" sz="850"/>
          </a:p>
        </p:txBody>
      </p:sp>
      <p:sp>
        <p:nvSpPr>
          <p:cNvPr id="13" name="Shape 11"/>
          <p:cNvSpPr/>
          <p:nvPr/>
        </p:nvSpPr>
        <p:spPr>
          <a:xfrm>
            <a:off x="411480" y="2423160"/>
            <a:ext cx="109728" cy="10972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774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programming Back+Front pour l'API de réservation — bugs réduits de 60%</a:t>
            </a:r>
            <a:endParaRPr lang="en-US" sz="850"/>
          </a:p>
        </p:txBody>
      </p:sp>
      <p:sp>
        <p:nvSpPr>
          <p:cNvPr id="15" name="Shape 13"/>
          <p:cNvSpPr/>
          <p:nvPr/>
        </p:nvSpPr>
        <p:spPr>
          <a:xfrm>
            <a:off x="411480" y="3081528"/>
            <a:ext cx="109728" cy="10972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03580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Jira bien détaillés — moins de questions en cours de sprint</a:t>
            </a:r>
            <a:endParaRPr lang="en-US" sz="850"/>
          </a:p>
        </p:txBody>
      </p:sp>
      <p:sp>
        <p:nvSpPr>
          <p:cNvPr id="17" name="Shape 15"/>
          <p:cNvSpPr/>
          <p:nvPr/>
        </p:nvSpPr>
        <p:spPr>
          <a:xfrm>
            <a:off x="411480" y="3739896"/>
            <a:ext cx="109728" cy="10972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69417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L'humeur de l'équipe est excellente, bonne cohésion sur ce projet space 🚀</a:t>
            </a:r>
            <a:endParaRPr lang="en-US" sz="850"/>
          </a:p>
        </p:txBody>
      </p:sp>
      <p:sp>
        <p:nvSpPr>
          <p:cNvPr id="19" name="Shape 17"/>
          <p:cNvSpPr/>
          <p:nvPr/>
        </p:nvSpPr>
        <p:spPr>
          <a:xfrm>
            <a:off x="3246120" y="1298448"/>
            <a:ext cx="2834640" cy="3474720"/>
          </a:xfrm>
          <a:prstGeom prst="rect">
            <a:avLst/>
          </a:prstGeom>
          <a:solidFill>
            <a:srgbClr val="1A0005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1298448"/>
            <a:ext cx="2834640" cy="34747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12984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  DROP — Ce </a:t>
            </a:r>
            <a:r>
              <a:rPr lang="en-US" sz="900" b="1" err="1">
                <a:solidFill>
                  <a:srgbClr val="FFFFFF"/>
                </a:solidFill>
              </a:rPr>
              <a:t>qu'on</a:t>
            </a:r>
            <a:r>
              <a:rPr lang="en-US" sz="900" b="1">
                <a:solidFill>
                  <a:srgbClr val="FFFFFF"/>
                </a:solidFill>
              </a:rPr>
              <a:t> </a:t>
            </a:r>
            <a:r>
              <a:rPr lang="en-US" sz="900" b="1" err="1">
                <a:solidFill>
                  <a:srgbClr val="FFFFFF"/>
                </a:solidFill>
              </a:rPr>
              <a:t>arrête</a:t>
            </a:r>
            <a:endParaRPr lang="en-US" sz="900" err="1"/>
          </a:p>
        </p:txBody>
      </p:sp>
      <p:sp>
        <p:nvSpPr>
          <p:cNvPr id="22" name="Shape 20"/>
          <p:cNvSpPr/>
          <p:nvPr/>
        </p:nvSpPr>
        <p:spPr>
          <a:xfrm>
            <a:off x="3383280" y="1764792"/>
            <a:ext cx="109728" cy="10972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171907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réunions de mise au point impromptues de 30 min — trop coûteuses en énergie</a:t>
            </a:r>
            <a:endParaRPr lang="en-US" sz="850"/>
          </a:p>
        </p:txBody>
      </p:sp>
      <p:sp>
        <p:nvSpPr>
          <p:cNvPr id="24" name="Shape 22"/>
          <p:cNvSpPr/>
          <p:nvPr/>
        </p:nvSpPr>
        <p:spPr>
          <a:xfrm>
            <a:off x="3383280" y="2423160"/>
            <a:ext cx="109728" cy="10972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23774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sans template — on impose le template de revue dès Sprint 2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3383280" y="3081528"/>
            <a:ext cx="109728" cy="10972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03580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manuels uniquement — CI/CD obligatoire sur toutes les branches</a:t>
            </a:r>
            <a:endParaRPr lang="en-US" sz="850"/>
          </a:p>
        </p:txBody>
      </p:sp>
      <p:sp>
        <p:nvSpPr>
          <p:cNvPr id="28" name="Shape 26"/>
          <p:cNvSpPr/>
          <p:nvPr/>
        </p:nvSpPr>
        <p:spPr>
          <a:xfrm>
            <a:off x="6217920" y="1298448"/>
            <a:ext cx="2834640" cy="3474720"/>
          </a:xfrm>
          <a:prstGeom prst="rect">
            <a:avLst/>
          </a:prstGeom>
          <a:solidFill>
            <a:srgbClr val="00101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1298448"/>
            <a:ext cx="2834640" cy="347472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12984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0E1A"/>
                </a:solidFill>
              </a:rPr>
              <a:t> TRY — Ce </a:t>
            </a:r>
            <a:r>
              <a:rPr lang="en-US" sz="900" b="1" err="1">
                <a:solidFill>
                  <a:srgbClr val="0A0E1A"/>
                </a:solidFill>
              </a:rPr>
              <a:t>qu'on</a:t>
            </a:r>
            <a:r>
              <a:rPr lang="en-US" sz="900" b="1">
                <a:solidFill>
                  <a:srgbClr val="0A0E1A"/>
                </a:solidFill>
              </a:rPr>
              <a:t> teste au Sprint 2</a:t>
            </a:r>
            <a:endParaRPr lang="en-US" sz="900"/>
          </a:p>
        </p:txBody>
      </p:sp>
      <p:sp>
        <p:nvSpPr>
          <p:cNvPr id="31" name="Shape 29"/>
          <p:cNvSpPr/>
          <p:nvPr/>
        </p:nvSpPr>
        <p:spPr>
          <a:xfrm>
            <a:off x="6355080" y="1764792"/>
            <a:ext cx="109728" cy="109728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171907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 programming le vendredi matin (1h) pour les sujets complexes</a:t>
            </a:r>
            <a:endParaRPr lang="en-US" sz="850"/>
          </a:p>
        </p:txBody>
      </p:sp>
      <p:sp>
        <p:nvSpPr>
          <p:cNvPr id="33" name="Shape 31"/>
          <p:cNvSpPr/>
          <p:nvPr/>
        </p:nvSpPr>
        <p:spPr>
          <a:xfrm>
            <a:off x="6355080" y="2423160"/>
            <a:ext cx="109728" cy="109728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23774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de design Figma à mi-sprint avec le PO (évite les surprises en review)</a:t>
            </a:r>
            <a:endParaRPr lang="en-US" sz="850"/>
          </a:p>
        </p:txBody>
      </p:sp>
      <p:sp>
        <p:nvSpPr>
          <p:cNvPr id="35" name="Shape 33"/>
          <p:cNvSpPr/>
          <p:nvPr/>
        </p:nvSpPr>
        <p:spPr>
          <a:xfrm>
            <a:off x="6355080" y="3081528"/>
            <a:ext cx="109728" cy="109728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303580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planning explicite en début de sprint (congés, dispo réelle)</a:t>
            </a:r>
            <a:endParaRPr lang="en-US" sz="850"/>
          </a:p>
        </p:txBody>
      </p:sp>
      <p:sp>
        <p:nvSpPr>
          <p:cNvPr id="37" name="Shape 35"/>
          <p:cNvSpPr/>
          <p:nvPr/>
        </p:nvSpPr>
        <p:spPr>
          <a:xfrm>
            <a:off x="6355080" y="3739896"/>
            <a:ext cx="109728" cy="109728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369417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de dette technique suivi dans le backlog</a:t>
            </a:r>
            <a:endParaRPr lang="en-US" sz="850"/>
          </a:p>
        </p:txBody>
      </p:sp>
      <p:sp>
        <p:nvSpPr>
          <p:cNvPr id="39" name="Shape 37"/>
          <p:cNvSpPr/>
          <p:nvPr/>
        </p:nvSpPr>
        <p:spPr>
          <a:xfrm>
            <a:off x="274320" y="4828032"/>
            <a:ext cx="8595360" cy="246888"/>
          </a:xfrm>
          <a:prstGeom prst="rect">
            <a:avLst/>
          </a:prstGeom>
          <a:solidFill>
            <a:srgbClr val="0A1A10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7200" y="4828032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Actions Sprint 2 : </a:t>
            </a:r>
            <a:r>
              <a:rPr lang="en-US" sz="85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Intégrer CI/CD  2) Template PR obligatoire  3) Planning poker public  4) Mob programming vendredi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2743200"/>
          </a:xfrm>
          <a:prstGeom prst="ellipse">
            <a:avLst/>
          </a:prstGeom>
          <a:solidFill>
            <a:srgbClr val="1B0A3A">
              <a:alpha val="60000"/>
            </a:srgbClr>
          </a:solidFill>
          <a:ln w="12700">
            <a:solidFill>
              <a:srgbClr val="1B0A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200400"/>
          </a:xfrm>
          <a:prstGeom prst="ellipse">
            <a:avLst/>
          </a:prstGeom>
          <a:solidFill>
            <a:srgbClr val="001A3A">
              <a:alpha val="55000"/>
            </a:srgbClr>
          </a:solidFill>
          <a:ln w="12700">
            <a:solidFill>
              <a:srgbClr val="001A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00C6FF"/>
                </a:solidFill>
                <a:latin typeface="Calibri"/>
                <a:ea typeface="Calibri"/>
                <a:cs typeface="Calibri"/>
              </a:rPr>
              <a:t>  SPRINT 2 &amp; 3 — ITÉRATIONS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7B2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continue basée sur les retours utilisateurs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114800" cy="356616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4114800" cy="38404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601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⚡  SPRINT 2  (Semaines 3–4)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457200" y="14447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B703"/>
                </a:solidFill>
              </a:rPr>
              <a:t>🎯 Objectif :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457200" y="16733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E0F0FF"/>
                </a:solidFill>
              </a:rPr>
              <a:t>Gestion complète des réservations + interface admin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457200" y="2011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00C6FF"/>
                </a:solidFill>
              </a:rPr>
              <a:t>US04</a:t>
            </a:r>
            <a:endParaRPr lang="en-US" sz="800"/>
          </a:p>
        </p:txBody>
      </p:sp>
      <p:sp>
        <p:nvSpPr>
          <p:cNvPr id="13" name="Text 11"/>
          <p:cNvSpPr/>
          <p:nvPr/>
        </p:nvSpPr>
        <p:spPr>
          <a:xfrm>
            <a:off x="96012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0F0FF"/>
                </a:solidFill>
              </a:rPr>
              <a:t>Modification de réservation</a:t>
            </a:r>
            <a:endParaRPr lang="en-US" sz="850"/>
          </a:p>
        </p:txBody>
      </p:sp>
      <p:sp>
        <p:nvSpPr>
          <p:cNvPr id="14" name="Text 12"/>
          <p:cNvSpPr/>
          <p:nvPr/>
        </p:nvSpPr>
        <p:spPr>
          <a:xfrm>
            <a:off x="3566160" y="2011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FFB703"/>
                </a:solidFill>
              </a:rPr>
              <a:t>5 pts</a:t>
            </a:r>
            <a:endParaRPr lang="en-US" sz="800"/>
          </a:p>
        </p:txBody>
      </p:sp>
      <p:sp>
        <p:nvSpPr>
          <p:cNvPr id="15" name="Text 13"/>
          <p:cNvSpPr/>
          <p:nvPr/>
        </p:nvSpPr>
        <p:spPr>
          <a:xfrm>
            <a:off x="457200" y="23957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00C6FF"/>
                </a:solidFill>
              </a:rPr>
              <a:t>US05</a:t>
            </a:r>
            <a:endParaRPr lang="en-US" sz="800"/>
          </a:p>
        </p:txBody>
      </p:sp>
      <p:sp>
        <p:nvSpPr>
          <p:cNvPr id="16" name="Text 14"/>
          <p:cNvSpPr/>
          <p:nvPr/>
        </p:nvSpPr>
        <p:spPr>
          <a:xfrm>
            <a:off x="960120" y="2395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0F0FF"/>
                </a:solidFill>
              </a:rPr>
              <a:t>Annulation avec motif &amp; libération</a:t>
            </a:r>
            <a:endParaRPr lang="en-US" sz="850"/>
          </a:p>
        </p:txBody>
      </p:sp>
      <p:sp>
        <p:nvSpPr>
          <p:cNvPr id="17" name="Text 15"/>
          <p:cNvSpPr/>
          <p:nvPr/>
        </p:nvSpPr>
        <p:spPr>
          <a:xfrm>
            <a:off x="3566160" y="23957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FFB703"/>
                </a:solidFill>
              </a:rPr>
              <a:t>3 pts</a:t>
            </a:r>
            <a:endParaRPr lang="en-US" sz="800"/>
          </a:p>
        </p:txBody>
      </p:sp>
      <p:sp>
        <p:nvSpPr>
          <p:cNvPr id="18" name="Text 16"/>
          <p:cNvSpPr/>
          <p:nvPr/>
        </p:nvSpPr>
        <p:spPr>
          <a:xfrm>
            <a:off x="457200" y="27797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00C6FF"/>
                </a:solidFill>
              </a:rPr>
              <a:t>US06</a:t>
            </a:r>
            <a:endParaRPr lang="en-US" sz="800"/>
          </a:p>
        </p:txBody>
      </p:sp>
      <p:sp>
        <p:nvSpPr>
          <p:cNvPr id="19" name="Text 17"/>
          <p:cNvSpPr/>
          <p:nvPr/>
        </p:nvSpPr>
        <p:spPr>
          <a:xfrm>
            <a:off x="960120" y="27797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0F0FF"/>
                </a:solidFill>
              </a:rPr>
              <a:t>Dashboard admin : CRUD ressources</a:t>
            </a:r>
            <a:endParaRPr lang="en-US" sz="850"/>
          </a:p>
        </p:txBody>
      </p:sp>
      <p:sp>
        <p:nvSpPr>
          <p:cNvPr id="20" name="Text 18"/>
          <p:cNvSpPr/>
          <p:nvPr/>
        </p:nvSpPr>
        <p:spPr>
          <a:xfrm>
            <a:off x="3566160" y="277977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FFB703"/>
                </a:solidFill>
              </a:rPr>
              <a:t>8 pts</a:t>
            </a:r>
            <a:endParaRPr lang="en-US" sz="800"/>
          </a:p>
        </p:txBody>
      </p:sp>
      <p:sp>
        <p:nvSpPr>
          <p:cNvPr id="21" name="Text 19"/>
          <p:cNvSpPr/>
          <p:nvPr/>
        </p:nvSpPr>
        <p:spPr>
          <a:xfrm>
            <a:off x="457200" y="316382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7B2FFF"/>
                </a:solidFill>
              </a:rPr>
              <a:t>–</a:t>
            </a:r>
            <a:endParaRPr lang="en-US" sz="800"/>
          </a:p>
        </p:txBody>
      </p:sp>
      <p:sp>
        <p:nvSpPr>
          <p:cNvPr id="22" name="Text 20"/>
          <p:cNvSpPr/>
          <p:nvPr/>
        </p:nvSpPr>
        <p:spPr>
          <a:xfrm>
            <a:off x="960120" y="31638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0F0FF"/>
                </a:solidFill>
              </a:rPr>
              <a:t>Système de notifications push</a:t>
            </a:r>
            <a:endParaRPr lang="en-US" sz="850"/>
          </a:p>
        </p:txBody>
      </p:sp>
      <p:sp>
        <p:nvSpPr>
          <p:cNvPr id="23" name="Text 21"/>
          <p:cNvSpPr/>
          <p:nvPr/>
        </p:nvSpPr>
        <p:spPr>
          <a:xfrm>
            <a:off x="3566160" y="316382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FFB703"/>
                </a:solidFill>
              </a:rPr>
              <a:t>3 pts</a:t>
            </a:r>
            <a:endParaRPr lang="en-US" sz="800"/>
          </a:p>
        </p:txBody>
      </p:sp>
      <p:sp>
        <p:nvSpPr>
          <p:cNvPr id="24" name="Text 22"/>
          <p:cNvSpPr/>
          <p:nvPr/>
        </p:nvSpPr>
        <p:spPr>
          <a:xfrm>
            <a:off x="457200" y="35478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7B2FFF"/>
                </a:solidFill>
              </a:rPr>
              <a:t>–</a:t>
            </a:r>
            <a:endParaRPr lang="en-US" sz="800"/>
          </a:p>
        </p:txBody>
      </p:sp>
      <p:sp>
        <p:nvSpPr>
          <p:cNvPr id="25" name="Text 23"/>
          <p:cNvSpPr/>
          <p:nvPr/>
        </p:nvSpPr>
        <p:spPr>
          <a:xfrm>
            <a:off x="960120" y="3547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0F0FF"/>
                </a:solidFill>
              </a:rPr>
              <a:t>Filtres &amp; recherche avancée</a:t>
            </a:r>
            <a:endParaRPr lang="en-US" sz="850"/>
          </a:p>
        </p:txBody>
      </p:sp>
      <p:sp>
        <p:nvSpPr>
          <p:cNvPr id="26" name="Text 24"/>
          <p:cNvSpPr/>
          <p:nvPr/>
        </p:nvSpPr>
        <p:spPr>
          <a:xfrm>
            <a:off x="3566160" y="35478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FFB703"/>
                </a:solidFill>
              </a:rPr>
              <a:t>2 pts</a:t>
            </a:r>
            <a:endParaRPr lang="en-US" sz="800"/>
          </a:p>
        </p:txBody>
      </p:sp>
      <p:sp>
        <p:nvSpPr>
          <p:cNvPr id="27" name="Text 25"/>
          <p:cNvSpPr/>
          <p:nvPr/>
        </p:nvSpPr>
        <p:spPr>
          <a:xfrm>
            <a:off x="457200" y="42062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06D6A0"/>
                </a:solidFill>
              </a:rPr>
              <a:t>Vélocité : 21 pts  |  Équipe : 5 membres</a:t>
            </a:r>
            <a:endParaRPr lang="en-US" sz="800"/>
          </a:p>
        </p:txBody>
      </p:sp>
      <p:sp>
        <p:nvSpPr>
          <p:cNvPr id="28" name="Shape 26"/>
          <p:cNvSpPr/>
          <p:nvPr/>
        </p:nvSpPr>
        <p:spPr>
          <a:xfrm>
            <a:off x="4754880" y="960120"/>
            <a:ext cx="4114800" cy="356616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960120"/>
            <a:ext cx="4114800" cy="3840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9601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A0E1A"/>
                </a:solidFill>
              </a:rPr>
              <a:t>⚡  SPRINT 3  (Semaines 5–6)</a:t>
            </a:r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4937760" y="14447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B703"/>
                </a:solidFill>
              </a:rPr>
              <a:t>🎯 Objectif :</a:t>
            </a:r>
            <a:endParaRPr lang="en-US" sz="950"/>
          </a:p>
        </p:txBody>
      </p:sp>
      <p:sp>
        <p:nvSpPr>
          <p:cNvPr id="32" name="Text 30"/>
          <p:cNvSpPr/>
          <p:nvPr/>
        </p:nvSpPr>
        <p:spPr>
          <a:xfrm>
            <a:off x="4937760" y="16733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E0F0FF"/>
                </a:solidFill>
              </a:rPr>
              <a:t>Intelligence &amp; analytics — plateforme pilotée par données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4937760" y="2011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06D6A0"/>
                </a:solidFill>
              </a:rPr>
              <a:t>US07</a:t>
            </a:r>
            <a:endParaRPr lang="en-US" sz="800"/>
          </a:p>
        </p:txBody>
      </p:sp>
      <p:sp>
        <p:nvSpPr>
          <p:cNvPr id="34" name="Text 32"/>
          <p:cNvSpPr/>
          <p:nvPr/>
        </p:nvSpPr>
        <p:spPr>
          <a:xfrm>
            <a:off x="544068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0F0FF"/>
                </a:solidFill>
              </a:rPr>
              <a:t>Détection conflits &amp; alertes proactives</a:t>
            </a:r>
            <a:endParaRPr lang="en-US" sz="850"/>
          </a:p>
        </p:txBody>
      </p:sp>
      <p:sp>
        <p:nvSpPr>
          <p:cNvPr id="35" name="Text 33"/>
          <p:cNvSpPr/>
          <p:nvPr/>
        </p:nvSpPr>
        <p:spPr>
          <a:xfrm>
            <a:off x="8046720" y="2011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FFB703"/>
                </a:solidFill>
              </a:rPr>
              <a:t>8 pts</a:t>
            </a:r>
            <a:endParaRPr lang="en-US" sz="800"/>
          </a:p>
        </p:txBody>
      </p:sp>
      <p:sp>
        <p:nvSpPr>
          <p:cNvPr id="36" name="Text 34"/>
          <p:cNvSpPr/>
          <p:nvPr/>
        </p:nvSpPr>
        <p:spPr>
          <a:xfrm>
            <a:off x="4937760" y="23957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06D6A0"/>
                </a:solidFill>
              </a:rPr>
              <a:t>US08</a:t>
            </a:r>
            <a:endParaRPr lang="en-US" sz="800"/>
          </a:p>
        </p:txBody>
      </p:sp>
      <p:sp>
        <p:nvSpPr>
          <p:cNvPr id="37" name="Text 35"/>
          <p:cNvSpPr/>
          <p:nvPr/>
        </p:nvSpPr>
        <p:spPr>
          <a:xfrm>
            <a:off x="5440680" y="2395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0F0FF"/>
                </a:solidFill>
              </a:rPr>
              <a:t>Rapports utilisation exportables PDF</a:t>
            </a:r>
            <a:endParaRPr lang="en-US" sz="850"/>
          </a:p>
        </p:txBody>
      </p:sp>
      <p:sp>
        <p:nvSpPr>
          <p:cNvPr id="38" name="Text 36"/>
          <p:cNvSpPr/>
          <p:nvPr/>
        </p:nvSpPr>
        <p:spPr>
          <a:xfrm>
            <a:off x="8046720" y="23957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FFB703"/>
                </a:solidFill>
              </a:rPr>
              <a:t>5 pts</a:t>
            </a:r>
            <a:endParaRPr lang="en-US" sz="800"/>
          </a:p>
        </p:txBody>
      </p:sp>
      <p:sp>
        <p:nvSpPr>
          <p:cNvPr id="39" name="Text 37"/>
          <p:cNvSpPr/>
          <p:nvPr/>
        </p:nvSpPr>
        <p:spPr>
          <a:xfrm>
            <a:off x="4937760" y="27797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FB703"/>
                </a:solidFill>
              </a:rPr>
              <a:t>–</a:t>
            </a:r>
            <a:endParaRPr lang="en-US" sz="800"/>
          </a:p>
        </p:txBody>
      </p:sp>
      <p:sp>
        <p:nvSpPr>
          <p:cNvPr id="40" name="Text 38"/>
          <p:cNvSpPr/>
          <p:nvPr/>
        </p:nvSpPr>
        <p:spPr>
          <a:xfrm>
            <a:off x="5440680" y="27797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0F0FF"/>
                </a:solidFill>
              </a:rPr>
              <a:t>Tableau de bord analytics temps réel</a:t>
            </a:r>
            <a:endParaRPr lang="en-US" sz="850"/>
          </a:p>
        </p:txBody>
      </p:sp>
      <p:sp>
        <p:nvSpPr>
          <p:cNvPr id="41" name="Text 39"/>
          <p:cNvSpPr/>
          <p:nvPr/>
        </p:nvSpPr>
        <p:spPr>
          <a:xfrm>
            <a:off x="8046720" y="277977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FFB703"/>
                </a:solidFill>
              </a:rPr>
              <a:t>5 pts</a:t>
            </a:r>
            <a:endParaRPr lang="en-US" sz="800"/>
          </a:p>
        </p:txBody>
      </p:sp>
      <p:sp>
        <p:nvSpPr>
          <p:cNvPr id="42" name="Text 40"/>
          <p:cNvSpPr/>
          <p:nvPr/>
        </p:nvSpPr>
        <p:spPr>
          <a:xfrm>
            <a:off x="4937760" y="316382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FB703"/>
                </a:solidFill>
              </a:rPr>
              <a:t>–</a:t>
            </a:r>
            <a:endParaRPr lang="en-US" sz="800"/>
          </a:p>
        </p:txBody>
      </p:sp>
      <p:sp>
        <p:nvSpPr>
          <p:cNvPr id="43" name="Text 41"/>
          <p:cNvSpPr/>
          <p:nvPr/>
        </p:nvSpPr>
        <p:spPr>
          <a:xfrm>
            <a:off x="5440680" y="31638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0F0FF"/>
                </a:solidFill>
              </a:rPr>
              <a:t>Gestion des récurrences de missions</a:t>
            </a:r>
            <a:endParaRPr lang="en-US" sz="850"/>
          </a:p>
        </p:txBody>
      </p:sp>
      <p:sp>
        <p:nvSpPr>
          <p:cNvPr id="44" name="Text 42"/>
          <p:cNvSpPr/>
          <p:nvPr/>
        </p:nvSpPr>
        <p:spPr>
          <a:xfrm>
            <a:off x="8046720" y="316382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FFB703"/>
                </a:solidFill>
              </a:rPr>
              <a:t>5 pts</a:t>
            </a:r>
            <a:endParaRPr lang="en-US" sz="800"/>
          </a:p>
        </p:txBody>
      </p:sp>
      <p:sp>
        <p:nvSpPr>
          <p:cNvPr id="45" name="Text 43"/>
          <p:cNvSpPr/>
          <p:nvPr/>
        </p:nvSpPr>
        <p:spPr>
          <a:xfrm>
            <a:off x="4937760" y="35478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7B2FFF"/>
                </a:solidFill>
              </a:rPr>
              <a:t>–</a:t>
            </a:r>
            <a:endParaRPr lang="en-US" sz="800"/>
          </a:p>
        </p:txBody>
      </p:sp>
      <p:sp>
        <p:nvSpPr>
          <p:cNvPr id="46" name="Text 44"/>
          <p:cNvSpPr/>
          <p:nvPr/>
        </p:nvSpPr>
        <p:spPr>
          <a:xfrm>
            <a:off x="5440680" y="3547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0F0FF"/>
                </a:solidFill>
              </a:rPr>
              <a:t>Optimisations perf &amp; tests charge</a:t>
            </a:r>
            <a:endParaRPr lang="en-US" sz="850"/>
          </a:p>
        </p:txBody>
      </p:sp>
      <p:sp>
        <p:nvSpPr>
          <p:cNvPr id="47" name="Text 45"/>
          <p:cNvSpPr/>
          <p:nvPr/>
        </p:nvSpPr>
        <p:spPr>
          <a:xfrm>
            <a:off x="8046720" y="35478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FFB703"/>
                </a:solidFill>
              </a:rPr>
              <a:t>3 pts</a:t>
            </a:r>
            <a:endParaRPr lang="en-US" sz="800"/>
          </a:p>
        </p:txBody>
      </p:sp>
      <p:sp>
        <p:nvSpPr>
          <p:cNvPr id="48" name="Text 46"/>
          <p:cNvSpPr/>
          <p:nvPr/>
        </p:nvSpPr>
        <p:spPr>
          <a:xfrm>
            <a:off x="4937760" y="4206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06D6A0"/>
                </a:solidFill>
              </a:rPr>
              <a:t>Vélocité : 26 pts  |  Cumul 3 sprints : 63 pts</a:t>
            </a:r>
            <a:endParaRPr lang="en-US" sz="800"/>
          </a:p>
        </p:txBody>
      </p:sp>
      <p:sp>
        <p:nvSpPr>
          <p:cNvPr id="49" name="Shape 47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0A1428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57200" y="461772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Feedback Sprint 2 intégré : </a:t>
            </a:r>
            <a:r>
              <a:rPr lang="en-US" sz="85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chercheurs ont demandé une vue «ressource par ressource» + un mode sombre. Les deux ont été ajoutés au backlog et livrés en Sprint 3.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2743200"/>
          </a:xfrm>
          <a:prstGeom prst="ellipse">
            <a:avLst/>
          </a:prstGeom>
          <a:solidFill>
            <a:srgbClr val="1B0A3A">
              <a:alpha val="60000"/>
            </a:srgbClr>
          </a:solidFill>
          <a:ln w="12700">
            <a:solidFill>
              <a:srgbClr val="1B0A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200400"/>
          </a:xfrm>
          <a:prstGeom prst="ellipse">
            <a:avLst/>
          </a:prstGeom>
          <a:solidFill>
            <a:srgbClr val="001A3A">
              <a:alpha val="55000"/>
            </a:srgbClr>
          </a:solidFill>
          <a:ln w="12700">
            <a:solidFill>
              <a:srgbClr val="001A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00C6FF"/>
                </a:solidFill>
                <a:latin typeface="Calibri"/>
                <a:ea typeface="Calibri"/>
                <a:cs typeface="Calibri"/>
              </a:rPr>
              <a:t>TABLEAU JIRA — SPRINT 2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7B2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4728" y="53243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Semaines 3–4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2057400" cy="347472"/>
          </a:xfrm>
          <a:prstGeom prst="rect">
            <a:avLst/>
          </a:prstGeom>
          <a:solidFill>
            <a:srgbClr val="2D3A52"/>
          </a:solidFill>
          <a:ln w="6350">
            <a:solidFill>
              <a:srgbClr val="00C6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914400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BACKLOG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1965960" y="978408"/>
            <a:ext cx="219456" cy="219456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9784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2</a:t>
            </a:r>
            <a:endParaRPr lang="en-US" sz="700"/>
          </a:p>
        </p:txBody>
      </p:sp>
      <p:sp>
        <p:nvSpPr>
          <p:cNvPr id="11" name="Shape 9"/>
          <p:cNvSpPr/>
          <p:nvPr/>
        </p:nvSpPr>
        <p:spPr>
          <a:xfrm>
            <a:off x="228600" y="1325880"/>
            <a:ext cx="2057400" cy="822960"/>
          </a:xfrm>
          <a:prstGeom prst="rect">
            <a:avLst/>
          </a:prstGeom>
          <a:solidFill>
            <a:srgbClr val="0D1B35"/>
          </a:solidFill>
          <a:ln w="9525">
            <a:solidFill>
              <a:srgbClr val="2D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1325880"/>
            <a:ext cx="45720" cy="82296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389888"/>
            <a:ext cx="548640" cy="182880"/>
          </a:xfrm>
          <a:prstGeom prst="rect">
            <a:avLst/>
          </a:prstGeom>
          <a:solidFill>
            <a:srgbClr val="7B2FFF">
              <a:alpha val="35000"/>
            </a:srgbClr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3898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Back</a:t>
            </a:r>
            <a:endParaRPr lang="en-US" sz="650"/>
          </a:p>
        </p:txBody>
      </p:sp>
      <p:sp>
        <p:nvSpPr>
          <p:cNvPr id="15" name="Shape 13"/>
          <p:cNvSpPr/>
          <p:nvPr/>
        </p:nvSpPr>
        <p:spPr>
          <a:xfrm>
            <a:off x="2011680" y="1371600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13716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3</a:t>
            </a:r>
            <a:endParaRPr lang="en-US" sz="700"/>
          </a:p>
        </p:txBody>
      </p:sp>
      <p:sp>
        <p:nvSpPr>
          <p:cNvPr id="17" name="Text 15"/>
          <p:cNvSpPr/>
          <p:nvPr/>
        </p:nvSpPr>
        <p:spPr>
          <a:xfrm>
            <a:off x="320040" y="1600200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des rapports</a:t>
            </a:r>
            <a:endParaRPr lang="en-US" sz="800"/>
          </a:p>
        </p:txBody>
      </p:sp>
      <p:sp>
        <p:nvSpPr>
          <p:cNvPr id="18" name="Shape 16"/>
          <p:cNvSpPr/>
          <p:nvPr/>
        </p:nvSpPr>
        <p:spPr>
          <a:xfrm>
            <a:off x="320040" y="1901952"/>
            <a:ext cx="182880" cy="18288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9019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FC</a:t>
            </a:r>
            <a:endParaRPr lang="en-US" sz="550"/>
          </a:p>
        </p:txBody>
      </p:sp>
      <p:sp>
        <p:nvSpPr>
          <p:cNvPr id="20" name="Shape 18"/>
          <p:cNvSpPr/>
          <p:nvPr/>
        </p:nvSpPr>
        <p:spPr>
          <a:xfrm>
            <a:off x="228600" y="2304288"/>
            <a:ext cx="2057400" cy="822960"/>
          </a:xfrm>
          <a:prstGeom prst="rect">
            <a:avLst/>
          </a:prstGeom>
          <a:solidFill>
            <a:srgbClr val="0D1B35"/>
          </a:solidFill>
          <a:ln w="9525">
            <a:solidFill>
              <a:srgbClr val="2D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304288"/>
            <a:ext cx="45720" cy="82296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368296"/>
            <a:ext cx="548640" cy="182880"/>
          </a:xfrm>
          <a:prstGeom prst="rect">
            <a:avLst/>
          </a:prstGeom>
          <a:solidFill>
            <a:srgbClr val="00C6FF">
              <a:alpha val="35000"/>
            </a:srgbClr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36829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Front</a:t>
            </a:r>
            <a:endParaRPr lang="en-US" sz="650"/>
          </a:p>
        </p:txBody>
      </p:sp>
      <p:sp>
        <p:nvSpPr>
          <p:cNvPr id="24" name="Shape 22"/>
          <p:cNvSpPr/>
          <p:nvPr/>
        </p:nvSpPr>
        <p:spPr>
          <a:xfrm>
            <a:off x="2011680" y="2350008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0" y="23500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2</a:t>
            </a:r>
            <a:endParaRPr lang="en-US" sz="700"/>
          </a:p>
        </p:txBody>
      </p:sp>
      <p:sp>
        <p:nvSpPr>
          <p:cNvPr id="26" name="Text 24"/>
          <p:cNvSpPr/>
          <p:nvPr/>
        </p:nvSpPr>
        <p:spPr>
          <a:xfrm>
            <a:off x="320040" y="2578608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avancés calendrier</a:t>
            </a:r>
            <a:endParaRPr lang="en-US" sz="800"/>
          </a:p>
        </p:txBody>
      </p:sp>
      <p:sp>
        <p:nvSpPr>
          <p:cNvPr id="27" name="Shape 25"/>
          <p:cNvSpPr/>
          <p:nvPr/>
        </p:nvSpPr>
        <p:spPr>
          <a:xfrm>
            <a:off x="320040" y="2880360"/>
            <a:ext cx="182880" cy="18288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8803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RT</a:t>
            </a:r>
            <a:endParaRPr lang="en-US" sz="550"/>
          </a:p>
        </p:txBody>
      </p:sp>
      <p:sp>
        <p:nvSpPr>
          <p:cNvPr id="29" name="Shape 27"/>
          <p:cNvSpPr/>
          <p:nvPr/>
        </p:nvSpPr>
        <p:spPr>
          <a:xfrm>
            <a:off x="2423160" y="914400"/>
            <a:ext cx="2057400" cy="347472"/>
          </a:xfrm>
          <a:prstGeom prst="rect">
            <a:avLst/>
          </a:prstGeom>
          <a:solidFill>
            <a:srgbClr val="1B3A5C"/>
          </a:solidFill>
          <a:ln w="6350">
            <a:solidFill>
              <a:srgbClr val="00C6FF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96312" y="914400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EN COURS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4160520" y="978408"/>
            <a:ext cx="219456" cy="219456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60520" y="9784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3</a:t>
            </a:r>
            <a:endParaRPr lang="en-US" sz="700"/>
          </a:p>
        </p:txBody>
      </p:sp>
      <p:sp>
        <p:nvSpPr>
          <p:cNvPr id="33" name="Shape 31"/>
          <p:cNvSpPr/>
          <p:nvPr/>
        </p:nvSpPr>
        <p:spPr>
          <a:xfrm>
            <a:off x="2423160" y="1325880"/>
            <a:ext cx="2057400" cy="896112"/>
          </a:xfrm>
          <a:prstGeom prst="rect">
            <a:avLst/>
          </a:prstGeom>
          <a:solidFill>
            <a:srgbClr val="0D1B35"/>
          </a:solidFill>
          <a:ln w="9525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423160" y="1325880"/>
            <a:ext cx="45720" cy="89611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14600" y="1389888"/>
            <a:ext cx="548640" cy="182880"/>
          </a:xfrm>
          <a:prstGeom prst="rect">
            <a:avLst/>
          </a:prstGeom>
          <a:solidFill>
            <a:srgbClr val="FFB703">
              <a:alpha val="35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14600" y="13898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Full</a:t>
            </a:r>
            <a:endParaRPr lang="en-US" sz="650"/>
          </a:p>
        </p:txBody>
      </p:sp>
      <p:sp>
        <p:nvSpPr>
          <p:cNvPr id="37" name="Shape 35"/>
          <p:cNvSpPr/>
          <p:nvPr/>
        </p:nvSpPr>
        <p:spPr>
          <a:xfrm>
            <a:off x="4206240" y="1371600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0" y="13716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8</a:t>
            </a:r>
            <a:endParaRPr lang="en-US" sz="700"/>
          </a:p>
        </p:txBody>
      </p:sp>
      <p:sp>
        <p:nvSpPr>
          <p:cNvPr id="39" name="Text 37"/>
          <p:cNvSpPr/>
          <p:nvPr/>
        </p:nvSpPr>
        <p:spPr>
          <a:xfrm>
            <a:off x="2514600" y="1600200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admin CRUD ressources</a:t>
            </a:r>
            <a:endParaRPr lang="en-US" sz="800"/>
          </a:p>
        </p:txBody>
      </p:sp>
      <p:sp>
        <p:nvSpPr>
          <p:cNvPr id="40" name="Shape 38"/>
          <p:cNvSpPr/>
          <p:nvPr/>
        </p:nvSpPr>
        <p:spPr>
          <a:xfrm>
            <a:off x="2514600" y="2020824"/>
            <a:ext cx="1874520" cy="640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14600" y="2020824"/>
            <a:ext cx="1312164" cy="6400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96512" y="194767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>
                <a:solidFill>
                  <a:srgbClr val="FFB703"/>
                </a:solidFill>
              </a:rPr>
              <a:t>70%</a:t>
            </a:r>
            <a:endParaRPr lang="en-US" sz="650"/>
          </a:p>
        </p:txBody>
      </p:sp>
      <p:sp>
        <p:nvSpPr>
          <p:cNvPr id="43" name="Shape 41"/>
          <p:cNvSpPr/>
          <p:nvPr/>
        </p:nvSpPr>
        <p:spPr>
          <a:xfrm>
            <a:off x="2514600" y="1947672"/>
            <a:ext cx="182880" cy="18288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14600" y="19476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RT</a:t>
            </a:r>
            <a:endParaRPr lang="en-US" sz="550"/>
          </a:p>
        </p:txBody>
      </p:sp>
      <p:sp>
        <p:nvSpPr>
          <p:cNvPr id="45" name="Shape 43"/>
          <p:cNvSpPr/>
          <p:nvPr/>
        </p:nvSpPr>
        <p:spPr>
          <a:xfrm>
            <a:off x="2423160" y="2304288"/>
            <a:ext cx="2057400" cy="896112"/>
          </a:xfrm>
          <a:prstGeom prst="rect">
            <a:avLst/>
          </a:prstGeom>
          <a:solidFill>
            <a:srgbClr val="0D1B35"/>
          </a:solidFill>
          <a:ln w="9525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423160" y="2304288"/>
            <a:ext cx="45720" cy="896112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14600" y="2368296"/>
            <a:ext cx="548640" cy="182880"/>
          </a:xfrm>
          <a:prstGeom prst="rect">
            <a:avLst/>
          </a:prstGeom>
          <a:solidFill>
            <a:srgbClr val="00C6FF">
              <a:alpha val="35000"/>
            </a:srgbClr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14600" y="236829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Front</a:t>
            </a:r>
            <a:endParaRPr lang="en-US" sz="650"/>
          </a:p>
        </p:txBody>
      </p:sp>
      <p:sp>
        <p:nvSpPr>
          <p:cNvPr id="49" name="Shape 47"/>
          <p:cNvSpPr/>
          <p:nvPr/>
        </p:nvSpPr>
        <p:spPr>
          <a:xfrm>
            <a:off x="4206240" y="2350008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06240" y="23500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3</a:t>
            </a:r>
            <a:endParaRPr lang="en-US" sz="700"/>
          </a:p>
        </p:txBody>
      </p:sp>
      <p:sp>
        <p:nvSpPr>
          <p:cNvPr id="51" name="Text 49"/>
          <p:cNvSpPr/>
          <p:nvPr/>
        </p:nvSpPr>
        <p:spPr>
          <a:xfrm>
            <a:off x="2514600" y="2578608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push in-app</a:t>
            </a:r>
            <a:endParaRPr lang="en-US" sz="800"/>
          </a:p>
        </p:txBody>
      </p:sp>
      <p:sp>
        <p:nvSpPr>
          <p:cNvPr id="52" name="Shape 50"/>
          <p:cNvSpPr/>
          <p:nvPr/>
        </p:nvSpPr>
        <p:spPr>
          <a:xfrm>
            <a:off x="2514600" y="2999232"/>
            <a:ext cx="1874520" cy="640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14600" y="2999232"/>
            <a:ext cx="1030986" cy="6400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96512" y="292608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>
                <a:solidFill>
                  <a:srgbClr val="00C6FF"/>
                </a:solidFill>
              </a:rPr>
              <a:t>55%</a:t>
            </a:r>
            <a:endParaRPr lang="en-US" sz="650"/>
          </a:p>
        </p:txBody>
      </p:sp>
      <p:sp>
        <p:nvSpPr>
          <p:cNvPr id="55" name="Shape 53"/>
          <p:cNvSpPr/>
          <p:nvPr/>
        </p:nvSpPr>
        <p:spPr>
          <a:xfrm>
            <a:off x="2514600" y="2926080"/>
            <a:ext cx="182880" cy="18288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14600" y="2926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SO</a:t>
            </a:r>
            <a:endParaRPr lang="en-US" sz="550"/>
          </a:p>
        </p:txBody>
      </p:sp>
      <p:sp>
        <p:nvSpPr>
          <p:cNvPr id="57" name="Shape 55"/>
          <p:cNvSpPr/>
          <p:nvPr/>
        </p:nvSpPr>
        <p:spPr>
          <a:xfrm>
            <a:off x="2423160" y="3282696"/>
            <a:ext cx="2057400" cy="896112"/>
          </a:xfrm>
          <a:prstGeom prst="rect">
            <a:avLst/>
          </a:prstGeom>
          <a:solidFill>
            <a:srgbClr val="0D1B35"/>
          </a:solidFill>
          <a:ln w="9525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2423160" y="3282696"/>
            <a:ext cx="45720" cy="896112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514600" y="3346704"/>
            <a:ext cx="548640" cy="182880"/>
          </a:xfrm>
          <a:prstGeom prst="rect">
            <a:avLst/>
          </a:prstGeom>
          <a:solidFill>
            <a:srgbClr val="7B2FFF">
              <a:alpha val="35000"/>
            </a:srgbClr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14600" y="33467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Back</a:t>
            </a:r>
            <a:endParaRPr lang="en-US" sz="650"/>
          </a:p>
        </p:txBody>
      </p:sp>
      <p:sp>
        <p:nvSpPr>
          <p:cNvPr id="61" name="Shape 59"/>
          <p:cNvSpPr/>
          <p:nvPr/>
        </p:nvSpPr>
        <p:spPr>
          <a:xfrm>
            <a:off x="4206240" y="3328416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206240" y="33284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3</a:t>
            </a:r>
            <a:endParaRPr lang="en-US" sz="700"/>
          </a:p>
        </p:txBody>
      </p:sp>
      <p:sp>
        <p:nvSpPr>
          <p:cNvPr id="63" name="Text 61"/>
          <p:cNvSpPr/>
          <p:nvPr/>
        </p:nvSpPr>
        <p:spPr>
          <a:xfrm>
            <a:off x="2514600" y="3557016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Annulation avec motif</a:t>
            </a:r>
            <a:endParaRPr lang="en-US" sz="800"/>
          </a:p>
        </p:txBody>
      </p:sp>
      <p:sp>
        <p:nvSpPr>
          <p:cNvPr id="64" name="Shape 62"/>
          <p:cNvSpPr/>
          <p:nvPr/>
        </p:nvSpPr>
        <p:spPr>
          <a:xfrm>
            <a:off x="2514600" y="3977640"/>
            <a:ext cx="1874520" cy="640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514600" y="3977640"/>
            <a:ext cx="1593342" cy="640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096512" y="390448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>
                <a:solidFill>
                  <a:srgbClr val="7B2FFF"/>
                </a:solidFill>
              </a:rPr>
              <a:t>85%</a:t>
            </a:r>
            <a:endParaRPr lang="en-US" sz="650"/>
          </a:p>
        </p:txBody>
      </p:sp>
      <p:sp>
        <p:nvSpPr>
          <p:cNvPr id="67" name="Shape 65"/>
          <p:cNvSpPr/>
          <p:nvPr/>
        </p:nvSpPr>
        <p:spPr>
          <a:xfrm>
            <a:off x="2514600" y="3904488"/>
            <a:ext cx="182880" cy="18288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514600" y="39044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FC</a:t>
            </a:r>
            <a:endParaRPr lang="en-US" sz="550"/>
          </a:p>
        </p:txBody>
      </p:sp>
      <p:sp>
        <p:nvSpPr>
          <p:cNvPr id="69" name="Shape 67"/>
          <p:cNvSpPr/>
          <p:nvPr/>
        </p:nvSpPr>
        <p:spPr>
          <a:xfrm>
            <a:off x="4617720" y="914400"/>
            <a:ext cx="2057400" cy="347472"/>
          </a:xfrm>
          <a:prstGeom prst="rect">
            <a:avLst/>
          </a:prstGeom>
          <a:solidFill>
            <a:srgbClr val="1A3040"/>
          </a:solidFill>
          <a:ln w="6350">
            <a:solidFill>
              <a:srgbClr val="00C6FF">
                <a:alpha val="4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90872" y="914400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 EN REVIEW</a:t>
            </a:r>
            <a:endParaRPr lang="en-US" sz="950"/>
          </a:p>
        </p:txBody>
      </p:sp>
      <p:sp>
        <p:nvSpPr>
          <p:cNvPr id="71" name="Shape 69"/>
          <p:cNvSpPr/>
          <p:nvPr/>
        </p:nvSpPr>
        <p:spPr>
          <a:xfrm>
            <a:off x="6355080" y="978408"/>
            <a:ext cx="219456" cy="219456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55080" y="9784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2</a:t>
            </a:r>
            <a:endParaRPr lang="en-US" sz="700"/>
          </a:p>
        </p:txBody>
      </p:sp>
      <p:sp>
        <p:nvSpPr>
          <p:cNvPr id="73" name="Shape 71"/>
          <p:cNvSpPr/>
          <p:nvPr/>
        </p:nvSpPr>
        <p:spPr>
          <a:xfrm>
            <a:off x="4617720" y="1325880"/>
            <a:ext cx="2057400" cy="822960"/>
          </a:xfrm>
          <a:prstGeom prst="rect">
            <a:avLst/>
          </a:prstGeom>
          <a:solidFill>
            <a:srgbClr val="0D1B35"/>
          </a:solidFill>
          <a:ln w="9525">
            <a:solidFill>
              <a:srgbClr val="1A3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4617720" y="1325880"/>
            <a:ext cx="45720" cy="822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709160" y="1389888"/>
            <a:ext cx="548640" cy="182880"/>
          </a:xfrm>
          <a:prstGeom prst="rect">
            <a:avLst/>
          </a:prstGeom>
          <a:solidFill>
            <a:srgbClr val="FFB703">
              <a:alpha val="35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09160" y="13898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Full</a:t>
            </a:r>
            <a:endParaRPr lang="en-US" sz="650"/>
          </a:p>
        </p:txBody>
      </p:sp>
      <p:sp>
        <p:nvSpPr>
          <p:cNvPr id="77" name="Shape 75"/>
          <p:cNvSpPr/>
          <p:nvPr/>
        </p:nvSpPr>
        <p:spPr>
          <a:xfrm>
            <a:off x="6400800" y="1371600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00800" y="13716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5</a:t>
            </a:r>
            <a:endParaRPr lang="en-US" sz="700"/>
          </a:p>
        </p:txBody>
      </p:sp>
      <p:sp>
        <p:nvSpPr>
          <p:cNvPr id="79" name="Text 77"/>
          <p:cNvSpPr/>
          <p:nvPr/>
        </p:nvSpPr>
        <p:spPr>
          <a:xfrm>
            <a:off x="4709160" y="1600200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de réservation</a:t>
            </a:r>
            <a:endParaRPr lang="en-US" sz="800"/>
          </a:p>
        </p:txBody>
      </p:sp>
      <p:sp>
        <p:nvSpPr>
          <p:cNvPr id="80" name="Shape 78"/>
          <p:cNvSpPr/>
          <p:nvPr/>
        </p:nvSpPr>
        <p:spPr>
          <a:xfrm>
            <a:off x="4709160" y="1901952"/>
            <a:ext cx="182880" cy="18288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19019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RT</a:t>
            </a:r>
            <a:endParaRPr lang="en-US" sz="550"/>
          </a:p>
        </p:txBody>
      </p:sp>
      <p:sp>
        <p:nvSpPr>
          <p:cNvPr id="82" name="Shape 80"/>
          <p:cNvSpPr/>
          <p:nvPr/>
        </p:nvSpPr>
        <p:spPr>
          <a:xfrm>
            <a:off x="4617720" y="2304288"/>
            <a:ext cx="2057400" cy="822960"/>
          </a:xfrm>
          <a:prstGeom prst="rect">
            <a:avLst/>
          </a:prstGeom>
          <a:solidFill>
            <a:srgbClr val="0D1B35"/>
          </a:solidFill>
          <a:ln w="9525">
            <a:solidFill>
              <a:srgbClr val="1A3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4617720" y="2304288"/>
            <a:ext cx="45720" cy="82296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709160" y="2368296"/>
            <a:ext cx="548640" cy="182880"/>
          </a:xfrm>
          <a:prstGeom prst="rect">
            <a:avLst/>
          </a:prstGeom>
          <a:solidFill>
            <a:srgbClr val="7B2FFF">
              <a:alpha val="35000"/>
            </a:srgbClr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709160" y="236829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Back</a:t>
            </a:r>
            <a:endParaRPr lang="en-US" sz="650"/>
          </a:p>
        </p:txBody>
      </p:sp>
      <p:sp>
        <p:nvSpPr>
          <p:cNvPr id="86" name="Shape 84"/>
          <p:cNvSpPr/>
          <p:nvPr/>
        </p:nvSpPr>
        <p:spPr>
          <a:xfrm>
            <a:off x="6400800" y="2350008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400800" y="23500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5</a:t>
            </a:r>
            <a:endParaRPr lang="en-US" sz="700"/>
          </a:p>
        </p:txBody>
      </p:sp>
      <p:sp>
        <p:nvSpPr>
          <p:cNvPr id="88" name="Text 86"/>
          <p:cNvSpPr/>
          <p:nvPr/>
        </p:nvSpPr>
        <p:spPr>
          <a:xfrm>
            <a:off x="4709160" y="2578608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rôles &amp; permissions</a:t>
            </a:r>
            <a:endParaRPr lang="en-US" sz="800"/>
          </a:p>
        </p:txBody>
      </p:sp>
      <p:sp>
        <p:nvSpPr>
          <p:cNvPr id="89" name="Shape 87"/>
          <p:cNvSpPr/>
          <p:nvPr/>
        </p:nvSpPr>
        <p:spPr>
          <a:xfrm>
            <a:off x="4709160" y="2880360"/>
            <a:ext cx="182880" cy="18288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709160" y="28803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FC</a:t>
            </a:r>
            <a:endParaRPr lang="en-US" sz="550"/>
          </a:p>
        </p:txBody>
      </p:sp>
      <p:sp>
        <p:nvSpPr>
          <p:cNvPr id="91" name="Shape 89"/>
          <p:cNvSpPr/>
          <p:nvPr/>
        </p:nvSpPr>
        <p:spPr>
          <a:xfrm>
            <a:off x="6812280" y="914400"/>
            <a:ext cx="2057400" cy="347472"/>
          </a:xfrm>
          <a:prstGeom prst="rect">
            <a:avLst/>
          </a:prstGeom>
          <a:solidFill>
            <a:srgbClr val="0A2A1A"/>
          </a:solidFill>
          <a:ln w="6350">
            <a:solidFill>
              <a:srgbClr val="00C6FF">
                <a:alpha val="4000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885432" y="914400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TERMINÉ</a:t>
            </a:r>
            <a:endParaRPr lang="en-US" sz="950"/>
          </a:p>
        </p:txBody>
      </p:sp>
      <p:sp>
        <p:nvSpPr>
          <p:cNvPr id="93" name="Shape 91"/>
          <p:cNvSpPr/>
          <p:nvPr/>
        </p:nvSpPr>
        <p:spPr>
          <a:xfrm>
            <a:off x="8549640" y="978408"/>
            <a:ext cx="219456" cy="219456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549640" y="9784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4</a:t>
            </a:r>
            <a:endParaRPr lang="en-US" sz="700"/>
          </a:p>
        </p:txBody>
      </p:sp>
      <p:sp>
        <p:nvSpPr>
          <p:cNvPr id="95" name="Shape 93"/>
          <p:cNvSpPr/>
          <p:nvPr/>
        </p:nvSpPr>
        <p:spPr>
          <a:xfrm>
            <a:off x="6812280" y="1325880"/>
            <a:ext cx="2057400" cy="822960"/>
          </a:xfrm>
          <a:prstGeom prst="rect">
            <a:avLst/>
          </a:prstGeom>
          <a:solidFill>
            <a:srgbClr val="0D1B35"/>
          </a:solidFill>
          <a:ln w="9525">
            <a:solidFill>
              <a:srgbClr val="0A2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6812280" y="1325880"/>
            <a:ext cx="45720" cy="822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903720" y="1389888"/>
            <a:ext cx="548640" cy="182880"/>
          </a:xfrm>
          <a:prstGeom prst="rect">
            <a:avLst/>
          </a:prstGeom>
          <a:solidFill>
            <a:srgbClr val="FFB703">
              <a:alpha val="35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903720" y="13898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DevOps</a:t>
            </a:r>
            <a:endParaRPr lang="en-US" sz="650"/>
          </a:p>
        </p:txBody>
      </p:sp>
      <p:sp>
        <p:nvSpPr>
          <p:cNvPr id="99" name="Shape 97"/>
          <p:cNvSpPr/>
          <p:nvPr/>
        </p:nvSpPr>
        <p:spPr>
          <a:xfrm>
            <a:off x="8595360" y="1371600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595360" y="13716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1</a:t>
            </a:r>
            <a:endParaRPr lang="en-US" sz="700"/>
          </a:p>
        </p:txBody>
      </p:sp>
      <p:sp>
        <p:nvSpPr>
          <p:cNvPr id="101" name="Text 99"/>
          <p:cNvSpPr/>
          <p:nvPr/>
        </p:nvSpPr>
        <p:spPr>
          <a:xfrm>
            <a:off x="6903720" y="1600200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PR obligatoire</a:t>
            </a:r>
            <a:endParaRPr lang="en-US" sz="800"/>
          </a:p>
        </p:txBody>
      </p:sp>
      <p:sp>
        <p:nvSpPr>
          <p:cNvPr id="102" name="Shape 100"/>
          <p:cNvSpPr/>
          <p:nvPr/>
        </p:nvSpPr>
        <p:spPr>
          <a:xfrm>
            <a:off x="6903720" y="1901952"/>
            <a:ext cx="182880" cy="18288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903720" y="19019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FC</a:t>
            </a:r>
            <a:endParaRPr lang="en-US" sz="550"/>
          </a:p>
        </p:txBody>
      </p:sp>
      <p:sp>
        <p:nvSpPr>
          <p:cNvPr id="104" name="Shape 102"/>
          <p:cNvSpPr/>
          <p:nvPr/>
        </p:nvSpPr>
        <p:spPr>
          <a:xfrm>
            <a:off x="6812280" y="2304288"/>
            <a:ext cx="2057400" cy="822960"/>
          </a:xfrm>
          <a:prstGeom prst="rect">
            <a:avLst/>
          </a:prstGeom>
          <a:solidFill>
            <a:srgbClr val="0D1B35"/>
          </a:solidFill>
          <a:ln w="9525">
            <a:solidFill>
              <a:srgbClr val="0A2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6812280" y="2304288"/>
            <a:ext cx="45720" cy="82296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903720" y="2368296"/>
            <a:ext cx="548640" cy="182880"/>
          </a:xfrm>
          <a:prstGeom prst="rect">
            <a:avLst/>
          </a:prstGeom>
          <a:solidFill>
            <a:srgbClr val="FF6B9D">
              <a:alpha val="35000"/>
            </a:srgbClr>
          </a:solidFill>
          <a:ln w="12700">
            <a:solidFill>
              <a:srgbClr val="FF6B9D">
                <a:alpha val="0"/>
              </a:srgbClr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903720" y="236829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Design</a:t>
            </a:r>
            <a:endParaRPr lang="en-US" sz="650"/>
          </a:p>
        </p:txBody>
      </p:sp>
      <p:sp>
        <p:nvSpPr>
          <p:cNvPr id="108" name="Shape 106"/>
          <p:cNvSpPr/>
          <p:nvPr/>
        </p:nvSpPr>
        <p:spPr>
          <a:xfrm>
            <a:off x="8595360" y="2350008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595360" y="23500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3</a:t>
            </a:r>
            <a:endParaRPr lang="en-US" sz="700"/>
          </a:p>
        </p:txBody>
      </p:sp>
      <p:sp>
        <p:nvSpPr>
          <p:cNvPr id="110" name="Text 108"/>
          <p:cNvSpPr/>
          <p:nvPr/>
        </p:nvSpPr>
        <p:spPr>
          <a:xfrm>
            <a:off x="6903720" y="2578608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sombre UI</a:t>
            </a:r>
            <a:endParaRPr lang="en-US" sz="800"/>
          </a:p>
        </p:txBody>
      </p:sp>
      <p:sp>
        <p:nvSpPr>
          <p:cNvPr id="111" name="Shape 109"/>
          <p:cNvSpPr/>
          <p:nvPr/>
        </p:nvSpPr>
        <p:spPr>
          <a:xfrm>
            <a:off x="6903720" y="2880360"/>
            <a:ext cx="182880" cy="18288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>
                <a:alpha val="0"/>
              </a:srgbClr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903720" y="28803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SO</a:t>
            </a:r>
            <a:endParaRPr lang="en-US" sz="550"/>
          </a:p>
        </p:txBody>
      </p:sp>
      <p:sp>
        <p:nvSpPr>
          <p:cNvPr id="113" name="Shape 111"/>
          <p:cNvSpPr/>
          <p:nvPr/>
        </p:nvSpPr>
        <p:spPr>
          <a:xfrm>
            <a:off x="6812280" y="3282696"/>
            <a:ext cx="2057400" cy="822960"/>
          </a:xfrm>
          <a:prstGeom prst="rect">
            <a:avLst/>
          </a:prstGeom>
          <a:solidFill>
            <a:srgbClr val="0D1B35"/>
          </a:solidFill>
          <a:ln w="9525">
            <a:solidFill>
              <a:srgbClr val="0A2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4" name="Shape 112"/>
          <p:cNvSpPr/>
          <p:nvPr/>
        </p:nvSpPr>
        <p:spPr>
          <a:xfrm>
            <a:off x="6812280" y="3282696"/>
            <a:ext cx="45720" cy="82296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903720" y="3346704"/>
            <a:ext cx="548640" cy="182880"/>
          </a:xfrm>
          <a:prstGeom prst="rect">
            <a:avLst/>
          </a:prstGeom>
          <a:solidFill>
            <a:srgbClr val="00C6FF">
              <a:alpha val="35000"/>
            </a:srgbClr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903720" y="33467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Front</a:t>
            </a:r>
            <a:endParaRPr lang="en-US" sz="650"/>
          </a:p>
        </p:txBody>
      </p:sp>
      <p:sp>
        <p:nvSpPr>
          <p:cNvPr id="117" name="Shape 115"/>
          <p:cNvSpPr/>
          <p:nvPr/>
        </p:nvSpPr>
        <p:spPr>
          <a:xfrm>
            <a:off x="8595360" y="3328416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595360" y="33284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3</a:t>
            </a:r>
            <a:endParaRPr lang="en-US" sz="700"/>
          </a:p>
        </p:txBody>
      </p:sp>
      <p:sp>
        <p:nvSpPr>
          <p:cNvPr id="119" name="Text 117"/>
          <p:cNvSpPr/>
          <p:nvPr/>
        </p:nvSpPr>
        <p:spPr>
          <a:xfrm>
            <a:off x="6903720" y="3557016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ressource individuelle</a:t>
            </a:r>
            <a:endParaRPr lang="en-US" sz="800"/>
          </a:p>
        </p:txBody>
      </p:sp>
      <p:sp>
        <p:nvSpPr>
          <p:cNvPr id="120" name="Shape 118"/>
          <p:cNvSpPr/>
          <p:nvPr/>
        </p:nvSpPr>
        <p:spPr>
          <a:xfrm>
            <a:off x="6903720" y="3858768"/>
            <a:ext cx="182880" cy="18288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>
                <a:alpha val="0"/>
              </a:srgbClr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903720" y="38587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SO</a:t>
            </a:r>
            <a:endParaRPr lang="en-US" sz="550"/>
          </a:p>
        </p:txBody>
      </p:sp>
      <p:sp>
        <p:nvSpPr>
          <p:cNvPr id="122" name="Shape 120"/>
          <p:cNvSpPr/>
          <p:nvPr/>
        </p:nvSpPr>
        <p:spPr>
          <a:xfrm>
            <a:off x="6812280" y="4261104"/>
            <a:ext cx="2057400" cy="822960"/>
          </a:xfrm>
          <a:prstGeom prst="rect">
            <a:avLst/>
          </a:prstGeom>
          <a:solidFill>
            <a:srgbClr val="0D1B35"/>
          </a:solidFill>
          <a:ln w="9525">
            <a:solidFill>
              <a:srgbClr val="0A2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3" name="Shape 121"/>
          <p:cNvSpPr/>
          <p:nvPr/>
        </p:nvSpPr>
        <p:spPr>
          <a:xfrm>
            <a:off x="6812280" y="4261104"/>
            <a:ext cx="45720" cy="82296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903720" y="4325112"/>
            <a:ext cx="548640" cy="182880"/>
          </a:xfrm>
          <a:prstGeom prst="rect">
            <a:avLst/>
          </a:prstGeom>
          <a:solidFill>
            <a:srgbClr val="7B2FFF">
              <a:alpha val="35000"/>
            </a:srgbClr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903720" y="43251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Back</a:t>
            </a:r>
            <a:endParaRPr lang="en-US" sz="650"/>
          </a:p>
        </p:txBody>
      </p:sp>
      <p:sp>
        <p:nvSpPr>
          <p:cNvPr id="126" name="Shape 124"/>
          <p:cNvSpPr/>
          <p:nvPr/>
        </p:nvSpPr>
        <p:spPr>
          <a:xfrm>
            <a:off x="8595360" y="4306824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595360" y="43068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2</a:t>
            </a:r>
            <a:endParaRPr lang="en-US" sz="700"/>
          </a:p>
        </p:txBody>
      </p:sp>
      <p:sp>
        <p:nvSpPr>
          <p:cNvPr id="128" name="Text 126"/>
          <p:cNvSpPr/>
          <p:nvPr/>
        </p:nvSpPr>
        <p:spPr>
          <a:xfrm>
            <a:off x="6903720" y="4535424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 API (80%+)</a:t>
            </a:r>
            <a:endParaRPr lang="en-US" sz="800"/>
          </a:p>
        </p:txBody>
      </p:sp>
      <p:sp>
        <p:nvSpPr>
          <p:cNvPr id="129" name="Shape 127"/>
          <p:cNvSpPr/>
          <p:nvPr/>
        </p:nvSpPr>
        <p:spPr>
          <a:xfrm>
            <a:off x="6903720" y="4837176"/>
            <a:ext cx="182880" cy="18288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903720" y="4837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FC</a:t>
            </a:r>
            <a:endParaRPr lang="en-US" sz="550"/>
          </a:p>
        </p:txBody>
      </p:sp>
      <p:sp>
        <p:nvSpPr>
          <p:cNvPr id="131" name="Text 129"/>
          <p:cNvSpPr/>
          <p:nvPr/>
        </p:nvSpPr>
        <p:spPr>
          <a:xfrm>
            <a:off x="-515428" y="4818888"/>
            <a:ext cx="86868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B703"/>
                </a:solidFill>
                <a:latin typeface="Calibri"/>
                <a:ea typeface="Calibri"/>
                <a:cs typeface="Calibri"/>
              </a:rPr>
              <a:t>👤 RT = Ramsses </a:t>
            </a:r>
            <a:r>
              <a:rPr lang="en-US" sz="800" b="1" err="1">
                <a:solidFill>
                  <a:srgbClr val="FFB703"/>
                </a:solidFill>
                <a:latin typeface="Calibri"/>
                <a:ea typeface="Calibri"/>
                <a:cs typeface="Calibri"/>
              </a:rPr>
              <a:t>Tining</a:t>
            </a:r>
            <a:r>
              <a:rPr lang="en-US" sz="800" b="1">
                <a:solidFill>
                  <a:srgbClr val="FFB703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800" b="1">
                <a:solidFill>
                  <a:srgbClr val="00C6FF"/>
                </a:solidFill>
                <a:latin typeface="Calibri"/>
                <a:ea typeface="Calibri"/>
                <a:cs typeface="Calibri"/>
              </a:rPr>
              <a:t>  FC = Fouad </a:t>
            </a:r>
            <a:r>
              <a:rPr lang="en-US" sz="800" b="1" err="1">
                <a:solidFill>
                  <a:srgbClr val="00C6FF"/>
                </a:solidFill>
                <a:latin typeface="Calibri"/>
                <a:ea typeface="Calibri"/>
                <a:cs typeface="Calibri"/>
              </a:rPr>
              <a:t>Chitou</a:t>
            </a:r>
            <a:r>
              <a:rPr lang="en-US" sz="800" b="1">
                <a:solidFill>
                  <a:srgbClr val="00C6FF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800" b="1">
                <a:solidFill>
                  <a:srgbClr val="FF6B9D"/>
                </a:solidFill>
                <a:latin typeface="Calibri"/>
                <a:ea typeface="Calibri"/>
                <a:cs typeface="Calibri"/>
              </a:rPr>
              <a:t>  SO = SOW </a:t>
            </a:r>
            <a:r>
              <a:rPr lang="en-US" sz="800" b="1" err="1">
                <a:solidFill>
                  <a:srgbClr val="FF6B9D"/>
                </a:solidFill>
                <a:latin typeface="Calibri"/>
                <a:ea typeface="Calibri"/>
                <a:cs typeface="Calibri"/>
              </a:rPr>
              <a:t>Omou</a:t>
            </a:r>
            <a:r>
              <a:rPr lang="en-US" sz="800" b="1">
                <a:solidFill>
                  <a:srgbClr val="FF6B9D"/>
                </a:solidFill>
                <a:latin typeface="Calibri"/>
                <a:ea typeface="Calibri"/>
                <a:cs typeface="Calibri"/>
              </a:rPr>
              <a:t> </a:t>
            </a:r>
            <a:endParaRPr lang="en-US" sz="800">
              <a:solidFill>
                <a:srgbClr val="8899AA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2743200"/>
          </a:xfrm>
          <a:prstGeom prst="ellipse">
            <a:avLst/>
          </a:prstGeom>
          <a:solidFill>
            <a:srgbClr val="1B0A3A">
              <a:alpha val="60000"/>
            </a:srgbClr>
          </a:solidFill>
          <a:ln w="12700">
            <a:solidFill>
              <a:srgbClr val="1B0A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200400"/>
          </a:xfrm>
          <a:prstGeom prst="ellipse">
            <a:avLst/>
          </a:prstGeom>
          <a:solidFill>
            <a:srgbClr val="001A3A">
              <a:alpha val="55000"/>
            </a:srgbClr>
          </a:solidFill>
          <a:ln w="12700">
            <a:solidFill>
              <a:srgbClr val="001A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00C6FF"/>
                </a:solidFill>
                <a:latin typeface="Calibri"/>
                <a:ea typeface="Calibri"/>
                <a:cs typeface="Calibri"/>
              </a:rPr>
              <a:t> TABLEAU JIRA — SPRINT 3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7B2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4728" y="564902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i="1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Semaines</a:t>
            </a:r>
            <a:r>
              <a:rPr lang="en-US" sz="1100" i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5–6  ·  SPRINT FINAL 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2057400" cy="347472"/>
          </a:xfrm>
          <a:prstGeom prst="rect">
            <a:avLst/>
          </a:prstGeom>
          <a:solidFill>
            <a:srgbClr val="2D3A52"/>
          </a:solidFill>
          <a:ln w="6350">
            <a:solidFill>
              <a:srgbClr val="00C6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914400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BACKLOG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1965960" y="978408"/>
            <a:ext cx="219456" cy="219456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9784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2</a:t>
            </a:r>
            <a:endParaRPr lang="en-US" sz="700"/>
          </a:p>
        </p:txBody>
      </p:sp>
      <p:sp>
        <p:nvSpPr>
          <p:cNvPr id="11" name="Shape 9"/>
          <p:cNvSpPr/>
          <p:nvPr/>
        </p:nvSpPr>
        <p:spPr>
          <a:xfrm>
            <a:off x="228600" y="1325880"/>
            <a:ext cx="2057400" cy="822960"/>
          </a:xfrm>
          <a:prstGeom prst="rect">
            <a:avLst/>
          </a:prstGeom>
          <a:solidFill>
            <a:srgbClr val="0D1B35"/>
          </a:solidFill>
          <a:ln w="9525">
            <a:solidFill>
              <a:srgbClr val="2D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1325880"/>
            <a:ext cx="45720" cy="82296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389888"/>
            <a:ext cx="548640" cy="182880"/>
          </a:xfrm>
          <a:prstGeom prst="rect">
            <a:avLst/>
          </a:prstGeom>
          <a:solidFill>
            <a:srgbClr val="7B2FFF">
              <a:alpha val="35000"/>
            </a:srgbClr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3898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Back</a:t>
            </a:r>
            <a:endParaRPr lang="en-US" sz="650"/>
          </a:p>
        </p:txBody>
      </p:sp>
      <p:sp>
        <p:nvSpPr>
          <p:cNvPr id="15" name="Shape 13"/>
          <p:cNvSpPr/>
          <p:nvPr/>
        </p:nvSpPr>
        <p:spPr>
          <a:xfrm>
            <a:off x="2011680" y="1371600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13716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13</a:t>
            </a:r>
            <a:endParaRPr lang="en-US" sz="700"/>
          </a:p>
        </p:txBody>
      </p:sp>
      <p:sp>
        <p:nvSpPr>
          <p:cNvPr id="17" name="Text 15"/>
          <p:cNvSpPr/>
          <p:nvPr/>
        </p:nvSpPr>
        <p:spPr>
          <a:xfrm>
            <a:off x="320040" y="1600200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auth fédérée agences</a:t>
            </a:r>
            <a:endParaRPr lang="en-US" sz="800"/>
          </a:p>
        </p:txBody>
      </p:sp>
      <p:sp>
        <p:nvSpPr>
          <p:cNvPr id="18" name="Shape 16"/>
          <p:cNvSpPr/>
          <p:nvPr/>
        </p:nvSpPr>
        <p:spPr>
          <a:xfrm>
            <a:off x="320040" y="1901952"/>
            <a:ext cx="182880" cy="18288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9019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FC</a:t>
            </a:r>
            <a:endParaRPr lang="en-US" sz="550"/>
          </a:p>
        </p:txBody>
      </p:sp>
      <p:sp>
        <p:nvSpPr>
          <p:cNvPr id="20" name="Shape 18"/>
          <p:cNvSpPr/>
          <p:nvPr/>
        </p:nvSpPr>
        <p:spPr>
          <a:xfrm>
            <a:off x="228600" y="2304288"/>
            <a:ext cx="2057400" cy="822960"/>
          </a:xfrm>
          <a:prstGeom prst="rect">
            <a:avLst/>
          </a:prstGeom>
          <a:solidFill>
            <a:srgbClr val="0D1B35"/>
          </a:solidFill>
          <a:ln w="9525">
            <a:solidFill>
              <a:srgbClr val="2D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304288"/>
            <a:ext cx="45720" cy="82296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368296"/>
            <a:ext cx="548640" cy="182880"/>
          </a:xfrm>
          <a:prstGeom prst="rect">
            <a:avLst/>
          </a:prstGeom>
          <a:solidFill>
            <a:srgbClr val="00C6FF">
              <a:alpha val="35000"/>
            </a:srgbClr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36829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Front</a:t>
            </a:r>
            <a:endParaRPr lang="en-US" sz="650"/>
          </a:p>
        </p:txBody>
      </p:sp>
      <p:sp>
        <p:nvSpPr>
          <p:cNvPr id="24" name="Shape 22"/>
          <p:cNvSpPr/>
          <p:nvPr/>
        </p:nvSpPr>
        <p:spPr>
          <a:xfrm>
            <a:off x="2011680" y="2350008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0" y="23500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8</a:t>
            </a:r>
            <a:endParaRPr lang="en-US" sz="700"/>
          </a:p>
        </p:txBody>
      </p:sp>
      <p:sp>
        <p:nvSpPr>
          <p:cNvPr id="26" name="Text 24"/>
          <p:cNvSpPr/>
          <p:nvPr/>
        </p:nvSpPr>
        <p:spPr>
          <a:xfrm>
            <a:off x="320040" y="2578608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iOS/Android</a:t>
            </a:r>
            <a:endParaRPr lang="en-US" sz="800"/>
          </a:p>
        </p:txBody>
      </p:sp>
      <p:sp>
        <p:nvSpPr>
          <p:cNvPr id="27" name="Shape 25"/>
          <p:cNvSpPr/>
          <p:nvPr/>
        </p:nvSpPr>
        <p:spPr>
          <a:xfrm>
            <a:off x="320040" y="2880360"/>
            <a:ext cx="182880" cy="18288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8803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RT</a:t>
            </a:r>
            <a:endParaRPr lang="en-US" sz="550"/>
          </a:p>
        </p:txBody>
      </p:sp>
      <p:sp>
        <p:nvSpPr>
          <p:cNvPr id="29" name="Shape 27"/>
          <p:cNvSpPr/>
          <p:nvPr/>
        </p:nvSpPr>
        <p:spPr>
          <a:xfrm>
            <a:off x="2423160" y="914400"/>
            <a:ext cx="2057400" cy="347472"/>
          </a:xfrm>
          <a:prstGeom prst="rect">
            <a:avLst/>
          </a:prstGeom>
          <a:solidFill>
            <a:srgbClr val="1B3A5C"/>
          </a:solidFill>
          <a:ln w="6350">
            <a:solidFill>
              <a:srgbClr val="00C6FF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96312" y="914400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EN COURS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4160520" y="978408"/>
            <a:ext cx="219456" cy="219456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60520" y="9784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2</a:t>
            </a:r>
            <a:endParaRPr lang="en-US" sz="700"/>
          </a:p>
        </p:txBody>
      </p:sp>
      <p:sp>
        <p:nvSpPr>
          <p:cNvPr id="33" name="Shape 31"/>
          <p:cNvSpPr/>
          <p:nvPr/>
        </p:nvSpPr>
        <p:spPr>
          <a:xfrm>
            <a:off x="2423160" y="1325880"/>
            <a:ext cx="2057400" cy="896112"/>
          </a:xfrm>
          <a:prstGeom prst="rect">
            <a:avLst/>
          </a:prstGeom>
          <a:solidFill>
            <a:srgbClr val="0D1B35"/>
          </a:solidFill>
          <a:ln w="9525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423160" y="1325880"/>
            <a:ext cx="45720" cy="896112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14600" y="1389888"/>
            <a:ext cx="548640" cy="182880"/>
          </a:xfrm>
          <a:prstGeom prst="rect">
            <a:avLst/>
          </a:prstGeom>
          <a:solidFill>
            <a:srgbClr val="7B2FFF">
              <a:alpha val="35000"/>
            </a:srgbClr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14600" y="13898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Back</a:t>
            </a:r>
            <a:endParaRPr lang="en-US" sz="650"/>
          </a:p>
        </p:txBody>
      </p:sp>
      <p:sp>
        <p:nvSpPr>
          <p:cNvPr id="37" name="Shape 35"/>
          <p:cNvSpPr/>
          <p:nvPr/>
        </p:nvSpPr>
        <p:spPr>
          <a:xfrm>
            <a:off x="4206240" y="1371600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0" y="13716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8</a:t>
            </a:r>
            <a:endParaRPr lang="en-US" sz="700"/>
          </a:p>
        </p:txBody>
      </p:sp>
      <p:sp>
        <p:nvSpPr>
          <p:cNvPr id="39" name="Text 37"/>
          <p:cNvSpPr/>
          <p:nvPr/>
        </p:nvSpPr>
        <p:spPr>
          <a:xfrm>
            <a:off x="2514600" y="1600200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prédictive conflits de missions</a:t>
            </a:r>
            <a:endParaRPr lang="en-US" sz="800"/>
          </a:p>
        </p:txBody>
      </p:sp>
      <p:sp>
        <p:nvSpPr>
          <p:cNvPr id="40" name="Shape 38"/>
          <p:cNvSpPr/>
          <p:nvPr/>
        </p:nvSpPr>
        <p:spPr>
          <a:xfrm>
            <a:off x="2514600" y="2020824"/>
            <a:ext cx="1874520" cy="640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14600" y="2020824"/>
            <a:ext cx="749808" cy="640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96512" y="194767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>
                <a:solidFill>
                  <a:srgbClr val="7B2FFF"/>
                </a:solidFill>
              </a:rPr>
              <a:t>40%</a:t>
            </a:r>
            <a:endParaRPr lang="en-US" sz="650"/>
          </a:p>
        </p:txBody>
      </p:sp>
      <p:sp>
        <p:nvSpPr>
          <p:cNvPr id="43" name="Shape 41"/>
          <p:cNvSpPr/>
          <p:nvPr/>
        </p:nvSpPr>
        <p:spPr>
          <a:xfrm>
            <a:off x="2514600" y="1947672"/>
            <a:ext cx="182880" cy="18288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14600" y="19476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FC</a:t>
            </a:r>
            <a:endParaRPr lang="en-US" sz="550"/>
          </a:p>
        </p:txBody>
      </p:sp>
      <p:sp>
        <p:nvSpPr>
          <p:cNvPr id="45" name="Shape 43"/>
          <p:cNvSpPr/>
          <p:nvPr/>
        </p:nvSpPr>
        <p:spPr>
          <a:xfrm>
            <a:off x="2423160" y="2304288"/>
            <a:ext cx="2057400" cy="896112"/>
          </a:xfrm>
          <a:prstGeom prst="rect">
            <a:avLst/>
          </a:prstGeom>
          <a:solidFill>
            <a:srgbClr val="0D1B35"/>
          </a:solidFill>
          <a:ln w="9525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423160" y="2304288"/>
            <a:ext cx="45720" cy="89611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14600" y="2368296"/>
            <a:ext cx="548640" cy="182880"/>
          </a:xfrm>
          <a:prstGeom prst="rect">
            <a:avLst/>
          </a:prstGeom>
          <a:solidFill>
            <a:srgbClr val="FFB703">
              <a:alpha val="35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14600" y="236829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Full</a:t>
            </a:r>
            <a:endParaRPr lang="en-US" sz="650"/>
          </a:p>
        </p:txBody>
      </p:sp>
      <p:sp>
        <p:nvSpPr>
          <p:cNvPr id="49" name="Shape 47"/>
          <p:cNvSpPr/>
          <p:nvPr/>
        </p:nvSpPr>
        <p:spPr>
          <a:xfrm>
            <a:off x="4206240" y="2350008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06240" y="23500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5</a:t>
            </a:r>
            <a:endParaRPr lang="en-US" sz="700"/>
          </a:p>
        </p:txBody>
      </p:sp>
      <p:sp>
        <p:nvSpPr>
          <p:cNvPr id="51" name="Text 49"/>
          <p:cNvSpPr/>
          <p:nvPr/>
        </p:nvSpPr>
        <p:spPr>
          <a:xfrm>
            <a:off x="2514600" y="2578608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analytics temps réel</a:t>
            </a:r>
            <a:endParaRPr lang="en-US" sz="800"/>
          </a:p>
        </p:txBody>
      </p:sp>
      <p:sp>
        <p:nvSpPr>
          <p:cNvPr id="52" name="Shape 50"/>
          <p:cNvSpPr/>
          <p:nvPr/>
        </p:nvSpPr>
        <p:spPr>
          <a:xfrm>
            <a:off x="2514600" y="2999232"/>
            <a:ext cx="1874520" cy="640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14600" y="2999232"/>
            <a:ext cx="1405890" cy="6400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96512" y="292608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>
                <a:solidFill>
                  <a:srgbClr val="FFB703"/>
                </a:solidFill>
              </a:rPr>
              <a:t>75%</a:t>
            </a:r>
            <a:endParaRPr lang="en-US" sz="650"/>
          </a:p>
        </p:txBody>
      </p:sp>
      <p:sp>
        <p:nvSpPr>
          <p:cNvPr id="55" name="Shape 53"/>
          <p:cNvSpPr/>
          <p:nvPr/>
        </p:nvSpPr>
        <p:spPr>
          <a:xfrm>
            <a:off x="2514600" y="2926080"/>
            <a:ext cx="182880" cy="18288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14600" y="2926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RT</a:t>
            </a:r>
            <a:endParaRPr lang="en-US" sz="550"/>
          </a:p>
        </p:txBody>
      </p:sp>
      <p:sp>
        <p:nvSpPr>
          <p:cNvPr id="57" name="Shape 55"/>
          <p:cNvSpPr/>
          <p:nvPr/>
        </p:nvSpPr>
        <p:spPr>
          <a:xfrm>
            <a:off x="4617720" y="914400"/>
            <a:ext cx="2057400" cy="347472"/>
          </a:xfrm>
          <a:prstGeom prst="rect">
            <a:avLst/>
          </a:prstGeom>
          <a:solidFill>
            <a:srgbClr val="1A3040"/>
          </a:solidFill>
          <a:ln w="6350">
            <a:solidFill>
              <a:srgbClr val="00C6FF">
                <a:alpha val="4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90872" y="914400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EN REVIEW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6355080" y="978408"/>
            <a:ext cx="219456" cy="219456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55080" y="9784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3</a:t>
            </a:r>
            <a:endParaRPr lang="en-US" sz="700"/>
          </a:p>
        </p:txBody>
      </p:sp>
      <p:sp>
        <p:nvSpPr>
          <p:cNvPr id="61" name="Shape 59"/>
          <p:cNvSpPr/>
          <p:nvPr/>
        </p:nvSpPr>
        <p:spPr>
          <a:xfrm>
            <a:off x="4617720" y="1325880"/>
            <a:ext cx="2057400" cy="822960"/>
          </a:xfrm>
          <a:prstGeom prst="rect">
            <a:avLst/>
          </a:prstGeom>
          <a:solidFill>
            <a:srgbClr val="0D1B35"/>
          </a:solidFill>
          <a:ln w="9525">
            <a:solidFill>
              <a:srgbClr val="1A3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617720" y="1325880"/>
            <a:ext cx="45720" cy="822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09160" y="1389888"/>
            <a:ext cx="548640" cy="182880"/>
          </a:xfrm>
          <a:prstGeom prst="rect">
            <a:avLst/>
          </a:prstGeom>
          <a:solidFill>
            <a:srgbClr val="FFB703">
              <a:alpha val="35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09160" y="13898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Full</a:t>
            </a:r>
            <a:endParaRPr lang="en-US" sz="650"/>
          </a:p>
        </p:txBody>
      </p:sp>
      <p:sp>
        <p:nvSpPr>
          <p:cNvPr id="65" name="Shape 63"/>
          <p:cNvSpPr/>
          <p:nvPr/>
        </p:nvSpPr>
        <p:spPr>
          <a:xfrm>
            <a:off x="6400800" y="1371600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0" y="13716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5</a:t>
            </a:r>
            <a:endParaRPr lang="en-US" sz="700"/>
          </a:p>
        </p:txBody>
      </p:sp>
      <p:sp>
        <p:nvSpPr>
          <p:cNvPr id="67" name="Text 65"/>
          <p:cNvSpPr/>
          <p:nvPr/>
        </p:nvSpPr>
        <p:spPr>
          <a:xfrm>
            <a:off x="4709160" y="1600200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utilisation export PDF</a:t>
            </a:r>
            <a:endParaRPr lang="en-US" sz="800"/>
          </a:p>
        </p:txBody>
      </p:sp>
      <p:sp>
        <p:nvSpPr>
          <p:cNvPr id="68" name="Shape 66"/>
          <p:cNvSpPr/>
          <p:nvPr/>
        </p:nvSpPr>
        <p:spPr>
          <a:xfrm>
            <a:off x="4709160" y="1901952"/>
            <a:ext cx="182880" cy="18288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09160" y="19019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RT</a:t>
            </a:r>
            <a:endParaRPr lang="en-US" sz="550"/>
          </a:p>
        </p:txBody>
      </p:sp>
      <p:sp>
        <p:nvSpPr>
          <p:cNvPr id="70" name="Shape 68"/>
          <p:cNvSpPr/>
          <p:nvPr/>
        </p:nvSpPr>
        <p:spPr>
          <a:xfrm>
            <a:off x="4617720" y="2304288"/>
            <a:ext cx="2057400" cy="822960"/>
          </a:xfrm>
          <a:prstGeom prst="rect">
            <a:avLst/>
          </a:prstGeom>
          <a:solidFill>
            <a:srgbClr val="0D1B35"/>
          </a:solidFill>
          <a:ln w="9525">
            <a:solidFill>
              <a:srgbClr val="1A3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4617720" y="2304288"/>
            <a:ext cx="45720" cy="82296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709160" y="2368296"/>
            <a:ext cx="548640" cy="182880"/>
          </a:xfrm>
          <a:prstGeom prst="rect">
            <a:avLst/>
          </a:prstGeom>
          <a:solidFill>
            <a:srgbClr val="7B2FFF">
              <a:alpha val="35000"/>
            </a:srgbClr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236829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Back</a:t>
            </a:r>
            <a:endParaRPr lang="en-US" sz="650"/>
          </a:p>
        </p:txBody>
      </p:sp>
      <p:sp>
        <p:nvSpPr>
          <p:cNvPr id="74" name="Shape 72"/>
          <p:cNvSpPr/>
          <p:nvPr/>
        </p:nvSpPr>
        <p:spPr>
          <a:xfrm>
            <a:off x="6400800" y="2350008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00800" y="23500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8</a:t>
            </a:r>
            <a:endParaRPr lang="en-US" sz="700"/>
          </a:p>
        </p:txBody>
      </p:sp>
      <p:sp>
        <p:nvSpPr>
          <p:cNvPr id="76" name="Text 74"/>
          <p:cNvSpPr/>
          <p:nvPr/>
        </p:nvSpPr>
        <p:spPr>
          <a:xfrm>
            <a:off x="4709160" y="2578608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&amp; alertes conflits</a:t>
            </a:r>
            <a:endParaRPr lang="en-US" sz="800"/>
          </a:p>
        </p:txBody>
      </p:sp>
      <p:sp>
        <p:nvSpPr>
          <p:cNvPr id="77" name="Shape 75"/>
          <p:cNvSpPr/>
          <p:nvPr/>
        </p:nvSpPr>
        <p:spPr>
          <a:xfrm>
            <a:off x="4709160" y="2880360"/>
            <a:ext cx="182880" cy="18288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709160" y="28803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FC</a:t>
            </a:r>
            <a:endParaRPr lang="en-US" sz="550"/>
          </a:p>
        </p:txBody>
      </p:sp>
      <p:sp>
        <p:nvSpPr>
          <p:cNvPr id="79" name="Shape 77"/>
          <p:cNvSpPr/>
          <p:nvPr/>
        </p:nvSpPr>
        <p:spPr>
          <a:xfrm>
            <a:off x="4617720" y="3282696"/>
            <a:ext cx="2057400" cy="822960"/>
          </a:xfrm>
          <a:prstGeom prst="rect">
            <a:avLst/>
          </a:prstGeom>
          <a:solidFill>
            <a:srgbClr val="0D1B35"/>
          </a:solidFill>
          <a:ln w="9525">
            <a:solidFill>
              <a:srgbClr val="1A3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4617720" y="3282696"/>
            <a:ext cx="45720" cy="82296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709160" y="3346704"/>
            <a:ext cx="548640" cy="182880"/>
          </a:xfrm>
          <a:prstGeom prst="rect">
            <a:avLst/>
          </a:prstGeom>
          <a:solidFill>
            <a:srgbClr val="00C6FF">
              <a:alpha val="35000"/>
            </a:srgbClr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709160" y="33467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Front</a:t>
            </a:r>
            <a:endParaRPr lang="en-US" sz="650"/>
          </a:p>
        </p:txBody>
      </p:sp>
      <p:sp>
        <p:nvSpPr>
          <p:cNvPr id="83" name="Shape 81"/>
          <p:cNvSpPr/>
          <p:nvPr/>
        </p:nvSpPr>
        <p:spPr>
          <a:xfrm>
            <a:off x="6400800" y="3328416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400800" y="33284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3</a:t>
            </a:r>
            <a:endParaRPr lang="en-US" sz="700"/>
          </a:p>
        </p:txBody>
      </p:sp>
      <p:sp>
        <p:nvSpPr>
          <p:cNvPr id="85" name="Text 83"/>
          <p:cNvSpPr/>
          <p:nvPr/>
        </p:nvSpPr>
        <p:spPr>
          <a:xfrm>
            <a:off x="4709160" y="3557016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Optimisations perf + lazy load</a:t>
            </a:r>
            <a:endParaRPr lang="en-US" sz="800"/>
          </a:p>
        </p:txBody>
      </p:sp>
      <p:sp>
        <p:nvSpPr>
          <p:cNvPr id="86" name="Shape 84"/>
          <p:cNvSpPr/>
          <p:nvPr/>
        </p:nvSpPr>
        <p:spPr>
          <a:xfrm>
            <a:off x="4709160" y="3858768"/>
            <a:ext cx="182880" cy="18288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>
                <a:alpha val="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709160" y="38587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SO</a:t>
            </a:r>
            <a:endParaRPr lang="en-US" sz="550"/>
          </a:p>
        </p:txBody>
      </p:sp>
      <p:sp>
        <p:nvSpPr>
          <p:cNvPr id="88" name="Shape 86"/>
          <p:cNvSpPr/>
          <p:nvPr/>
        </p:nvSpPr>
        <p:spPr>
          <a:xfrm>
            <a:off x="6812280" y="914400"/>
            <a:ext cx="2057400" cy="347472"/>
          </a:xfrm>
          <a:prstGeom prst="rect">
            <a:avLst/>
          </a:prstGeom>
          <a:solidFill>
            <a:srgbClr val="0A2A1A"/>
          </a:solidFill>
          <a:ln w="6350">
            <a:solidFill>
              <a:srgbClr val="00C6FF">
                <a:alpha val="4000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885432" y="914400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TERMINÉ</a:t>
            </a:r>
            <a:endParaRPr lang="en-US" sz="950"/>
          </a:p>
        </p:txBody>
      </p:sp>
      <p:sp>
        <p:nvSpPr>
          <p:cNvPr id="90" name="Shape 88"/>
          <p:cNvSpPr/>
          <p:nvPr/>
        </p:nvSpPr>
        <p:spPr>
          <a:xfrm>
            <a:off x="8549640" y="978408"/>
            <a:ext cx="219456" cy="219456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549640" y="9784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4</a:t>
            </a:r>
            <a:endParaRPr lang="en-US" sz="700"/>
          </a:p>
        </p:txBody>
      </p:sp>
      <p:sp>
        <p:nvSpPr>
          <p:cNvPr id="92" name="Shape 90"/>
          <p:cNvSpPr/>
          <p:nvPr/>
        </p:nvSpPr>
        <p:spPr>
          <a:xfrm>
            <a:off x="6812280" y="1325880"/>
            <a:ext cx="2057400" cy="822960"/>
          </a:xfrm>
          <a:prstGeom prst="rect">
            <a:avLst/>
          </a:prstGeom>
          <a:solidFill>
            <a:srgbClr val="0D1B35"/>
          </a:solidFill>
          <a:ln w="9525">
            <a:solidFill>
              <a:srgbClr val="0A2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6812280" y="1325880"/>
            <a:ext cx="45720" cy="822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903720" y="1389888"/>
            <a:ext cx="548640" cy="182880"/>
          </a:xfrm>
          <a:prstGeom prst="rect">
            <a:avLst/>
          </a:prstGeom>
          <a:solidFill>
            <a:srgbClr val="FFB703">
              <a:alpha val="35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903720" y="13898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Full</a:t>
            </a:r>
            <a:endParaRPr lang="en-US" sz="650"/>
          </a:p>
        </p:txBody>
      </p:sp>
      <p:sp>
        <p:nvSpPr>
          <p:cNvPr id="96" name="Shape 94"/>
          <p:cNvSpPr/>
          <p:nvPr/>
        </p:nvSpPr>
        <p:spPr>
          <a:xfrm>
            <a:off x="8595360" y="1371600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595360" y="13716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5</a:t>
            </a:r>
            <a:endParaRPr lang="en-US" sz="700"/>
          </a:p>
        </p:txBody>
      </p:sp>
      <p:sp>
        <p:nvSpPr>
          <p:cNvPr id="98" name="Text 96"/>
          <p:cNvSpPr/>
          <p:nvPr/>
        </p:nvSpPr>
        <p:spPr>
          <a:xfrm>
            <a:off x="6903720" y="1600200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récurrences missions</a:t>
            </a:r>
            <a:endParaRPr lang="en-US" sz="800"/>
          </a:p>
        </p:txBody>
      </p:sp>
      <p:sp>
        <p:nvSpPr>
          <p:cNvPr id="99" name="Shape 97"/>
          <p:cNvSpPr/>
          <p:nvPr/>
        </p:nvSpPr>
        <p:spPr>
          <a:xfrm>
            <a:off x="6903720" y="1901952"/>
            <a:ext cx="182880" cy="18288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903720" y="19019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RT</a:t>
            </a:r>
            <a:endParaRPr lang="en-US" sz="550"/>
          </a:p>
        </p:txBody>
      </p:sp>
      <p:sp>
        <p:nvSpPr>
          <p:cNvPr id="101" name="Shape 99"/>
          <p:cNvSpPr/>
          <p:nvPr/>
        </p:nvSpPr>
        <p:spPr>
          <a:xfrm>
            <a:off x="6812280" y="2304288"/>
            <a:ext cx="2057400" cy="822960"/>
          </a:xfrm>
          <a:prstGeom prst="rect">
            <a:avLst/>
          </a:prstGeom>
          <a:solidFill>
            <a:srgbClr val="0D1B35"/>
          </a:solidFill>
          <a:ln w="9525">
            <a:solidFill>
              <a:srgbClr val="0A2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6812280" y="2304288"/>
            <a:ext cx="45720" cy="82296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903720" y="2368296"/>
            <a:ext cx="548640" cy="182880"/>
          </a:xfrm>
          <a:prstGeom prst="rect">
            <a:avLst/>
          </a:prstGeom>
          <a:solidFill>
            <a:srgbClr val="7B2FFF">
              <a:alpha val="35000"/>
            </a:srgbClr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903720" y="236829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Back</a:t>
            </a:r>
            <a:endParaRPr lang="en-US" sz="650"/>
          </a:p>
        </p:txBody>
      </p:sp>
      <p:sp>
        <p:nvSpPr>
          <p:cNvPr id="105" name="Shape 103"/>
          <p:cNvSpPr/>
          <p:nvPr/>
        </p:nvSpPr>
        <p:spPr>
          <a:xfrm>
            <a:off x="8595360" y="2350008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595360" y="23500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3</a:t>
            </a:r>
            <a:endParaRPr lang="en-US" sz="700"/>
          </a:p>
        </p:txBody>
      </p:sp>
      <p:sp>
        <p:nvSpPr>
          <p:cNvPr id="107" name="Text 105"/>
          <p:cNvSpPr/>
          <p:nvPr/>
        </p:nvSpPr>
        <p:spPr>
          <a:xfrm>
            <a:off x="6903720" y="2578608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charge (1000 users)</a:t>
            </a:r>
            <a:endParaRPr lang="en-US" sz="800"/>
          </a:p>
        </p:txBody>
      </p:sp>
      <p:sp>
        <p:nvSpPr>
          <p:cNvPr id="108" name="Shape 106"/>
          <p:cNvSpPr/>
          <p:nvPr/>
        </p:nvSpPr>
        <p:spPr>
          <a:xfrm>
            <a:off x="6903720" y="2880360"/>
            <a:ext cx="182880" cy="18288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903720" y="28803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FC</a:t>
            </a:r>
            <a:endParaRPr lang="en-US" sz="550"/>
          </a:p>
        </p:txBody>
      </p:sp>
      <p:sp>
        <p:nvSpPr>
          <p:cNvPr id="110" name="Shape 108"/>
          <p:cNvSpPr/>
          <p:nvPr/>
        </p:nvSpPr>
        <p:spPr>
          <a:xfrm>
            <a:off x="6812280" y="3282696"/>
            <a:ext cx="2057400" cy="822960"/>
          </a:xfrm>
          <a:prstGeom prst="rect">
            <a:avLst/>
          </a:prstGeom>
          <a:solidFill>
            <a:srgbClr val="0D1B35"/>
          </a:solidFill>
          <a:ln w="9525">
            <a:solidFill>
              <a:srgbClr val="0A2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1" name="Shape 109"/>
          <p:cNvSpPr/>
          <p:nvPr/>
        </p:nvSpPr>
        <p:spPr>
          <a:xfrm>
            <a:off x="6812280" y="3282696"/>
            <a:ext cx="45720" cy="82296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903720" y="3346704"/>
            <a:ext cx="548640" cy="182880"/>
          </a:xfrm>
          <a:prstGeom prst="rect">
            <a:avLst/>
          </a:prstGeom>
          <a:solidFill>
            <a:srgbClr val="FF6B9D">
              <a:alpha val="35000"/>
            </a:srgbClr>
          </a:solidFill>
          <a:ln w="12700">
            <a:solidFill>
              <a:srgbClr val="FF6B9D">
                <a:alpha val="0"/>
              </a:srgbClr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903720" y="33467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Design</a:t>
            </a:r>
            <a:endParaRPr lang="en-US" sz="650"/>
          </a:p>
        </p:txBody>
      </p:sp>
      <p:sp>
        <p:nvSpPr>
          <p:cNvPr id="114" name="Shape 112"/>
          <p:cNvSpPr/>
          <p:nvPr/>
        </p:nvSpPr>
        <p:spPr>
          <a:xfrm>
            <a:off x="8595360" y="3328416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595360" y="33284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5</a:t>
            </a:r>
            <a:endParaRPr lang="en-US" sz="700"/>
          </a:p>
        </p:txBody>
      </p:sp>
      <p:sp>
        <p:nvSpPr>
          <p:cNvPr id="116" name="Text 114"/>
          <p:cNvSpPr/>
          <p:nvPr/>
        </p:nvSpPr>
        <p:spPr>
          <a:xfrm>
            <a:off x="6903720" y="3557016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mobile-first UI</a:t>
            </a:r>
            <a:endParaRPr lang="en-US" sz="800"/>
          </a:p>
        </p:txBody>
      </p:sp>
      <p:sp>
        <p:nvSpPr>
          <p:cNvPr id="117" name="Shape 115"/>
          <p:cNvSpPr/>
          <p:nvPr/>
        </p:nvSpPr>
        <p:spPr>
          <a:xfrm>
            <a:off x="6903720" y="3858768"/>
            <a:ext cx="182880" cy="18288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>
                <a:alpha val="0"/>
              </a:srgbClr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903720" y="38587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SO</a:t>
            </a:r>
            <a:endParaRPr lang="en-US" sz="550"/>
          </a:p>
        </p:txBody>
      </p:sp>
      <p:sp>
        <p:nvSpPr>
          <p:cNvPr id="119" name="Shape 117"/>
          <p:cNvSpPr/>
          <p:nvPr/>
        </p:nvSpPr>
        <p:spPr>
          <a:xfrm>
            <a:off x="6812280" y="4261104"/>
            <a:ext cx="2057400" cy="822960"/>
          </a:xfrm>
          <a:prstGeom prst="rect">
            <a:avLst/>
          </a:prstGeom>
          <a:solidFill>
            <a:srgbClr val="0D1B35"/>
          </a:solidFill>
          <a:ln w="9525">
            <a:solidFill>
              <a:srgbClr val="0A2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0" name="Shape 118"/>
          <p:cNvSpPr/>
          <p:nvPr/>
        </p:nvSpPr>
        <p:spPr>
          <a:xfrm>
            <a:off x="6812280" y="4261104"/>
            <a:ext cx="45720" cy="82296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903720" y="4325112"/>
            <a:ext cx="548640" cy="182880"/>
          </a:xfrm>
          <a:prstGeom prst="rect">
            <a:avLst/>
          </a:prstGeom>
          <a:solidFill>
            <a:srgbClr val="7B2FFF">
              <a:alpha val="35000"/>
            </a:srgbClr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903720" y="43251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Back</a:t>
            </a:r>
            <a:endParaRPr lang="en-US" sz="650"/>
          </a:p>
        </p:txBody>
      </p:sp>
      <p:sp>
        <p:nvSpPr>
          <p:cNvPr id="125" name="Text 123"/>
          <p:cNvSpPr/>
          <p:nvPr/>
        </p:nvSpPr>
        <p:spPr>
          <a:xfrm>
            <a:off x="6903720" y="4535424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API complète</a:t>
            </a:r>
            <a:endParaRPr lang="en-US" sz="800"/>
          </a:p>
        </p:txBody>
      </p:sp>
      <p:sp>
        <p:nvSpPr>
          <p:cNvPr id="123" name="Shape 121"/>
          <p:cNvSpPr/>
          <p:nvPr/>
        </p:nvSpPr>
        <p:spPr>
          <a:xfrm>
            <a:off x="8595360" y="4306824"/>
            <a:ext cx="219456" cy="219456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595360" y="43068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B703"/>
                </a:solidFill>
              </a:rPr>
              <a:t>2</a:t>
            </a:r>
            <a:endParaRPr lang="en-US" sz="700"/>
          </a:p>
        </p:txBody>
      </p:sp>
      <p:sp>
        <p:nvSpPr>
          <p:cNvPr id="126" name="Shape 124"/>
          <p:cNvSpPr/>
          <p:nvPr/>
        </p:nvSpPr>
        <p:spPr>
          <a:xfrm>
            <a:off x="6903720" y="4837176"/>
            <a:ext cx="182880" cy="18288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903720" y="4837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FC</a:t>
            </a:r>
            <a:endParaRPr lang="en-US" sz="550"/>
          </a:p>
        </p:txBody>
      </p:sp>
      <p:sp>
        <p:nvSpPr>
          <p:cNvPr id="128" name="Text 126"/>
          <p:cNvSpPr/>
          <p:nvPr/>
        </p:nvSpPr>
        <p:spPr>
          <a:xfrm>
            <a:off x="-181155" y="4840454"/>
            <a:ext cx="86868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B703"/>
                </a:solidFill>
                <a:latin typeface="Calibri"/>
                <a:ea typeface="Calibri"/>
                <a:cs typeface="Calibri"/>
              </a:rPr>
              <a:t>RT = Ramsses </a:t>
            </a:r>
            <a:r>
              <a:rPr lang="en-US" sz="800" b="1" err="1">
                <a:solidFill>
                  <a:srgbClr val="FFB703"/>
                </a:solidFill>
                <a:latin typeface="Calibri"/>
                <a:ea typeface="Calibri"/>
                <a:cs typeface="Calibri"/>
              </a:rPr>
              <a:t>Tining</a:t>
            </a:r>
            <a:r>
              <a:rPr lang="en-US" sz="800" b="1">
                <a:solidFill>
                  <a:srgbClr val="FFB703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800" b="1">
                <a:solidFill>
                  <a:srgbClr val="00C6FF"/>
                </a:solidFill>
                <a:latin typeface="Calibri"/>
                <a:ea typeface="Calibri"/>
                <a:cs typeface="Calibri"/>
              </a:rPr>
              <a:t>  FC = Fouad </a:t>
            </a:r>
            <a:r>
              <a:rPr lang="en-US" sz="800" b="1" err="1">
                <a:solidFill>
                  <a:srgbClr val="00C6FF"/>
                </a:solidFill>
                <a:latin typeface="Calibri"/>
                <a:ea typeface="Calibri"/>
                <a:cs typeface="Calibri"/>
              </a:rPr>
              <a:t>Chitou</a:t>
            </a:r>
            <a:r>
              <a:rPr lang="en-US" sz="800" b="1">
                <a:solidFill>
                  <a:srgbClr val="00C6FF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800" b="1">
                <a:solidFill>
                  <a:srgbClr val="FF6B9D"/>
                </a:solidFill>
                <a:latin typeface="Calibri"/>
                <a:ea typeface="Calibri"/>
                <a:cs typeface="Calibri"/>
              </a:rPr>
              <a:t>  SO = SOW </a:t>
            </a:r>
            <a:r>
              <a:rPr lang="en-US" sz="800" b="1" err="1">
                <a:solidFill>
                  <a:srgbClr val="FF6B9D"/>
                </a:solidFill>
                <a:latin typeface="Calibri"/>
                <a:ea typeface="Calibri"/>
                <a:cs typeface="Calibri"/>
              </a:rPr>
              <a:t>Omou</a:t>
            </a:r>
            <a:endParaRPr lang="en-US" sz="800" err="1">
              <a:solidFill>
                <a:srgbClr val="8899AA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2743200"/>
          </a:xfrm>
          <a:prstGeom prst="ellipse">
            <a:avLst/>
          </a:prstGeom>
          <a:solidFill>
            <a:srgbClr val="1B0A3A">
              <a:alpha val="60000"/>
            </a:srgbClr>
          </a:solidFill>
          <a:ln w="12700">
            <a:solidFill>
              <a:srgbClr val="1B0A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200400"/>
          </a:xfrm>
          <a:prstGeom prst="ellipse">
            <a:avLst/>
          </a:prstGeom>
          <a:solidFill>
            <a:srgbClr val="001A3A">
              <a:alpha val="55000"/>
            </a:srgbClr>
          </a:solidFill>
          <a:ln w="12700">
            <a:solidFill>
              <a:srgbClr val="001A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00C6FF"/>
                </a:solidFill>
                <a:latin typeface="Calibri"/>
                <a:ea typeface="Calibri"/>
                <a:cs typeface="Calibri"/>
              </a:rPr>
              <a:t>SUIVI DE PROGRESSION — TÂCHES &amp; STATUTS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7B2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de chaque tâche du début à la fin du projet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256032" y="914400"/>
            <a:ext cx="384048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9144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#</a:t>
            </a:r>
            <a:endParaRPr lang="en-US" sz="850"/>
          </a:p>
        </p:txBody>
      </p:sp>
      <p:sp>
        <p:nvSpPr>
          <p:cNvPr id="9" name="Shape 7"/>
          <p:cNvSpPr/>
          <p:nvPr/>
        </p:nvSpPr>
        <p:spPr>
          <a:xfrm>
            <a:off x="658368" y="914400"/>
            <a:ext cx="3785616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914400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Tâche</a:t>
            </a:r>
            <a:endParaRPr lang="en-US" sz="850"/>
          </a:p>
        </p:txBody>
      </p:sp>
      <p:sp>
        <p:nvSpPr>
          <p:cNvPr id="11" name="Shape 9"/>
          <p:cNvSpPr/>
          <p:nvPr/>
        </p:nvSpPr>
        <p:spPr>
          <a:xfrm>
            <a:off x="4480560" y="914400"/>
            <a:ext cx="475488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91440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👤</a:t>
            </a:r>
            <a:endParaRPr lang="en-US" sz="850"/>
          </a:p>
        </p:txBody>
      </p:sp>
      <p:sp>
        <p:nvSpPr>
          <p:cNvPr id="13" name="Shape 11"/>
          <p:cNvSpPr/>
          <p:nvPr/>
        </p:nvSpPr>
        <p:spPr>
          <a:xfrm>
            <a:off x="4983480" y="914400"/>
            <a:ext cx="530352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914400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S1</a:t>
            </a:r>
            <a:endParaRPr lang="en-US" sz="850"/>
          </a:p>
        </p:txBody>
      </p:sp>
      <p:sp>
        <p:nvSpPr>
          <p:cNvPr id="15" name="Shape 13"/>
          <p:cNvSpPr/>
          <p:nvPr/>
        </p:nvSpPr>
        <p:spPr>
          <a:xfrm>
            <a:off x="5559552" y="914400"/>
            <a:ext cx="530352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59552" y="914400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S2</a:t>
            </a:r>
            <a:endParaRPr lang="en-US" sz="850"/>
          </a:p>
        </p:txBody>
      </p:sp>
      <p:sp>
        <p:nvSpPr>
          <p:cNvPr id="17" name="Shape 15"/>
          <p:cNvSpPr/>
          <p:nvPr/>
        </p:nvSpPr>
        <p:spPr>
          <a:xfrm>
            <a:off x="6126480" y="914400"/>
            <a:ext cx="530352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914400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S3</a:t>
            </a:r>
            <a:endParaRPr lang="en-US" sz="850"/>
          </a:p>
        </p:txBody>
      </p:sp>
      <p:sp>
        <p:nvSpPr>
          <p:cNvPr id="19" name="Shape 17"/>
          <p:cNvSpPr/>
          <p:nvPr/>
        </p:nvSpPr>
        <p:spPr>
          <a:xfrm>
            <a:off x="6675120" y="914400"/>
            <a:ext cx="41148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91440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Pts</a:t>
            </a:r>
            <a:endParaRPr lang="en-US" sz="850"/>
          </a:p>
        </p:txBody>
      </p:sp>
      <p:sp>
        <p:nvSpPr>
          <p:cNvPr id="21" name="Shape 19"/>
          <p:cNvSpPr/>
          <p:nvPr/>
        </p:nvSpPr>
        <p:spPr>
          <a:xfrm>
            <a:off x="7114032" y="914400"/>
            <a:ext cx="182880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14032" y="914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Progression</a:t>
            </a:r>
            <a:endParaRPr lang="en-US" sz="850"/>
          </a:p>
        </p:txBody>
      </p:sp>
      <p:sp>
        <p:nvSpPr>
          <p:cNvPr id="23" name="Shape 21"/>
          <p:cNvSpPr/>
          <p:nvPr/>
        </p:nvSpPr>
        <p:spPr>
          <a:xfrm>
            <a:off x="256032" y="1234440"/>
            <a:ext cx="8686800" cy="246888"/>
          </a:xfrm>
          <a:prstGeom prst="rect">
            <a:avLst/>
          </a:prstGeom>
          <a:solidFill>
            <a:srgbClr val="0D1B2A"/>
          </a:solidFill>
          <a:ln w="254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123444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8899AA"/>
                </a:solidFill>
              </a:rPr>
              <a:t>T01</a:t>
            </a:r>
            <a:endParaRPr lang="en-US" sz="750"/>
          </a:p>
        </p:txBody>
      </p:sp>
      <p:sp>
        <p:nvSpPr>
          <p:cNvPr id="25" name="Text 23"/>
          <p:cNvSpPr/>
          <p:nvPr/>
        </p:nvSpPr>
        <p:spPr>
          <a:xfrm>
            <a:off x="658368" y="1234440"/>
            <a:ext cx="3785616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ressources</a:t>
            </a:r>
            <a:endParaRPr lang="en-US" sz="800"/>
          </a:p>
        </p:txBody>
      </p:sp>
      <p:sp>
        <p:nvSpPr>
          <p:cNvPr id="26" name="Shape 24"/>
          <p:cNvSpPr/>
          <p:nvPr/>
        </p:nvSpPr>
        <p:spPr>
          <a:xfrm>
            <a:off x="4572000" y="1266444"/>
            <a:ext cx="182880" cy="18288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12664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RT</a:t>
            </a:r>
            <a:endParaRPr lang="en-US" sz="550"/>
          </a:p>
        </p:txBody>
      </p:sp>
      <p:sp>
        <p:nvSpPr>
          <p:cNvPr id="28" name="Shape 26"/>
          <p:cNvSpPr/>
          <p:nvPr/>
        </p:nvSpPr>
        <p:spPr>
          <a:xfrm>
            <a:off x="5038344" y="1271016"/>
            <a:ext cx="402336" cy="173736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1234440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614416" y="1271016"/>
            <a:ext cx="402336" cy="173736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59552" y="1234440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181344" y="1271016"/>
            <a:ext cx="402336" cy="173736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1234440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675120" y="1234440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B703"/>
                </a:solidFill>
              </a:rPr>
              <a:t>5</a:t>
            </a:r>
            <a:endParaRPr lang="en-US" sz="800"/>
          </a:p>
        </p:txBody>
      </p:sp>
      <p:sp>
        <p:nvSpPr>
          <p:cNvPr id="35" name="Shape 33"/>
          <p:cNvSpPr/>
          <p:nvPr/>
        </p:nvSpPr>
        <p:spPr>
          <a:xfrm>
            <a:off x="7159752" y="1307592"/>
            <a:ext cx="1691640" cy="91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59752" y="1307592"/>
            <a:ext cx="1691640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32520" y="1234440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>
                <a:solidFill>
                  <a:srgbClr val="06D6A0"/>
                </a:solidFill>
              </a:rPr>
              <a:t>100%</a:t>
            </a:r>
            <a:endParaRPr lang="en-US" sz="700"/>
          </a:p>
        </p:txBody>
      </p:sp>
      <p:sp>
        <p:nvSpPr>
          <p:cNvPr id="38" name="Shape 36"/>
          <p:cNvSpPr/>
          <p:nvPr/>
        </p:nvSpPr>
        <p:spPr>
          <a:xfrm>
            <a:off x="256032" y="1495044"/>
            <a:ext cx="8686800" cy="246888"/>
          </a:xfrm>
          <a:prstGeom prst="rect">
            <a:avLst/>
          </a:prstGeom>
          <a:solidFill>
            <a:srgbClr val="101F30"/>
          </a:solidFill>
          <a:ln w="2540">
            <a:solidFill>
              <a:srgbClr val="1B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032" y="1495044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8899AA"/>
                </a:solidFill>
              </a:rPr>
              <a:t>T02</a:t>
            </a:r>
            <a:endParaRPr lang="en-US" sz="750"/>
          </a:p>
        </p:txBody>
      </p:sp>
      <p:sp>
        <p:nvSpPr>
          <p:cNvPr id="40" name="Text 38"/>
          <p:cNvSpPr/>
          <p:nvPr/>
        </p:nvSpPr>
        <p:spPr>
          <a:xfrm>
            <a:off x="658368" y="1495044"/>
            <a:ext cx="3785616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réservation (POST)</a:t>
            </a:r>
            <a:endParaRPr lang="en-US" sz="800"/>
          </a:p>
        </p:txBody>
      </p:sp>
      <p:sp>
        <p:nvSpPr>
          <p:cNvPr id="41" name="Shape 39"/>
          <p:cNvSpPr/>
          <p:nvPr/>
        </p:nvSpPr>
        <p:spPr>
          <a:xfrm>
            <a:off x="4572000" y="1527048"/>
            <a:ext cx="182880" cy="18288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15270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FC</a:t>
            </a:r>
            <a:endParaRPr lang="en-US" sz="550"/>
          </a:p>
        </p:txBody>
      </p:sp>
      <p:sp>
        <p:nvSpPr>
          <p:cNvPr id="43" name="Shape 41"/>
          <p:cNvSpPr/>
          <p:nvPr/>
        </p:nvSpPr>
        <p:spPr>
          <a:xfrm>
            <a:off x="5038344" y="1531620"/>
            <a:ext cx="402336" cy="173736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1495044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614416" y="1531620"/>
            <a:ext cx="402336" cy="173736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59552" y="1495044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181344" y="1531620"/>
            <a:ext cx="402336" cy="173736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0" y="1495044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675120" y="1495044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B703"/>
                </a:solidFill>
              </a:rPr>
              <a:t>8</a:t>
            </a:r>
            <a:endParaRPr lang="en-US" sz="800"/>
          </a:p>
        </p:txBody>
      </p:sp>
      <p:sp>
        <p:nvSpPr>
          <p:cNvPr id="50" name="Shape 48"/>
          <p:cNvSpPr/>
          <p:nvPr/>
        </p:nvSpPr>
        <p:spPr>
          <a:xfrm>
            <a:off x="7159752" y="1568196"/>
            <a:ext cx="1691640" cy="91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159752" y="1568196"/>
            <a:ext cx="1691640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732520" y="1495044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>
                <a:solidFill>
                  <a:srgbClr val="06D6A0"/>
                </a:solidFill>
              </a:rPr>
              <a:t>100%</a:t>
            </a:r>
            <a:endParaRPr lang="en-US" sz="700"/>
          </a:p>
        </p:txBody>
      </p:sp>
      <p:sp>
        <p:nvSpPr>
          <p:cNvPr id="53" name="Shape 51"/>
          <p:cNvSpPr/>
          <p:nvPr/>
        </p:nvSpPr>
        <p:spPr>
          <a:xfrm>
            <a:off x="256032" y="1755648"/>
            <a:ext cx="8686800" cy="246888"/>
          </a:xfrm>
          <a:prstGeom prst="rect">
            <a:avLst/>
          </a:prstGeom>
          <a:solidFill>
            <a:srgbClr val="0D1B2A"/>
          </a:solidFill>
          <a:ln w="2540">
            <a:solidFill>
              <a:srgbClr val="1B2A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6032" y="1755648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8899AA"/>
                </a:solidFill>
              </a:rPr>
              <a:t>T03</a:t>
            </a:r>
            <a:endParaRPr lang="en-US" sz="750"/>
          </a:p>
        </p:txBody>
      </p:sp>
      <p:sp>
        <p:nvSpPr>
          <p:cNvPr id="55" name="Text 53"/>
          <p:cNvSpPr/>
          <p:nvPr/>
        </p:nvSpPr>
        <p:spPr>
          <a:xfrm>
            <a:off x="658368" y="1755648"/>
            <a:ext cx="3785616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email</a:t>
            </a:r>
            <a:endParaRPr lang="en-US" sz="800"/>
          </a:p>
        </p:txBody>
      </p:sp>
      <p:sp>
        <p:nvSpPr>
          <p:cNvPr id="56" name="Shape 54"/>
          <p:cNvSpPr/>
          <p:nvPr/>
        </p:nvSpPr>
        <p:spPr>
          <a:xfrm>
            <a:off x="4572000" y="1787652"/>
            <a:ext cx="182880" cy="18288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0" y="17876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FC</a:t>
            </a:r>
            <a:endParaRPr lang="en-US" sz="550"/>
          </a:p>
        </p:txBody>
      </p:sp>
      <p:sp>
        <p:nvSpPr>
          <p:cNvPr id="58" name="Shape 56"/>
          <p:cNvSpPr/>
          <p:nvPr/>
        </p:nvSpPr>
        <p:spPr>
          <a:xfrm>
            <a:off x="5038344" y="1792224"/>
            <a:ext cx="402336" cy="173736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83480" y="175564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5614416" y="1792224"/>
            <a:ext cx="402336" cy="173736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59552" y="175564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6181344" y="1792224"/>
            <a:ext cx="402336" cy="173736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26480" y="175564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6675120" y="175564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B703"/>
                </a:solidFill>
              </a:rPr>
              <a:t>3</a:t>
            </a:r>
            <a:endParaRPr lang="en-US" sz="800"/>
          </a:p>
        </p:txBody>
      </p:sp>
      <p:sp>
        <p:nvSpPr>
          <p:cNvPr id="65" name="Shape 63"/>
          <p:cNvSpPr/>
          <p:nvPr/>
        </p:nvSpPr>
        <p:spPr>
          <a:xfrm>
            <a:off x="7159752" y="1828800"/>
            <a:ext cx="1691640" cy="91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159752" y="1828800"/>
            <a:ext cx="1691640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732520" y="1755648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>
                <a:solidFill>
                  <a:srgbClr val="06D6A0"/>
                </a:solidFill>
              </a:rPr>
              <a:t>100%</a:t>
            </a:r>
            <a:endParaRPr lang="en-US" sz="700"/>
          </a:p>
        </p:txBody>
      </p:sp>
      <p:sp>
        <p:nvSpPr>
          <p:cNvPr id="68" name="Shape 66"/>
          <p:cNvSpPr/>
          <p:nvPr/>
        </p:nvSpPr>
        <p:spPr>
          <a:xfrm>
            <a:off x="256032" y="2016252"/>
            <a:ext cx="8686800" cy="246888"/>
          </a:xfrm>
          <a:prstGeom prst="rect">
            <a:avLst/>
          </a:prstGeom>
          <a:solidFill>
            <a:srgbClr val="101F30"/>
          </a:solidFill>
          <a:ln w="2540">
            <a:solidFill>
              <a:srgbClr val="1B2A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56032" y="2016252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8899AA"/>
                </a:solidFill>
              </a:rPr>
              <a:t>T04</a:t>
            </a:r>
            <a:endParaRPr lang="en-US" sz="750"/>
          </a:p>
        </p:txBody>
      </p:sp>
      <p:sp>
        <p:nvSpPr>
          <p:cNvPr id="70" name="Text 68"/>
          <p:cNvSpPr/>
          <p:nvPr/>
        </p:nvSpPr>
        <p:spPr>
          <a:xfrm>
            <a:off x="658368" y="2016252"/>
            <a:ext cx="3785616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réservation (UI)</a:t>
            </a:r>
            <a:endParaRPr lang="en-US" sz="800"/>
          </a:p>
        </p:txBody>
      </p:sp>
      <p:sp>
        <p:nvSpPr>
          <p:cNvPr id="71" name="Shape 69"/>
          <p:cNvSpPr/>
          <p:nvPr/>
        </p:nvSpPr>
        <p:spPr>
          <a:xfrm>
            <a:off x="4572000" y="2048256"/>
            <a:ext cx="182880" cy="18288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0" y="20482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RT</a:t>
            </a:r>
            <a:endParaRPr lang="en-US" sz="550"/>
          </a:p>
        </p:txBody>
      </p:sp>
      <p:sp>
        <p:nvSpPr>
          <p:cNvPr id="73" name="Shape 71"/>
          <p:cNvSpPr/>
          <p:nvPr/>
        </p:nvSpPr>
        <p:spPr>
          <a:xfrm>
            <a:off x="5038344" y="2052828"/>
            <a:ext cx="402336" cy="173736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83480" y="2016252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5614416" y="2052828"/>
            <a:ext cx="402336" cy="173736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559552" y="2016252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6181344" y="2052828"/>
            <a:ext cx="402336" cy="173736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26480" y="2016252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6675120" y="201625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B703"/>
                </a:solidFill>
              </a:rPr>
              <a:t>5</a:t>
            </a:r>
            <a:endParaRPr lang="en-US" sz="800"/>
          </a:p>
        </p:txBody>
      </p:sp>
      <p:sp>
        <p:nvSpPr>
          <p:cNvPr id="80" name="Shape 78"/>
          <p:cNvSpPr/>
          <p:nvPr/>
        </p:nvSpPr>
        <p:spPr>
          <a:xfrm>
            <a:off x="7159752" y="2089404"/>
            <a:ext cx="1691640" cy="91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159752" y="2089404"/>
            <a:ext cx="1691640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732520" y="2016252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>
                <a:solidFill>
                  <a:srgbClr val="06D6A0"/>
                </a:solidFill>
              </a:rPr>
              <a:t>100%</a:t>
            </a:r>
            <a:endParaRPr lang="en-US" sz="700"/>
          </a:p>
        </p:txBody>
      </p:sp>
      <p:sp>
        <p:nvSpPr>
          <p:cNvPr id="83" name="Shape 81"/>
          <p:cNvSpPr/>
          <p:nvPr/>
        </p:nvSpPr>
        <p:spPr>
          <a:xfrm>
            <a:off x="256032" y="2276856"/>
            <a:ext cx="8686800" cy="246888"/>
          </a:xfrm>
          <a:prstGeom prst="rect">
            <a:avLst/>
          </a:prstGeom>
          <a:solidFill>
            <a:srgbClr val="0D1B2A"/>
          </a:solidFill>
          <a:ln w="2540">
            <a:solidFill>
              <a:srgbClr val="1B2A4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56032" y="2276856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8899AA"/>
                </a:solidFill>
              </a:rPr>
              <a:t>T05</a:t>
            </a:r>
            <a:endParaRPr lang="en-US" sz="750"/>
          </a:p>
        </p:txBody>
      </p:sp>
      <p:sp>
        <p:nvSpPr>
          <p:cNvPr id="85" name="Text 83"/>
          <p:cNvSpPr/>
          <p:nvPr/>
        </p:nvSpPr>
        <p:spPr>
          <a:xfrm>
            <a:off x="658368" y="2276856"/>
            <a:ext cx="3785616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Anti-conflit backend</a:t>
            </a:r>
            <a:endParaRPr lang="en-US" sz="800"/>
          </a:p>
        </p:txBody>
      </p:sp>
      <p:sp>
        <p:nvSpPr>
          <p:cNvPr id="86" name="Shape 84"/>
          <p:cNvSpPr/>
          <p:nvPr/>
        </p:nvSpPr>
        <p:spPr>
          <a:xfrm>
            <a:off x="4572000" y="2308860"/>
            <a:ext cx="182880" cy="18288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572000" y="23088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FC</a:t>
            </a:r>
            <a:endParaRPr lang="en-US" sz="550"/>
          </a:p>
        </p:txBody>
      </p:sp>
      <p:sp>
        <p:nvSpPr>
          <p:cNvPr id="88" name="Shape 86"/>
          <p:cNvSpPr/>
          <p:nvPr/>
        </p:nvSpPr>
        <p:spPr>
          <a:xfrm>
            <a:off x="5038344" y="2313432"/>
            <a:ext cx="402336" cy="173736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983480" y="2276856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5614416" y="2313432"/>
            <a:ext cx="402336" cy="173736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559552" y="2276856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6181344" y="2313432"/>
            <a:ext cx="402336" cy="173736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126480" y="2276856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94" name="Text 92"/>
          <p:cNvSpPr/>
          <p:nvPr/>
        </p:nvSpPr>
        <p:spPr>
          <a:xfrm>
            <a:off x="6675120" y="227685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B703"/>
                </a:solidFill>
              </a:rPr>
              <a:t>8</a:t>
            </a:r>
            <a:endParaRPr lang="en-US" sz="800"/>
          </a:p>
        </p:txBody>
      </p:sp>
      <p:sp>
        <p:nvSpPr>
          <p:cNvPr id="95" name="Shape 93"/>
          <p:cNvSpPr/>
          <p:nvPr/>
        </p:nvSpPr>
        <p:spPr>
          <a:xfrm>
            <a:off x="7159752" y="2350008"/>
            <a:ext cx="1691640" cy="91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159752" y="2350008"/>
            <a:ext cx="1691640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732520" y="227685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>
                <a:solidFill>
                  <a:srgbClr val="06D6A0"/>
                </a:solidFill>
              </a:rPr>
              <a:t>100%</a:t>
            </a:r>
            <a:endParaRPr lang="en-US" sz="700"/>
          </a:p>
        </p:txBody>
      </p:sp>
      <p:sp>
        <p:nvSpPr>
          <p:cNvPr id="98" name="Shape 96"/>
          <p:cNvSpPr/>
          <p:nvPr/>
        </p:nvSpPr>
        <p:spPr>
          <a:xfrm>
            <a:off x="256032" y="2537460"/>
            <a:ext cx="8686800" cy="246888"/>
          </a:xfrm>
          <a:prstGeom prst="rect">
            <a:avLst/>
          </a:prstGeom>
          <a:solidFill>
            <a:srgbClr val="101F30"/>
          </a:solidFill>
          <a:ln w="2540">
            <a:solidFill>
              <a:srgbClr val="1B2A4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56032" y="253746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8899AA"/>
                </a:solidFill>
              </a:rPr>
              <a:t>T06</a:t>
            </a:r>
            <a:endParaRPr lang="en-US" sz="750"/>
          </a:p>
        </p:txBody>
      </p:sp>
      <p:sp>
        <p:nvSpPr>
          <p:cNvPr id="100" name="Text 98"/>
          <p:cNvSpPr/>
          <p:nvPr/>
        </p:nvSpPr>
        <p:spPr>
          <a:xfrm>
            <a:off x="658368" y="2537460"/>
            <a:ext cx="3785616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réservation</a:t>
            </a:r>
            <a:endParaRPr lang="en-US" sz="800"/>
          </a:p>
        </p:txBody>
      </p:sp>
      <p:sp>
        <p:nvSpPr>
          <p:cNvPr id="101" name="Shape 99"/>
          <p:cNvSpPr/>
          <p:nvPr/>
        </p:nvSpPr>
        <p:spPr>
          <a:xfrm>
            <a:off x="4572000" y="2569464"/>
            <a:ext cx="182880" cy="18288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572000" y="25694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RT</a:t>
            </a:r>
            <a:endParaRPr lang="en-US" sz="550"/>
          </a:p>
        </p:txBody>
      </p:sp>
      <p:sp>
        <p:nvSpPr>
          <p:cNvPr id="103" name="Shape 101"/>
          <p:cNvSpPr/>
          <p:nvPr/>
        </p:nvSpPr>
        <p:spPr>
          <a:xfrm>
            <a:off x="5038344" y="2574036"/>
            <a:ext cx="402336" cy="173736"/>
          </a:xfrm>
          <a:prstGeom prst="rect">
            <a:avLst/>
          </a:prstGeom>
          <a:solidFill>
            <a:srgbClr val="FFB703">
              <a:alpha val="5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983480" y="2537460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105" name="Shape 103"/>
          <p:cNvSpPr/>
          <p:nvPr/>
        </p:nvSpPr>
        <p:spPr>
          <a:xfrm>
            <a:off x="5614416" y="2574036"/>
            <a:ext cx="402336" cy="173736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559552" y="2537460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107" name="Shape 105"/>
          <p:cNvSpPr/>
          <p:nvPr/>
        </p:nvSpPr>
        <p:spPr>
          <a:xfrm>
            <a:off x="6181344" y="2574036"/>
            <a:ext cx="402336" cy="173736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126480" y="2537460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109" name="Text 107"/>
          <p:cNvSpPr/>
          <p:nvPr/>
        </p:nvSpPr>
        <p:spPr>
          <a:xfrm>
            <a:off x="6675120" y="2537460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B703"/>
                </a:solidFill>
              </a:rPr>
              <a:t>5</a:t>
            </a:r>
            <a:endParaRPr lang="en-US" sz="800"/>
          </a:p>
        </p:txBody>
      </p:sp>
      <p:sp>
        <p:nvSpPr>
          <p:cNvPr id="110" name="Shape 108"/>
          <p:cNvSpPr/>
          <p:nvPr/>
        </p:nvSpPr>
        <p:spPr>
          <a:xfrm>
            <a:off x="7159752" y="2610612"/>
            <a:ext cx="1691640" cy="91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159752" y="2610612"/>
            <a:ext cx="1691640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732520" y="2537460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>
                <a:solidFill>
                  <a:srgbClr val="06D6A0"/>
                </a:solidFill>
              </a:rPr>
              <a:t>100%</a:t>
            </a:r>
            <a:endParaRPr lang="en-US" sz="700"/>
          </a:p>
        </p:txBody>
      </p:sp>
      <p:sp>
        <p:nvSpPr>
          <p:cNvPr id="113" name="Shape 111"/>
          <p:cNvSpPr/>
          <p:nvPr/>
        </p:nvSpPr>
        <p:spPr>
          <a:xfrm>
            <a:off x="256032" y="2798064"/>
            <a:ext cx="8686800" cy="246888"/>
          </a:xfrm>
          <a:prstGeom prst="rect">
            <a:avLst/>
          </a:prstGeom>
          <a:solidFill>
            <a:srgbClr val="0D1B2A"/>
          </a:solidFill>
          <a:ln w="2540">
            <a:solidFill>
              <a:srgbClr val="1B2A4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56032" y="2798064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8899AA"/>
                </a:solidFill>
              </a:rPr>
              <a:t>T07</a:t>
            </a:r>
            <a:endParaRPr lang="en-US" sz="750"/>
          </a:p>
        </p:txBody>
      </p:sp>
      <p:sp>
        <p:nvSpPr>
          <p:cNvPr id="115" name="Text 113"/>
          <p:cNvSpPr/>
          <p:nvPr/>
        </p:nvSpPr>
        <p:spPr>
          <a:xfrm>
            <a:off x="658368" y="2798064"/>
            <a:ext cx="3785616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Annulation + motif</a:t>
            </a:r>
            <a:endParaRPr lang="en-US" sz="800"/>
          </a:p>
        </p:txBody>
      </p:sp>
      <p:sp>
        <p:nvSpPr>
          <p:cNvPr id="116" name="Shape 114"/>
          <p:cNvSpPr/>
          <p:nvPr/>
        </p:nvSpPr>
        <p:spPr>
          <a:xfrm>
            <a:off x="4572000" y="2830068"/>
            <a:ext cx="182880" cy="18288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572000" y="28300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FC</a:t>
            </a:r>
            <a:endParaRPr lang="en-US" sz="550"/>
          </a:p>
        </p:txBody>
      </p:sp>
      <p:sp>
        <p:nvSpPr>
          <p:cNvPr id="118" name="Shape 116"/>
          <p:cNvSpPr/>
          <p:nvPr/>
        </p:nvSpPr>
        <p:spPr>
          <a:xfrm>
            <a:off x="5038344" y="2834640"/>
            <a:ext cx="402336" cy="173736"/>
          </a:xfrm>
          <a:prstGeom prst="rect">
            <a:avLst/>
          </a:prstGeom>
          <a:solidFill>
            <a:srgbClr val="2D3A52">
              <a:alpha val="30000"/>
            </a:srgbClr>
          </a:solidFill>
          <a:ln w="12700">
            <a:solidFill>
              <a:srgbClr val="2D3A52">
                <a:alpha val="0"/>
              </a:srgbClr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983480" y="2798064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</a:rPr>
              <a:t>–</a:t>
            </a:r>
            <a:endParaRPr lang="en-US" sz="800"/>
          </a:p>
        </p:txBody>
      </p:sp>
      <p:sp>
        <p:nvSpPr>
          <p:cNvPr id="120" name="Shape 118"/>
          <p:cNvSpPr/>
          <p:nvPr/>
        </p:nvSpPr>
        <p:spPr>
          <a:xfrm>
            <a:off x="5614416" y="2834640"/>
            <a:ext cx="402336" cy="173736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559552" y="2798064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122" name="Shape 120"/>
          <p:cNvSpPr/>
          <p:nvPr/>
        </p:nvSpPr>
        <p:spPr>
          <a:xfrm>
            <a:off x="6181344" y="2834640"/>
            <a:ext cx="402336" cy="173736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126480" y="2798064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124" name="Text 122"/>
          <p:cNvSpPr/>
          <p:nvPr/>
        </p:nvSpPr>
        <p:spPr>
          <a:xfrm>
            <a:off x="6675120" y="2798064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B703"/>
                </a:solidFill>
              </a:rPr>
              <a:t>3</a:t>
            </a:r>
            <a:endParaRPr lang="en-US" sz="800"/>
          </a:p>
        </p:txBody>
      </p:sp>
      <p:sp>
        <p:nvSpPr>
          <p:cNvPr id="125" name="Shape 123"/>
          <p:cNvSpPr/>
          <p:nvPr/>
        </p:nvSpPr>
        <p:spPr>
          <a:xfrm>
            <a:off x="7159752" y="2871216"/>
            <a:ext cx="1691640" cy="91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159752" y="2871216"/>
            <a:ext cx="1691640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732520" y="2798064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>
                <a:solidFill>
                  <a:srgbClr val="06D6A0"/>
                </a:solidFill>
              </a:rPr>
              <a:t>100%</a:t>
            </a:r>
            <a:endParaRPr lang="en-US" sz="700"/>
          </a:p>
        </p:txBody>
      </p:sp>
      <p:sp>
        <p:nvSpPr>
          <p:cNvPr id="128" name="Shape 126"/>
          <p:cNvSpPr/>
          <p:nvPr/>
        </p:nvSpPr>
        <p:spPr>
          <a:xfrm>
            <a:off x="256032" y="3058668"/>
            <a:ext cx="8686800" cy="246888"/>
          </a:xfrm>
          <a:prstGeom prst="rect">
            <a:avLst/>
          </a:prstGeom>
          <a:solidFill>
            <a:srgbClr val="101F30"/>
          </a:solidFill>
          <a:ln w="2540">
            <a:solidFill>
              <a:srgbClr val="1B2A4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56032" y="3058668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8899AA"/>
                </a:solidFill>
              </a:rPr>
              <a:t>T08</a:t>
            </a:r>
            <a:endParaRPr lang="en-US" sz="750"/>
          </a:p>
        </p:txBody>
      </p:sp>
      <p:sp>
        <p:nvSpPr>
          <p:cNvPr id="130" name="Text 128"/>
          <p:cNvSpPr/>
          <p:nvPr/>
        </p:nvSpPr>
        <p:spPr>
          <a:xfrm>
            <a:off x="658368" y="3058668"/>
            <a:ext cx="3785616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admin CRUD</a:t>
            </a:r>
            <a:endParaRPr lang="en-US" sz="800"/>
          </a:p>
        </p:txBody>
      </p:sp>
      <p:sp>
        <p:nvSpPr>
          <p:cNvPr id="131" name="Shape 129"/>
          <p:cNvSpPr/>
          <p:nvPr/>
        </p:nvSpPr>
        <p:spPr>
          <a:xfrm>
            <a:off x="4572000" y="3090672"/>
            <a:ext cx="182880" cy="18288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4572000" y="30906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RT</a:t>
            </a:r>
            <a:endParaRPr lang="en-US" sz="550"/>
          </a:p>
        </p:txBody>
      </p:sp>
      <p:sp>
        <p:nvSpPr>
          <p:cNvPr id="133" name="Shape 131"/>
          <p:cNvSpPr/>
          <p:nvPr/>
        </p:nvSpPr>
        <p:spPr>
          <a:xfrm>
            <a:off x="5038344" y="3095244"/>
            <a:ext cx="402336" cy="173736"/>
          </a:xfrm>
          <a:prstGeom prst="rect">
            <a:avLst/>
          </a:prstGeom>
          <a:solidFill>
            <a:srgbClr val="2D3A52">
              <a:alpha val="30000"/>
            </a:srgbClr>
          </a:solidFill>
          <a:ln w="12700">
            <a:solidFill>
              <a:srgbClr val="2D3A52">
                <a:alpha val="0"/>
              </a:srgbClr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983480" y="30586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</a:rPr>
              <a:t>–</a:t>
            </a:r>
            <a:endParaRPr lang="en-US" sz="800"/>
          </a:p>
        </p:txBody>
      </p:sp>
      <p:sp>
        <p:nvSpPr>
          <p:cNvPr id="135" name="Shape 133"/>
          <p:cNvSpPr/>
          <p:nvPr/>
        </p:nvSpPr>
        <p:spPr>
          <a:xfrm>
            <a:off x="5614416" y="3095244"/>
            <a:ext cx="402336" cy="173736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5559552" y="30586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137" name="Shape 135"/>
          <p:cNvSpPr/>
          <p:nvPr/>
        </p:nvSpPr>
        <p:spPr>
          <a:xfrm>
            <a:off x="6181344" y="3095244"/>
            <a:ext cx="402336" cy="173736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126480" y="30586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139" name="Text 137"/>
          <p:cNvSpPr/>
          <p:nvPr/>
        </p:nvSpPr>
        <p:spPr>
          <a:xfrm>
            <a:off x="6675120" y="30586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B703"/>
                </a:solidFill>
              </a:rPr>
              <a:t>8</a:t>
            </a:r>
            <a:endParaRPr lang="en-US" sz="800"/>
          </a:p>
        </p:txBody>
      </p:sp>
      <p:sp>
        <p:nvSpPr>
          <p:cNvPr id="140" name="Shape 138"/>
          <p:cNvSpPr/>
          <p:nvPr/>
        </p:nvSpPr>
        <p:spPr>
          <a:xfrm>
            <a:off x="7159752" y="3131820"/>
            <a:ext cx="1691640" cy="91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159752" y="3131820"/>
            <a:ext cx="1691640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732520" y="3058668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>
                <a:solidFill>
                  <a:srgbClr val="06D6A0"/>
                </a:solidFill>
              </a:rPr>
              <a:t>100%</a:t>
            </a:r>
            <a:endParaRPr lang="en-US" sz="700"/>
          </a:p>
        </p:txBody>
      </p:sp>
      <p:sp>
        <p:nvSpPr>
          <p:cNvPr id="143" name="Shape 141"/>
          <p:cNvSpPr/>
          <p:nvPr/>
        </p:nvSpPr>
        <p:spPr>
          <a:xfrm>
            <a:off x="256032" y="3319272"/>
            <a:ext cx="8686800" cy="246888"/>
          </a:xfrm>
          <a:prstGeom prst="rect">
            <a:avLst/>
          </a:prstGeom>
          <a:solidFill>
            <a:srgbClr val="0D1B2A"/>
          </a:solidFill>
          <a:ln w="2540">
            <a:solidFill>
              <a:srgbClr val="1B2A4A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256032" y="3319272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8899AA"/>
                </a:solidFill>
              </a:rPr>
              <a:t>T09</a:t>
            </a:r>
            <a:endParaRPr lang="en-US" sz="750"/>
          </a:p>
        </p:txBody>
      </p:sp>
      <p:sp>
        <p:nvSpPr>
          <p:cNvPr id="145" name="Text 143"/>
          <p:cNvSpPr/>
          <p:nvPr/>
        </p:nvSpPr>
        <p:spPr>
          <a:xfrm>
            <a:off x="658368" y="3319272"/>
            <a:ext cx="3785616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sombre + vue ressource</a:t>
            </a:r>
            <a:endParaRPr lang="en-US" sz="800"/>
          </a:p>
        </p:txBody>
      </p:sp>
      <p:sp>
        <p:nvSpPr>
          <p:cNvPr id="146" name="Shape 144"/>
          <p:cNvSpPr/>
          <p:nvPr/>
        </p:nvSpPr>
        <p:spPr>
          <a:xfrm>
            <a:off x="4572000" y="3351276"/>
            <a:ext cx="182880" cy="18288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>
                <a:alpha val="0"/>
              </a:srgbClr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4572000" y="33512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SO</a:t>
            </a:r>
            <a:endParaRPr lang="en-US" sz="550"/>
          </a:p>
        </p:txBody>
      </p:sp>
      <p:sp>
        <p:nvSpPr>
          <p:cNvPr id="148" name="Shape 146"/>
          <p:cNvSpPr/>
          <p:nvPr/>
        </p:nvSpPr>
        <p:spPr>
          <a:xfrm>
            <a:off x="5038344" y="3355848"/>
            <a:ext cx="402336" cy="173736"/>
          </a:xfrm>
          <a:prstGeom prst="rect">
            <a:avLst/>
          </a:prstGeom>
          <a:solidFill>
            <a:srgbClr val="2D3A52">
              <a:alpha val="30000"/>
            </a:srgbClr>
          </a:solidFill>
          <a:ln w="12700">
            <a:solidFill>
              <a:srgbClr val="2D3A52">
                <a:alpha val="0"/>
              </a:srgbClr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983480" y="3319272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</a:rPr>
              <a:t>–</a:t>
            </a:r>
            <a:endParaRPr lang="en-US" sz="800"/>
          </a:p>
        </p:txBody>
      </p:sp>
      <p:sp>
        <p:nvSpPr>
          <p:cNvPr id="150" name="Shape 148"/>
          <p:cNvSpPr/>
          <p:nvPr/>
        </p:nvSpPr>
        <p:spPr>
          <a:xfrm>
            <a:off x="5614416" y="3355848"/>
            <a:ext cx="402336" cy="173736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5559552" y="3319272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152" name="Shape 150"/>
          <p:cNvSpPr/>
          <p:nvPr/>
        </p:nvSpPr>
        <p:spPr>
          <a:xfrm>
            <a:off x="6181344" y="3355848"/>
            <a:ext cx="402336" cy="173736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6126480" y="3319272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154" name="Text 152"/>
          <p:cNvSpPr/>
          <p:nvPr/>
        </p:nvSpPr>
        <p:spPr>
          <a:xfrm>
            <a:off x="6675120" y="331927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B703"/>
                </a:solidFill>
              </a:rPr>
              <a:t>6</a:t>
            </a:r>
            <a:endParaRPr lang="en-US" sz="800"/>
          </a:p>
        </p:txBody>
      </p:sp>
      <p:sp>
        <p:nvSpPr>
          <p:cNvPr id="155" name="Shape 153"/>
          <p:cNvSpPr/>
          <p:nvPr/>
        </p:nvSpPr>
        <p:spPr>
          <a:xfrm>
            <a:off x="7159752" y="3392424"/>
            <a:ext cx="1691640" cy="91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159752" y="3392424"/>
            <a:ext cx="1691640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8732520" y="3319272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>
                <a:solidFill>
                  <a:srgbClr val="06D6A0"/>
                </a:solidFill>
              </a:rPr>
              <a:t>100%</a:t>
            </a:r>
            <a:endParaRPr lang="en-US" sz="700"/>
          </a:p>
        </p:txBody>
      </p:sp>
      <p:sp>
        <p:nvSpPr>
          <p:cNvPr id="158" name="Shape 156"/>
          <p:cNvSpPr/>
          <p:nvPr/>
        </p:nvSpPr>
        <p:spPr>
          <a:xfrm>
            <a:off x="256032" y="3579876"/>
            <a:ext cx="8686800" cy="246888"/>
          </a:xfrm>
          <a:prstGeom prst="rect">
            <a:avLst/>
          </a:prstGeom>
          <a:solidFill>
            <a:srgbClr val="101F30"/>
          </a:solidFill>
          <a:ln w="2540">
            <a:solidFill>
              <a:srgbClr val="1B2A4A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256032" y="3579876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8899AA"/>
                </a:solidFill>
              </a:rPr>
              <a:t>T10</a:t>
            </a:r>
            <a:endParaRPr lang="en-US" sz="750"/>
          </a:p>
        </p:txBody>
      </p:sp>
      <p:sp>
        <p:nvSpPr>
          <p:cNvPr id="160" name="Text 158"/>
          <p:cNvSpPr/>
          <p:nvPr/>
        </p:nvSpPr>
        <p:spPr>
          <a:xfrm>
            <a:off x="658368" y="3579876"/>
            <a:ext cx="3785616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conflits &amp; alertes</a:t>
            </a:r>
            <a:endParaRPr lang="en-US" sz="800"/>
          </a:p>
        </p:txBody>
      </p:sp>
      <p:sp>
        <p:nvSpPr>
          <p:cNvPr id="161" name="Shape 159"/>
          <p:cNvSpPr/>
          <p:nvPr/>
        </p:nvSpPr>
        <p:spPr>
          <a:xfrm>
            <a:off x="4572000" y="3611880"/>
            <a:ext cx="182880" cy="18288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4572000" y="36118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FC</a:t>
            </a:r>
            <a:endParaRPr lang="en-US" sz="550"/>
          </a:p>
        </p:txBody>
      </p:sp>
      <p:sp>
        <p:nvSpPr>
          <p:cNvPr id="163" name="Shape 161"/>
          <p:cNvSpPr/>
          <p:nvPr/>
        </p:nvSpPr>
        <p:spPr>
          <a:xfrm>
            <a:off x="5038344" y="3616452"/>
            <a:ext cx="402336" cy="173736"/>
          </a:xfrm>
          <a:prstGeom prst="rect">
            <a:avLst/>
          </a:prstGeom>
          <a:solidFill>
            <a:srgbClr val="2D3A52">
              <a:alpha val="30000"/>
            </a:srgbClr>
          </a:solidFill>
          <a:ln w="12700">
            <a:solidFill>
              <a:srgbClr val="2D3A52">
                <a:alpha val="0"/>
              </a:srgbClr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4983480" y="3579876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</a:rPr>
              <a:t>–</a:t>
            </a:r>
            <a:endParaRPr lang="en-US" sz="800"/>
          </a:p>
        </p:txBody>
      </p:sp>
      <p:sp>
        <p:nvSpPr>
          <p:cNvPr id="165" name="Shape 163"/>
          <p:cNvSpPr/>
          <p:nvPr/>
        </p:nvSpPr>
        <p:spPr>
          <a:xfrm>
            <a:off x="5614416" y="3616452"/>
            <a:ext cx="402336" cy="173736"/>
          </a:xfrm>
          <a:prstGeom prst="rect">
            <a:avLst/>
          </a:prstGeom>
          <a:solidFill>
            <a:srgbClr val="2D3A52">
              <a:alpha val="30000"/>
            </a:srgbClr>
          </a:solidFill>
          <a:ln w="12700">
            <a:solidFill>
              <a:srgbClr val="2D3A52">
                <a:alpha val="0"/>
              </a:srgbClr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5559552" y="3579876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</a:rPr>
              <a:t>–</a:t>
            </a:r>
            <a:endParaRPr lang="en-US" sz="800"/>
          </a:p>
        </p:txBody>
      </p:sp>
      <p:sp>
        <p:nvSpPr>
          <p:cNvPr id="167" name="Shape 165"/>
          <p:cNvSpPr/>
          <p:nvPr/>
        </p:nvSpPr>
        <p:spPr>
          <a:xfrm>
            <a:off x="6181344" y="3616452"/>
            <a:ext cx="402336" cy="173736"/>
          </a:xfrm>
          <a:prstGeom prst="rect">
            <a:avLst/>
          </a:prstGeom>
          <a:solidFill>
            <a:srgbClr val="00C6FF">
              <a:alpha val="50000"/>
            </a:srgbClr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6126480" y="3579876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169" name="Text 167"/>
          <p:cNvSpPr/>
          <p:nvPr/>
        </p:nvSpPr>
        <p:spPr>
          <a:xfrm>
            <a:off x="6675120" y="357987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B703"/>
                </a:solidFill>
              </a:rPr>
              <a:t>8</a:t>
            </a:r>
            <a:endParaRPr lang="en-US" sz="800"/>
          </a:p>
        </p:txBody>
      </p:sp>
      <p:sp>
        <p:nvSpPr>
          <p:cNvPr id="170" name="Shape 168"/>
          <p:cNvSpPr/>
          <p:nvPr/>
        </p:nvSpPr>
        <p:spPr>
          <a:xfrm>
            <a:off x="7159752" y="3653028"/>
            <a:ext cx="1691640" cy="91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159752" y="3653028"/>
            <a:ext cx="1268730" cy="914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8732520" y="357987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>
                <a:solidFill>
                  <a:srgbClr val="FFB703"/>
                </a:solidFill>
              </a:rPr>
              <a:t>75%</a:t>
            </a:r>
            <a:endParaRPr lang="en-US" sz="700"/>
          </a:p>
        </p:txBody>
      </p:sp>
      <p:sp>
        <p:nvSpPr>
          <p:cNvPr id="173" name="Shape 171"/>
          <p:cNvSpPr/>
          <p:nvPr/>
        </p:nvSpPr>
        <p:spPr>
          <a:xfrm>
            <a:off x="256032" y="3840480"/>
            <a:ext cx="8686800" cy="246888"/>
          </a:xfrm>
          <a:prstGeom prst="rect">
            <a:avLst/>
          </a:prstGeom>
          <a:solidFill>
            <a:srgbClr val="0D1B2A"/>
          </a:solidFill>
          <a:ln w="2540">
            <a:solidFill>
              <a:srgbClr val="1B2A4A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256032" y="384048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8899AA"/>
                </a:solidFill>
              </a:rPr>
              <a:t>T11</a:t>
            </a:r>
            <a:endParaRPr lang="en-US" sz="750"/>
          </a:p>
        </p:txBody>
      </p:sp>
      <p:sp>
        <p:nvSpPr>
          <p:cNvPr id="175" name="Text 173"/>
          <p:cNvSpPr/>
          <p:nvPr/>
        </p:nvSpPr>
        <p:spPr>
          <a:xfrm>
            <a:off x="658368" y="3840480"/>
            <a:ext cx="3785616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analytics temps réel</a:t>
            </a:r>
            <a:endParaRPr lang="en-US" sz="800"/>
          </a:p>
        </p:txBody>
      </p:sp>
      <p:sp>
        <p:nvSpPr>
          <p:cNvPr id="176" name="Shape 174"/>
          <p:cNvSpPr/>
          <p:nvPr/>
        </p:nvSpPr>
        <p:spPr>
          <a:xfrm>
            <a:off x="4572000" y="3872484"/>
            <a:ext cx="182880" cy="18288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4572000" y="38724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RT</a:t>
            </a:r>
            <a:endParaRPr lang="en-US" sz="550"/>
          </a:p>
        </p:txBody>
      </p:sp>
      <p:sp>
        <p:nvSpPr>
          <p:cNvPr id="178" name="Shape 176"/>
          <p:cNvSpPr/>
          <p:nvPr/>
        </p:nvSpPr>
        <p:spPr>
          <a:xfrm>
            <a:off x="5038344" y="3877056"/>
            <a:ext cx="402336" cy="173736"/>
          </a:xfrm>
          <a:prstGeom prst="rect">
            <a:avLst/>
          </a:prstGeom>
          <a:solidFill>
            <a:srgbClr val="2D3A52">
              <a:alpha val="30000"/>
            </a:srgbClr>
          </a:solidFill>
          <a:ln w="12700">
            <a:solidFill>
              <a:srgbClr val="2D3A52">
                <a:alpha val="0"/>
              </a:srgbClr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4983480" y="3840480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</a:rPr>
              <a:t>–</a:t>
            </a:r>
            <a:endParaRPr lang="en-US" sz="800"/>
          </a:p>
        </p:txBody>
      </p:sp>
      <p:sp>
        <p:nvSpPr>
          <p:cNvPr id="180" name="Shape 178"/>
          <p:cNvSpPr/>
          <p:nvPr/>
        </p:nvSpPr>
        <p:spPr>
          <a:xfrm>
            <a:off x="5614416" y="3877056"/>
            <a:ext cx="402336" cy="173736"/>
          </a:xfrm>
          <a:prstGeom prst="rect">
            <a:avLst/>
          </a:prstGeom>
          <a:solidFill>
            <a:srgbClr val="2D3A52">
              <a:alpha val="30000"/>
            </a:srgbClr>
          </a:solidFill>
          <a:ln w="12700">
            <a:solidFill>
              <a:srgbClr val="2D3A52">
                <a:alpha val="0"/>
              </a:srgbClr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5559552" y="3840480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</a:rPr>
              <a:t>–</a:t>
            </a:r>
            <a:endParaRPr lang="en-US" sz="800"/>
          </a:p>
        </p:txBody>
      </p:sp>
      <p:sp>
        <p:nvSpPr>
          <p:cNvPr id="182" name="Shape 180"/>
          <p:cNvSpPr/>
          <p:nvPr/>
        </p:nvSpPr>
        <p:spPr>
          <a:xfrm>
            <a:off x="6181344" y="3877056"/>
            <a:ext cx="402336" cy="173736"/>
          </a:xfrm>
          <a:prstGeom prst="rect">
            <a:avLst/>
          </a:prstGeom>
          <a:solidFill>
            <a:srgbClr val="FFB703">
              <a:alpha val="5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6126480" y="3840480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184" name="Text 182"/>
          <p:cNvSpPr/>
          <p:nvPr/>
        </p:nvSpPr>
        <p:spPr>
          <a:xfrm>
            <a:off x="6675120" y="3840480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B703"/>
                </a:solidFill>
              </a:rPr>
              <a:t>5</a:t>
            </a:r>
            <a:endParaRPr lang="en-US" sz="800"/>
          </a:p>
        </p:txBody>
      </p:sp>
      <p:sp>
        <p:nvSpPr>
          <p:cNvPr id="185" name="Shape 183"/>
          <p:cNvSpPr/>
          <p:nvPr/>
        </p:nvSpPr>
        <p:spPr>
          <a:xfrm>
            <a:off x="7159752" y="3913632"/>
            <a:ext cx="1691640" cy="91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159752" y="3913632"/>
            <a:ext cx="1268730" cy="914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8732520" y="3840480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>
                <a:solidFill>
                  <a:srgbClr val="FFB703"/>
                </a:solidFill>
              </a:rPr>
              <a:t>75%</a:t>
            </a:r>
            <a:endParaRPr lang="en-US" sz="700"/>
          </a:p>
        </p:txBody>
      </p:sp>
      <p:sp>
        <p:nvSpPr>
          <p:cNvPr id="188" name="Shape 186"/>
          <p:cNvSpPr/>
          <p:nvPr/>
        </p:nvSpPr>
        <p:spPr>
          <a:xfrm>
            <a:off x="256032" y="4101084"/>
            <a:ext cx="8686800" cy="246888"/>
          </a:xfrm>
          <a:prstGeom prst="rect">
            <a:avLst/>
          </a:prstGeom>
          <a:solidFill>
            <a:srgbClr val="101F30"/>
          </a:solidFill>
          <a:ln w="2540">
            <a:solidFill>
              <a:srgbClr val="1B2A4A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256032" y="4101084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8899AA"/>
                </a:solidFill>
              </a:rPr>
              <a:t>T12</a:t>
            </a:r>
            <a:endParaRPr lang="en-US" sz="750"/>
          </a:p>
        </p:txBody>
      </p:sp>
      <p:sp>
        <p:nvSpPr>
          <p:cNvPr id="190" name="Text 188"/>
          <p:cNvSpPr/>
          <p:nvPr/>
        </p:nvSpPr>
        <p:spPr>
          <a:xfrm>
            <a:off x="658368" y="4101084"/>
            <a:ext cx="3785616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PDF exportables</a:t>
            </a:r>
            <a:endParaRPr lang="en-US" sz="800"/>
          </a:p>
        </p:txBody>
      </p:sp>
      <p:sp>
        <p:nvSpPr>
          <p:cNvPr id="191" name="Shape 189"/>
          <p:cNvSpPr/>
          <p:nvPr/>
        </p:nvSpPr>
        <p:spPr>
          <a:xfrm>
            <a:off x="4572000" y="4133088"/>
            <a:ext cx="182880" cy="18288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4572000" y="41330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RT</a:t>
            </a:r>
            <a:endParaRPr lang="en-US" sz="550"/>
          </a:p>
        </p:txBody>
      </p:sp>
      <p:sp>
        <p:nvSpPr>
          <p:cNvPr id="193" name="Shape 191"/>
          <p:cNvSpPr/>
          <p:nvPr/>
        </p:nvSpPr>
        <p:spPr>
          <a:xfrm>
            <a:off x="5038344" y="4137660"/>
            <a:ext cx="402336" cy="173736"/>
          </a:xfrm>
          <a:prstGeom prst="rect">
            <a:avLst/>
          </a:prstGeom>
          <a:solidFill>
            <a:srgbClr val="2D3A52">
              <a:alpha val="30000"/>
            </a:srgbClr>
          </a:solidFill>
          <a:ln w="12700">
            <a:solidFill>
              <a:srgbClr val="2D3A52">
                <a:alpha val="0"/>
              </a:srgbClr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4983480" y="4101084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</a:rPr>
              <a:t>–</a:t>
            </a:r>
            <a:endParaRPr lang="en-US" sz="800"/>
          </a:p>
        </p:txBody>
      </p:sp>
      <p:sp>
        <p:nvSpPr>
          <p:cNvPr id="195" name="Shape 193"/>
          <p:cNvSpPr/>
          <p:nvPr/>
        </p:nvSpPr>
        <p:spPr>
          <a:xfrm>
            <a:off x="5614416" y="4137660"/>
            <a:ext cx="402336" cy="173736"/>
          </a:xfrm>
          <a:prstGeom prst="rect">
            <a:avLst/>
          </a:prstGeom>
          <a:solidFill>
            <a:srgbClr val="2D3A52">
              <a:alpha val="30000"/>
            </a:srgbClr>
          </a:solidFill>
          <a:ln w="12700">
            <a:solidFill>
              <a:srgbClr val="2D3A52">
                <a:alpha val="0"/>
              </a:srgbClr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5559552" y="4101084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</a:rPr>
              <a:t>–</a:t>
            </a:r>
            <a:endParaRPr lang="en-US" sz="800"/>
          </a:p>
        </p:txBody>
      </p:sp>
      <p:sp>
        <p:nvSpPr>
          <p:cNvPr id="197" name="Shape 195"/>
          <p:cNvSpPr/>
          <p:nvPr/>
        </p:nvSpPr>
        <p:spPr>
          <a:xfrm>
            <a:off x="6181344" y="4137660"/>
            <a:ext cx="402336" cy="173736"/>
          </a:xfrm>
          <a:prstGeom prst="rect">
            <a:avLst/>
          </a:prstGeom>
          <a:solidFill>
            <a:srgbClr val="00C6FF">
              <a:alpha val="50000"/>
            </a:srgbClr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6126480" y="4101084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199" name="Text 197"/>
          <p:cNvSpPr/>
          <p:nvPr/>
        </p:nvSpPr>
        <p:spPr>
          <a:xfrm>
            <a:off x="6675120" y="4101084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B703"/>
                </a:solidFill>
              </a:rPr>
              <a:t>5</a:t>
            </a:r>
            <a:endParaRPr lang="en-US" sz="800"/>
          </a:p>
        </p:txBody>
      </p:sp>
      <p:sp>
        <p:nvSpPr>
          <p:cNvPr id="200" name="Shape 198"/>
          <p:cNvSpPr/>
          <p:nvPr/>
        </p:nvSpPr>
        <p:spPr>
          <a:xfrm>
            <a:off x="7159752" y="4174236"/>
            <a:ext cx="1691640" cy="91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159752" y="4174236"/>
            <a:ext cx="1522476" cy="914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8732520" y="4101084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>
                <a:solidFill>
                  <a:srgbClr val="FFB703"/>
                </a:solidFill>
              </a:rPr>
              <a:t>90%</a:t>
            </a:r>
            <a:endParaRPr lang="en-US" sz="700"/>
          </a:p>
        </p:txBody>
      </p:sp>
      <p:sp>
        <p:nvSpPr>
          <p:cNvPr id="203" name="Shape 201"/>
          <p:cNvSpPr/>
          <p:nvPr/>
        </p:nvSpPr>
        <p:spPr>
          <a:xfrm>
            <a:off x="256032" y="4361688"/>
            <a:ext cx="8686800" cy="246888"/>
          </a:xfrm>
          <a:prstGeom prst="rect">
            <a:avLst/>
          </a:prstGeom>
          <a:solidFill>
            <a:srgbClr val="0D1B2A"/>
          </a:solidFill>
          <a:ln w="2540">
            <a:solidFill>
              <a:srgbClr val="1B2A4A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256032" y="4361688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8899AA"/>
                </a:solidFill>
              </a:rPr>
              <a:t>T13</a:t>
            </a:r>
            <a:endParaRPr lang="en-US" sz="750"/>
          </a:p>
        </p:txBody>
      </p:sp>
      <p:sp>
        <p:nvSpPr>
          <p:cNvPr id="205" name="Text 203"/>
          <p:cNvSpPr/>
          <p:nvPr/>
        </p:nvSpPr>
        <p:spPr>
          <a:xfrm>
            <a:off x="658368" y="4361688"/>
            <a:ext cx="3785616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mobile-first UI</a:t>
            </a:r>
            <a:endParaRPr lang="en-US" sz="800"/>
          </a:p>
        </p:txBody>
      </p:sp>
      <p:sp>
        <p:nvSpPr>
          <p:cNvPr id="206" name="Shape 204"/>
          <p:cNvSpPr/>
          <p:nvPr/>
        </p:nvSpPr>
        <p:spPr>
          <a:xfrm>
            <a:off x="4572000" y="4393692"/>
            <a:ext cx="182880" cy="18288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>
                <a:alpha val="0"/>
              </a:srgbClr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4572000" y="43936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SO</a:t>
            </a:r>
            <a:endParaRPr lang="en-US" sz="550"/>
          </a:p>
        </p:txBody>
      </p:sp>
      <p:sp>
        <p:nvSpPr>
          <p:cNvPr id="208" name="Shape 206"/>
          <p:cNvSpPr/>
          <p:nvPr/>
        </p:nvSpPr>
        <p:spPr>
          <a:xfrm>
            <a:off x="5038344" y="4398264"/>
            <a:ext cx="402336" cy="173736"/>
          </a:xfrm>
          <a:prstGeom prst="rect">
            <a:avLst/>
          </a:prstGeom>
          <a:solidFill>
            <a:srgbClr val="2D3A52">
              <a:alpha val="30000"/>
            </a:srgbClr>
          </a:solidFill>
          <a:ln w="12700">
            <a:solidFill>
              <a:srgbClr val="2D3A52">
                <a:alpha val="0"/>
              </a:srgbClr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4983480" y="436168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</a:rPr>
              <a:t>–</a:t>
            </a:r>
            <a:endParaRPr lang="en-US" sz="800"/>
          </a:p>
        </p:txBody>
      </p:sp>
      <p:sp>
        <p:nvSpPr>
          <p:cNvPr id="210" name="Shape 208"/>
          <p:cNvSpPr/>
          <p:nvPr/>
        </p:nvSpPr>
        <p:spPr>
          <a:xfrm>
            <a:off x="5614416" y="4398264"/>
            <a:ext cx="402336" cy="173736"/>
          </a:xfrm>
          <a:prstGeom prst="rect">
            <a:avLst/>
          </a:prstGeom>
          <a:solidFill>
            <a:srgbClr val="FFB703">
              <a:alpha val="5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5559552" y="436168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212" name="Shape 210"/>
          <p:cNvSpPr/>
          <p:nvPr/>
        </p:nvSpPr>
        <p:spPr>
          <a:xfrm>
            <a:off x="6181344" y="4398264"/>
            <a:ext cx="402336" cy="173736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6126480" y="436168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214" name="Text 212"/>
          <p:cNvSpPr/>
          <p:nvPr/>
        </p:nvSpPr>
        <p:spPr>
          <a:xfrm>
            <a:off x="6675120" y="436168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B703"/>
                </a:solidFill>
              </a:rPr>
              <a:t>5</a:t>
            </a:r>
            <a:endParaRPr lang="en-US" sz="800"/>
          </a:p>
        </p:txBody>
      </p:sp>
      <p:sp>
        <p:nvSpPr>
          <p:cNvPr id="215" name="Shape 213"/>
          <p:cNvSpPr/>
          <p:nvPr/>
        </p:nvSpPr>
        <p:spPr>
          <a:xfrm>
            <a:off x="7159752" y="4434840"/>
            <a:ext cx="1691640" cy="91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159752" y="4434840"/>
            <a:ext cx="1691640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8732520" y="4361688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>
                <a:solidFill>
                  <a:srgbClr val="06D6A0"/>
                </a:solidFill>
              </a:rPr>
              <a:t>100%</a:t>
            </a:r>
            <a:endParaRPr lang="en-US" sz="700"/>
          </a:p>
        </p:txBody>
      </p:sp>
      <p:sp>
        <p:nvSpPr>
          <p:cNvPr id="218" name="Shape 216"/>
          <p:cNvSpPr/>
          <p:nvPr/>
        </p:nvSpPr>
        <p:spPr>
          <a:xfrm>
            <a:off x="256032" y="4622292"/>
            <a:ext cx="8686800" cy="246888"/>
          </a:xfrm>
          <a:prstGeom prst="rect">
            <a:avLst/>
          </a:prstGeom>
          <a:solidFill>
            <a:srgbClr val="101F30"/>
          </a:solidFill>
          <a:ln w="2540">
            <a:solidFill>
              <a:srgbClr val="1B2A4A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256032" y="4622292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8899AA"/>
                </a:solidFill>
              </a:rPr>
              <a:t>T14</a:t>
            </a:r>
            <a:endParaRPr lang="en-US" sz="750"/>
          </a:p>
        </p:txBody>
      </p:sp>
      <p:sp>
        <p:nvSpPr>
          <p:cNvPr id="220" name="Text 218"/>
          <p:cNvSpPr/>
          <p:nvPr/>
        </p:nvSpPr>
        <p:spPr>
          <a:xfrm>
            <a:off x="658368" y="4622292"/>
            <a:ext cx="3785616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prédictive conflits</a:t>
            </a:r>
            <a:endParaRPr lang="en-US" sz="800"/>
          </a:p>
        </p:txBody>
      </p:sp>
      <p:sp>
        <p:nvSpPr>
          <p:cNvPr id="221" name="Shape 219"/>
          <p:cNvSpPr/>
          <p:nvPr/>
        </p:nvSpPr>
        <p:spPr>
          <a:xfrm>
            <a:off x="4572000" y="4654296"/>
            <a:ext cx="182880" cy="18288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4572000" y="46542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>
                <a:solidFill>
                  <a:srgbClr val="0A0E1A"/>
                </a:solidFill>
              </a:rPr>
              <a:t>FC</a:t>
            </a:r>
            <a:endParaRPr lang="en-US" sz="550"/>
          </a:p>
        </p:txBody>
      </p:sp>
      <p:sp>
        <p:nvSpPr>
          <p:cNvPr id="223" name="Shape 221"/>
          <p:cNvSpPr/>
          <p:nvPr/>
        </p:nvSpPr>
        <p:spPr>
          <a:xfrm>
            <a:off x="5038344" y="4658868"/>
            <a:ext cx="402336" cy="173736"/>
          </a:xfrm>
          <a:prstGeom prst="rect">
            <a:avLst/>
          </a:prstGeom>
          <a:solidFill>
            <a:srgbClr val="2D3A52">
              <a:alpha val="30000"/>
            </a:srgbClr>
          </a:solidFill>
          <a:ln w="12700">
            <a:solidFill>
              <a:srgbClr val="2D3A52">
                <a:alpha val="0"/>
              </a:srgbClr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4983480" y="4622292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</a:rPr>
              <a:t>–</a:t>
            </a:r>
            <a:endParaRPr lang="en-US" sz="800"/>
          </a:p>
        </p:txBody>
      </p:sp>
      <p:sp>
        <p:nvSpPr>
          <p:cNvPr id="225" name="Shape 223"/>
          <p:cNvSpPr/>
          <p:nvPr/>
        </p:nvSpPr>
        <p:spPr>
          <a:xfrm>
            <a:off x="5614416" y="4658868"/>
            <a:ext cx="402336" cy="173736"/>
          </a:xfrm>
          <a:prstGeom prst="rect">
            <a:avLst/>
          </a:prstGeom>
          <a:solidFill>
            <a:srgbClr val="2D3A52">
              <a:alpha val="30000"/>
            </a:srgbClr>
          </a:solidFill>
          <a:ln w="12700">
            <a:solidFill>
              <a:srgbClr val="2D3A52">
                <a:alpha val="0"/>
              </a:srgbClr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5559552" y="4622292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</a:rPr>
              <a:t>–</a:t>
            </a:r>
            <a:endParaRPr lang="en-US" sz="800"/>
          </a:p>
        </p:txBody>
      </p:sp>
      <p:sp>
        <p:nvSpPr>
          <p:cNvPr id="227" name="Shape 225"/>
          <p:cNvSpPr/>
          <p:nvPr/>
        </p:nvSpPr>
        <p:spPr>
          <a:xfrm>
            <a:off x="6181344" y="4658868"/>
            <a:ext cx="402336" cy="173736"/>
          </a:xfrm>
          <a:prstGeom prst="rect">
            <a:avLst/>
          </a:prstGeom>
          <a:solidFill>
            <a:srgbClr val="FFB703">
              <a:alpha val="50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6126480" y="4622292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ea typeface="Calibri"/>
              <a:cs typeface="Calibri"/>
            </a:endParaRPr>
          </a:p>
        </p:txBody>
      </p:sp>
      <p:sp>
        <p:nvSpPr>
          <p:cNvPr id="229" name="Text 227"/>
          <p:cNvSpPr/>
          <p:nvPr/>
        </p:nvSpPr>
        <p:spPr>
          <a:xfrm>
            <a:off x="6675120" y="462229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B703"/>
                </a:solidFill>
              </a:rPr>
              <a:t>8</a:t>
            </a:r>
            <a:endParaRPr lang="en-US" sz="800"/>
          </a:p>
        </p:txBody>
      </p:sp>
      <p:sp>
        <p:nvSpPr>
          <p:cNvPr id="230" name="Shape 228"/>
          <p:cNvSpPr/>
          <p:nvPr/>
        </p:nvSpPr>
        <p:spPr>
          <a:xfrm>
            <a:off x="7159752" y="4695444"/>
            <a:ext cx="1691640" cy="91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7159752" y="4695444"/>
            <a:ext cx="676656" cy="9144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8732520" y="4622292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>
                <a:solidFill>
                  <a:srgbClr val="00C6FF"/>
                </a:solidFill>
              </a:rPr>
              <a:t>40%</a:t>
            </a:r>
            <a:endParaRPr lang="en-US" sz="700"/>
          </a:p>
        </p:txBody>
      </p:sp>
      <p:sp>
        <p:nvSpPr>
          <p:cNvPr id="233" name="Text 231"/>
          <p:cNvSpPr/>
          <p:nvPr/>
        </p:nvSpPr>
        <p:spPr>
          <a:xfrm>
            <a:off x="256032" y="489204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Terminé  </a:t>
            </a:r>
            <a:r>
              <a:rPr lang="en-US" sz="750" b="1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🔄 En cours  </a:t>
            </a:r>
            <a:r>
              <a:rPr lang="en-US" sz="750" b="1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👀 En review  </a:t>
            </a:r>
            <a:r>
              <a:rPr lang="en-US" sz="75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Non démarré    |  Total : 14 tâches  |  63 pts planifiés  |  Sprint 3 en cours</a:t>
            </a:r>
            <a:endParaRPr lang="en-US" sz="7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0" y="2743200"/>
            <a:ext cx="3657600" cy="3200400"/>
          </a:xfrm>
          <a:prstGeom prst="ellipse">
            <a:avLst/>
          </a:prstGeom>
          <a:solidFill>
            <a:srgbClr val="001A3A">
              <a:alpha val="55000"/>
            </a:srgbClr>
          </a:solidFill>
          <a:ln w="12700">
            <a:solidFill>
              <a:srgbClr val="001A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00C6FF"/>
                </a:solidFill>
                <a:latin typeface="Calibri"/>
                <a:ea typeface="Calibri"/>
                <a:cs typeface="Calibri"/>
              </a:rPr>
              <a:t>MAQUETTES UI — ORBIT NEXUS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7B2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haute fidélité — Interface principale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069080" cy="3246120"/>
          </a:xfrm>
          <a:prstGeom prst="rect">
            <a:avLst/>
          </a:prstGeom>
          <a:solidFill>
            <a:srgbClr val="080E1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406908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601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  Dashboard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932688" y="1252728"/>
            <a:ext cx="3383280" cy="320040"/>
          </a:xfrm>
          <a:prstGeom prst="rect">
            <a:avLst/>
          </a:prstGeom>
          <a:solidFill>
            <a:srgbClr val="0A1830"/>
          </a:solidFill>
          <a:ln w="381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1252728"/>
            <a:ext cx="333756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00C6FF"/>
                </a:solidFill>
              </a:rPr>
              <a:t>Orbit Nexus  —  Tableau de bord</a:t>
            </a:r>
            <a:endParaRPr lang="en-US" sz="750"/>
          </a:p>
        </p:txBody>
      </p:sp>
      <p:sp>
        <p:nvSpPr>
          <p:cNvPr id="18" name="Shape 16"/>
          <p:cNvSpPr/>
          <p:nvPr/>
        </p:nvSpPr>
        <p:spPr>
          <a:xfrm>
            <a:off x="960120" y="1627632"/>
            <a:ext cx="1005840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16459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92D050"/>
                </a:solidFill>
              </a:rPr>
              <a:t>5</a:t>
            </a:r>
            <a:endParaRPr lang="en-US" sz="1400">
              <a:solidFill>
                <a:srgbClr val="92D05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960120" y="1920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>
                <a:solidFill>
                  <a:srgbClr val="FFFFFF"/>
                </a:solidFill>
              </a:rPr>
              <a:t>Missions</a:t>
            </a:r>
          </a:p>
          <a:p>
            <a:pPr marL="0" indent="0" algn="ctr">
              <a:buNone/>
            </a:pPr>
            <a:r>
              <a:rPr lang="en-US" sz="600">
                <a:solidFill>
                  <a:srgbClr val="FFFFFF"/>
                </a:solidFill>
              </a:rPr>
              <a:t>actives</a:t>
            </a:r>
          </a:p>
        </p:txBody>
      </p:sp>
      <p:sp>
        <p:nvSpPr>
          <p:cNvPr id="21" name="Shape 19"/>
          <p:cNvSpPr/>
          <p:nvPr/>
        </p:nvSpPr>
        <p:spPr>
          <a:xfrm>
            <a:off x="2057400" y="1627632"/>
            <a:ext cx="1005840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57400" y="16459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EF476F"/>
                </a:solidFill>
              </a:rPr>
              <a:t>3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2057400" y="1920240"/>
            <a:ext cx="1089474" cy="242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>
                <a:solidFill>
                  <a:srgbClr val="FFFFFF"/>
                </a:solidFill>
              </a:rPr>
              <a:t>Conflits</a:t>
            </a:r>
          </a:p>
          <a:p>
            <a:pPr marL="0" indent="0" algn="ctr">
              <a:buNone/>
            </a:pPr>
            <a:r>
              <a:rPr lang="en-US" sz="600">
                <a:solidFill>
                  <a:srgbClr val="FFFFFF"/>
                </a:solidFill>
              </a:rPr>
              <a:t>détectés</a:t>
            </a:r>
          </a:p>
        </p:txBody>
      </p:sp>
      <p:sp>
        <p:nvSpPr>
          <p:cNvPr id="24" name="Shape 22"/>
          <p:cNvSpPr/>
          <p:nvPr/>
        </p:nvSpPr>
        <p:spPr>
          <a:xfrm>
            <a:off x="3154680" y="1627632"/>
            <a:ext cx="1005840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4680" y="16459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B703"/>
                </a:solidFill>
              </a:rPr>
              <a:t>89%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3154680" y="1920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>
                <a:solidFill>
                  <a:srgbClr val="FFFFFF"/>
                </a:solidFill>
              </a:rPr>
              <a:t>Ressources</a:t>
            </a:r>
          </a:p>
          <a:p>
            <a:pPr marL="0" indent="0" algn="ctr">
              <a:buNone/>
            </a:pPr>
            <a:r>
              <a:rPr lang="en-US" sz="600">
                <a:solidFill>
                  <a:srgbClr val="FFFFFF"/>
                </a:solidFill>
              </a:rPr>
              <a:t>utilisées</a:t>
            </a:r>
          </a:p>
        </p:txBody>
      </p:sp>
      <p:sp>
        <p:nvSpPr>
          <p:cNvPr id="27" name="Shape 25"/>
          <p:cNvSpPr/>
          <p:nvPr/>
        </p:nvSpPr>
        <p:spPr>
          <a:xfrm>
            <a:off x="932688" y="2331720"/>
            <a:ext cx="3383280" cy="1325880"/>
          </a:xfrm>
          <a:prstGeom prst="rect">
            <a:avLst/>
          </a:prstGeom>
          <a:solidFill>
            <a:srgbClr val="060C18"/>
          </a:solidFill>
          <a:ln w="381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0976" y="2350008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00C6FF"/>
                </a:solidFill>
              </a:rPr>
              <a:t>CALENDRIER DES RESSOURCES — MAI 2026</a:t>
            </a:r>
            <a:endParaRPr lang="en-US" sz="650"/>
          </a:p>
        </p:txBody>
      </p:sp>
      <p:sp>
        <p:nvSpPr>
          <p:cNvPr id="29" name="Shape 27"/>
          <p:cNvSpPr/>
          <p:nvPr/>
        </p:nvSpPr>
        <p:spPr>
          <a:xfrm>
            <a:off x="987552" y="3003804"/>
            <a:ext cx="347472" cy="65379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367588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>
                <a:solidFill>
                  <a:srgbClr val="8899AA"/>
                </a:solidFill>
              </a:rPr>
              <a:t>L</a:t>
            </a:r>
            <a:endParaRPr lang="en-US" sz="600"/>
          </a:p>
        </p:txBody>
      </p:sp>
      <p:sp>
        <p:nvSpPr>
          <p:cNvPr id="31" name="Shape 29"/>
          <p:cNvSpPr/>
          <p:nvPr/>
        </p:nvSpPr>
        <p:spPr>
          <a:xfrm>
            <a:off x="1463040" y="2651760"/>
            <a:ext cx="347472" cy="100584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63040" y="367588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>
                <a:solidFill>
                  <a:srgbClr val="8899AA"/>
                </a:solidFill>
              </a:rPr>
              <a:t>M</a:t>
            </a:r>
            <a:endParaRPr lang="en-US" sz="600"/>
          </a:p>
        </p:txBody>
      </p:sp>
      <p:sp>
        <p:nvSpPr>
          <p:cNvPr id="33" name="Shape 31"/>
          <p:cNvSpPr/>
          <p:nvPr/>
        </p:nvSpPr>
        <p:spPr>
          <a:xfrm>
            <a:off x="1938528" y="3255264"/>
            <a:ext cx="347472" cy="40233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38528" y="367588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>
                <a:solidFill>
                  <a:srgbClr val="8899AA"/>
                </a:solidFill>
              </a:rPr>
              <a:t>M</a:t>
            </a:r>
            <a:endParaRPr lang="en-US" sz="600"/>
          </a:p>
        </p:txBody>
      </p:sp>
      <p:sp>
        <p:nvSpPr>
          <p:cNvPr id="35" name="Shape 33"/>
          <p:cNvSpPr/>
          <p:nvPr/>
        </p:nvSpPr>
        <p:spPr>
          <a:xfrm>
            <a:off x="2414016" y="2852928"/>
            <a:ext cx="347472" cy="80467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14016" y="367588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>
                <a:solidFill>
                  <a:srgbClr val="8899AA"/>
                </a:solidFill>
              </a:rPr>
              <a:t>J</a:t>
            </a:r>
            <a:endParaRPr lang="en-US" sz="600"/>
          </a:p>
        </p:txBody>
      </p:sp>
      <p:sp>
        <p:nvSpPr>
          <p:cNvPr id="37" name="Shape 35"/>
          <p:cNvSpPr/>
          <p:nvPr/>
        </p:nvSpPr>
        <p:spPr>
          <a:xfrm>
            <a:off x="2889504" y="3154680"/>
            <a:ext cx="347472" cy="50292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89504" y="367588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>
                <a:solidFill>
                  <a:srgbClr val="8899AA"/>
                </a:solidFill>
              </a:rPr>
              <a:t>V</a:t>
            </a:r>
            <a:endParaRPr lang="en-US" sz="600"/>
          </a:p>
        </p:txBody>
      </p:sp>
      <p:sp>
        <p:nvSpPr>
          <p:cNvPr id="39" name="Shape 37"/>
          <p:cNvSpPr/>
          <p:nvPr/>
        </p:nvSpPr>
        <p:spPr>
          <a:xfrm>
            <a:off x="3364992" y="2752344"/>
            <a:ext cx="347472" cy="90525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64992" y="367588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>
                <a:solidFill>
                  <a:srgbClr val="8899AA"/>
                </a:solidFill>
              </a:rPr>
              <a:t>S</a:t>
            </a:r>
            <a:endParaRPr lang="en-US" sz="600"/>
          </a:p>
        </p:txBody>
      </p:sp>
      <p:sp>
        <p:nvSpPr>
          <p:cNvPr id="41" name="Shape 39"/>
          <p:cNvSpPr/>
          <p:nvPr/>
        </p:nvSpPr>
        <p:spPr>
          <a:xfrm>
            <a:off x="3840480" y="3355848"/>
            <a:ext cx="347472" cy="30175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0" y="367588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>
                <a:solidFill>
                  <a:srgbClr val="8899AA"/>
                </a:solidFill>
              </a:rPr>
              <a:t>D</a:t>
            </a:r>
            <a:endParaRPr lang="en-US" sz="600"/>
          </a:p>
        </p:txBody>
      </p:sp>
      <p:sp>
        <p:nvSpPr>
          <p:cNvPr id="43" name="Text 41"/>
          <p:cNvSpPr/>
          <p:nvPr/>
        </p:nvSpPr>
        <p:spPr>
          <a:xfrm>
            <a:off x="274320" y="4251960"/>
            <a:ext cx="406908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750" i="1" err="1">
                <a:solidFill>
                  <a:srgbClr val="FFFFFF"/>
                </a:solidFill>
              </a:rPr>
              <a:t>Écran</a:t>
            </a:r>
            <a:r>
              <a:rPr lang="en-US" sz="750" i="1">
                <a:solidFill>
                  <a:srgbClr val="FFFFFF"/>
                </a:solidFill>
              </a:rPr>
              <a:t> 1 : Vue </a:t>
            </a:r>
            <a:r>
              <a:rPr lang="en-US" sz="750" i="1" err="1">
                <a:solidFill>
                  <a:srgbClr val="FFFFFF"/>
                </a:solidFill>
              </a:rPr>
              <a:t>d'ensemble</a:t>
            </a:r>
            <a:r>
              <a:rPr lang="en-US" sz="750" i="1">
                <a:solidFill>
                  <a:srgbClr val="FFFFFF"/>
                </a:solidFill>
              </a:rPr>
              <a:t> de </a:t>
            </a:r>
            <a:r>
              <a:rPr lang="en-US" sz="750" i="1" err="1">
                <a:solidFill>
                  <a:srgbClr val="FFFFFF"/>
                </a:solidFill>
              </a:rPr>
              <a:t>toutes</a:t>
            </a:r>
            <a:r>
              <a:rPr lang="en-US" sz="750" i="1">
                <a:solidFill>
                  <a:srgbClr val="FFFFFF"/>
                </a:solidFill>
              </a:rPr>
              <a:t> les </a:t>
            </a:r>
            <a:r>
              <a:rPr lang="en-US" sz="750" i="1" err="1">
                <a:solidFill>
                  <a:srgbClr val="FFFFFF"/>
                </a:solidFill>
              </a:rPr>
              <a:t>ressources</a:t>
            </a:r>
            <a:r>
              <a:rPr lang="en-US" sz="750" i="1">
                <a:solidFill>
                  <a:srgbClr val="FFFFFF"/>
                </a:solidFill>
              </a:rPr>
              <a:t> et missions</a:t>
            </a:r>
            <a:endParaRPr lang="en-US" sz="750">
              <a:solidFill>
                <a:srgbClr val="FFFFFF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800600" y="960120"/>
            <a:ext cx="4069080" cy="3246120"/>
          </a:xfrm>
          <a:prstGeom prst="rect">
            <a:avLst/>
          </a:prstGeom>
          <a:solidFill>
            <a:srgbClr val="080E1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00600" y="960120"/>
            <a:ext cx="4069080" cy="29260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9601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0E1A"/>
                </a:solidFill>
              </a:rPr>
              <a:t>  </a:t>
            </a:r>
            <a:r>
              <a:rPr lang="en-US" sz="900" b="1" err="1">
                <a:solidFill>
                  <a:srgbClr val="0A0E1A"/>
                </a:solidFill>
              </a:rPr>
              <a:t>Formulaire</a:t>
            </a:r>
            <a:r>
              <a:rPr lang="en-US" sz="900" b="1">
                <a:solidFill>
                  <a:srgbClr val="0A0E1A"/>
                </a:solidFill>
              </a:rPr>
              <a:t> de </a:t>
            </a:r>
            <a:r>
              <a:rPr lang="en-US" sz="900" b="1" err="1">
                <a:solidFill>
                  <a:srgbClr val="0A0E1A"/>
                </a:solidFill>
              </a:rPr>
              <a:t>Réservation</a:t>
            </a:r>
            <a:endParaRPr lang="en-US" sz="900" err="1"/>
          </a:p>
        </p:txBody>
      </p:sp>
      <p:sp>
        <p:nvSpPr>
          <p:cNvPr id="47" name="Text 45"/>
          <p:cNvSpPr/>
          <p:nvPr/>
        </p:nvSpPr>
        <p:spPr>
          <a:xfrm>
            <a:off x="4937760" y="1371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8899AA"/>
                </a:solidFill>
              </a:rPr>
              <a:t>Ressource :</a:t>
            </a:r>
            <a:endParaRPr lang="en-US" sz="800"/>
          </a:p>
        </p:txBody>
      </p:sp>
      <p:sp>
        <p:nvSpPr>
          <p:cNvPr id="48" name="Shape 46"/>
          <p:cNvSpPr/>
          <p:nvPr/>
        </p:nvSpPr>
        <p:spPr>
          <a:xfrm>
            <a:off x="6172200" y="1371600"/>
            <a:ext cx="2560320" cy="27432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90488" y="1371600"/>
            <a:ext cx="2542032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</a:rPr>
              <a:t>🛰️  Antenne Radio DSN-34</a:t>
            </a:r>
            <a:endParaRPr lang="en-US" sz="800"/>
          </a:p>
        </p:txBody>
      </p:sp>
      <p:sp>
        <p:nvSpPr>
          <p:cNvPr id="50" name="Text 48"/>
          <p:cNvSpPr/>
          <p:nvPr/>
        </p:nvSpPr>
        <p:spPr>
          <a:xfrm>
            <a:off x="4937760" y="17647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8899AA"/>
                </a:solidFill>
              </a:rPr>
              <a:t>Mission :</a:t>
            </a:r>
            <a:endParaRPr lang="en-US" sz="800"/>
          </a:p>
        </p:txBody>
      </p:sp>
      <p:sp>
        <p:nvSpPr>
          <p:cNvPr id="51" name="Shape 49"/>
          <p:cNvSpPr/>
          <p:nvPr/>
        </p:nvSpPr>
        <p:spPr>
          <a:xfrm>
            <a:off x="6172200" y="1764792"/>
            <a:ext cx="2560320" cy="27432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90488" y="1764792"/>
            <a:ext cx="2542032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</a:rPr>
              <a:t>Voyager Signal Boost #2026</a:t>
            </a:r>
            <a:endParaRPr lang="en-US" sz="800"/>
          </a:p>
        </p:txBody>
      </p:sp>
      <p:sp>
        <p:nvSpPr>
          <p:cNvPr id="53" name="Text 51"/>
          <p:cNvSpPr/>
          <p:nvPr/>
        </p:nvSpPr>
        <p:spPr>
          <a:xfrm>
            <a:off x="4937760" y="215798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8899AA"/>
                </a:solidFill>
              </a:rPr>
              <a:t>Date début :</a:t>
            </a:r>
            <a:endParaRPr lang="en-US" sz="800"/>
          </a:p>
        </p:txBody>
      </p:sp>
      <p:sp>
        <p:nvSpPr>
          <p:cNvPr id="54" name="Shape 52"/>
          <p:cNvSpPr/>
          <p:nvPr/>
        </p:nvSpPr>
        <p:spPr>
          <a:xfrm>
            <a:off x="6172200" y="2157984"/>
            <a:ext cx="2560320" cy="27432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4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90488" y="2157984"/>
            <a:ext cx="2542032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</a:rPr>
              <a:t>12 mai 2026  —  08:30</a:t>
            </a:r>
            <a:endParaRPr lang="en-US" sz="800"/>
          </a:p>
        </p:txBody>
      </p:sp>
      <p:sp>
        <p:nvSpPr>
          <p:cNvPr id="56" name="Text 54"/>
          <p:cNvSpPr/>
          <p:nvPr/>
        </p:nvSpPr>
        <p:spPr>
          <a:xfrm>
            <a:off x="4937760" y="255117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8899AA"/>
                </a:solidFill>
              </a:rPr>
              <a:t>Durée :</a:t>
            </a:r>
            <a:endParaRPr lang="en-US" sz="800"/>
          </a:p>
        </p:txBody>
      </p:sp>
      <p:sp>
        <p:nvSpPr>
          <p:cNvPr id="57" name="Shape 55"/>
          <p:cNvSpPr/>
          <p:nvPr/>
        </p:nvSpPr>
        <p:spPr>
          <a:xfrm>
            <a:off x="6172200" y="2551176"/>
            <a:ext cx="2560320" cy="27432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4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90488" y="2551176"/>
            <a:ext cx="2542032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</a:rPr>
              <a:t>4 </a:t>
            </a:r>
            <a:r>
              <a:rPr lang="en-US" sz="800" err="1">
                <a:solidFill>
                  <a:srgbClr val="E0F0FF"/>
                </a:solidFill>
              </a:rPr>
              <a:t>heures</a:t>
            </a:r>
            <a:endParaRPr lang="en-US" sz="800" err="1">
              <a:solidFill>
                <a:srgbClr val="E0F0FF"/>
              </a:solidFill>
              <a:ea typeface="Calibri"/>
              <a:cs typeface="Calibri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4937760" y="29443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8899AA"/>
                </a:solidFill>
              </a:rPr>
              <a:t>Équipe :</a:t>
            </a:r>
            <a:endParaRPr lang="en-US" sz="800"/>
          </a:p>
        </p:txBody>
      </p:sp>
      <p:sp>
        <p:nvSpPr>
          <p:cNvPr id="60" name="Shape 58"/>
          <p:cNvSpPr/>
          <p:nvPr/>
        </p:nvSpPr>
        <p:spPr>
          <a:xfrm>
            <a:off x="6172200" y="2944368"/>
            <a:ext cx="2560320" cy="27432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4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90488" y="2944368"/>
            <a:ext cx="2542032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</a:rPr>
              <a:t>Dr. Oumou+ 3 </a:t>
            </a:r>
            <a:r>
              <a:rPr lang="en-US" sz="800" err="1">
                <a:solidFill>
                  <a:srgbClr val="E0F0FF"/>
                </a:solidFill>
              </a:rPr>
              <a:t>chercheurs</a:t>
            </a:r>
            <a:endParaRPr lang="en-US" sz="800" err="1"/>
          </a:p>
        </p:txBody>
      </p:sp>
      <p:sp>
        <p:nvSpPr>
          <p:cNvPr id="62" name="Text 60"/>
          <p:cNvSpPr/>
          <p:nvPr/>
        </p:nvSpPr>
        <p:spPr>
          <a:xfrm>
            <a:off x="4937760" y="33375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8899AA"/>
                </a:solidFill>
              </a:rPr>
              <a:t>Priorité :</a:t>
            </a:r>
            <a:endParaRPr lang="en-US" sz="800"/>
          </a:p>
        </p:txBody>
      </p:sp>
      <p:sp>
        <p:nvSpPr>
          <p:cNvPr id="63" name="Shape 61"/>
          <p:cNvSpPr/>
          <p:nvPr/>
        </p:nvSpPr>
        <p:spPr>
          <a:xfrm>
            <a:off x="6172200" y="3337560"/>
            <a:ext cx="2560320" cy="27432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4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90488" y="3337560"/>
            <a:ext cx="2542032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</a:rPr>
              <a:t> CRITIQUE</a:t>
            </a:r>
            <a:endParaRPr lang="en-US" sz="800"/>
          </a:p>
        </p:txBody>
      </p:sp>
      <p:sp>
        <p:nvSpPr>
          <p:cNvPr id="65" name="Shape 63"/>
          <p:cNvSpPr/>
          <p:nvPr/>
        </p:nvSpPr>
        <p:spPr>
          <a:xfrm>
            <a:off x="4937760" y="3776472"/>
            <a:ext cx="164592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37760" y="37764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0C6FF"/>
                </a:solidFill>
              </a:rPr>
              <a:t>Vérifier </a:t>
            </a:r>
            <a:r>
              <a:rPr lang="en-US" sz="800" b="1" err="1">
                <a:solidFill>
                  <a:srgbClr val="00C6FF"/>
                </a:solidFill>
              </a:rPr>
              <a:t>dispo</a:t>
            </a:r>
            <a:endParaRPr lang="en-US" sz="800" err="1"/>
          </a:p>
        </p:txBody>
      </p:sp>
      <p:sp>
        <p:nvSpPr>
          <p:cNvPr id="67" name="Shape 65"/>
          <p:cNvSpPr/>
          <p:nvPr/>
        </p:nvSpPr>
        <p:spPr>
          <a:xfrm>
            <a:off x="6720840" y="3776472"/>
            <a:ext cx="2011680" cy="320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720840" y="37764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A0E1A"/>
                </a:solidFill>
              </a:rPr>
              <a:t>  Confirmer la </a:t>
            </a:r>
            <a:r>
              <a:rPr lang="en-US" sz="800" b="1" err="1">
                <a:solidFill>
                  <a:srgbClr val="0A0E1A"/>
                </a:solidFill>
              </a:rPr>
              <a:t>réservation</a:t>
            </a:r>
            <a:endParaRPr lang="en-US" sz="800" err="1"/>
          </a:p>
        </p:txBody>
      </p:sp>
      <p:sp>
        <p:nvSpPr>
          <p:cNvPr id="69" name="Text 67"/>
          <p:cNvSpPr/>
          <p:nvPr/>
        </p:nvSpPr>
        <p:spPr>
          <a:xfrm>
            <a:off x="4800600" y="425196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FFFFFF"/>
                </a:solidFill>
              </a:rPr>
              <a:t>Écran 2 : Formulaire intelligent avec détection de conflits en temps réel</a:t>
            </a:r>
            <a:endParaRPr lang="en-US" sz="750">
              <a:solidFill>
                <a:srgbClr val="FFFFFF"/>
              </a:solidFill>
            </a:endParaRPr>
          </a:p>
        </p:txBody>
      </p:sp>
      <p:sp>
        <p:nvSpPr>
          <p:cNvPr id="70" name="Text 68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00C6FF"/>
                </a:solidFill>
              </a:rPr>
              <a:t>⚡  Anti-conflit temps réel  |  Notifications push  |  Support multi-fuseaux horaires  |  Mode sombre</a:t>
            </a:r>
            <a:endParaRPr lang="en-US" sz="800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18106BD-2F85-86A0-9BBE-52C289FE0FB6}"/>
              </a:ext>
            </a:extLst>
          </p:cNvPr>
          <p:cNvCxnSpPr/>
          <p:nvPr/>
        </p:nvCxnSpPr>
        <p:spPr>
          <a:xfrm>
            <a:off x="937603" y="3687662"/>
            <a:ext cx="3372928" cy="8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3CE217A8-46ED-B14C-03BC-E08D63B8093F}"/>
              </a:ext>
            </a:extLst>
          </p:cNvPr>
          <p:cNvCxnSpPr>
            <a:cxnSpLocks/>
          </p:cNvCxnSpPr>
          <p:nvPr/>
        </p:nvCxnSpPr>
        <p:spPr>
          <a:xfrm flipH="1" flipV="1">
            <a:off x="924664" y="2262149"/>
            <a:ext cx="12939" cy="1468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 57">
            <a:extLst>
              <a:ext uri="{FF2B5EF4-FFF2-40B4-BE49-F238E27FC236}">
                <a16:creationId xmlns:a16="http://schemas.microsoft.com/office/drawing/2014/main" id="{EF94CCFD-AAD6-6DDD-1225-55100C2B7530}"/>
              </a:ext>
            </a:extLst>
          </p:cNvPr>
          <p:cNvSpPr/>
          <p:nvPr/>
        </p:nvSpPr>
        <p:spPr>
          <a:xfrm>
            <a:off x="829429" y="3526651"/>
            <a:ext cx="78070" cy="30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8899AA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74" name="Text 57">
            <a:extLst>
              <a:ext uri="{FF2B5EF4-FFF2-40B4-BE49-F238E27FC236}">
                <a16:creationId xmlns:a16="http://schemas.microsoft.com/office/drawing/2014/main" id="{C722B1EC-CE5E-4348-B89B-6D9D4BA6EAE4}"/>
              </a:ext>
            </a:extLst>
          </p:cNvPr>
          <p:cNvSpPr/>
          <p:nvPr/>
        </p:nvSpPr>
        <p:spPr>
          <a:xfrm>
            <a:off x="807863" y="3354123"/>
            <a:ext cx="185900" cy="30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8899AA"/>
                </a:solidFill>
                <a:ea typeface="Calibri"/>
                <a:cs typeface="Calibri"/>
              </a:rPr>
              <a:t>50</a:t>
            </a:r>
          </a:p>
        </p:txBody>
      </p:sp>
      <p:sp>
        <p:nvSpPr>
          <p:cNvPr id="75" name="Text 57">
            <a:extLst>
              <a:ext uri="{FF2B5EF4-FFF2-40B4-BE49-F238E27FC236}">
                <a16:creationId xmlns:a16="http://schemas.microsoft.com/office/drawing/2014/main" id="{2D33DC64-83C3-748E-8610-53230B852BEB}"/>
              </a:ext>
            </a:extLst>
          </p:cNvPr>
          <p:cNvSpPr/>
          <p:nvPr/>
        </p:nvSpPr>
        <p:spPr>
          <a:xfrm>
            <a:off x="775514" y="3181594"/>
            <a:ext cx="250598" cy="324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8899AA"/>
                </a:solidFill>
                <a:ea typeface="Calibri"/>
                <a:cs typeface="Calibri"/>
              </a:rPr>
              <a:t>100</a:t>
            </a:r>
          </a:p>
        </p:txBody>
      </p:sp>
      <p:sp>
        <p:nvSpPr>
          <p:cNvPr id="76" name="Text 57">
            <a:extLst>
              <a:ext uri="{FF2B5EF4-FFF2-40B4-BE49-F238E27FC236}">
                <a16:creationId xmlns:a16="http://schemas.microsoft.com/office/drawing/2014/main" id="{014FAB81-A189-F88D-7B12-C3C89BF96E98}"/>
              </a:ext>
            </a:extLst>
          </p:cNvPr>
          <p:cNvSpPr/>
          <p:nvPr/>
        </p:nvSpPr>
        <p:spPr>
          <a:xfrm>
            <a:off x="764731" y="3009065"/>
            <a:ext cx="185900" cy="30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8899AA"/>
                </a:solidFill>
                <a:ea typeface="Calibri"/>
                <a:cs typeface="Calibri"/>
              </a:rPr>
              <a:t>150</a:t>
            </a:r>
          </a:p>
        </p:txBody>
      </p:sp>
      <p:sp>
        <p:nvSpPr>
          <p:cNvPr id="77" name="Text 57">
            <a:extLst>
              <a:ext uri="{FF2B5EF4-FFF2-40B4-BE49-F238E27FC236}">
                <a16:creationId xmlns:a16="http://schemas.microsoft.com/office/drawing/2014/main" id="{102C652C-3C01-6D36-0D14-012872D6B1C9}"/>
              </a:ext>
            </a:extLst>
          </p:cNvPr>
          <p:cNvSpPr/>
          <p:nvPr/>
        </p:nvSpPr>
        <p:spPr>
          <a:xfrm>
            <a:off x="743165" y="2858103"/>
            <a:ext cx="185900" cy="30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8899AA"/>
                </a:solidFill>
                <a:ea typeface="Calibri"/>
                <a:cs typeface="Calibri"/>
              </a:rPr>
              <a:t>200</a:t>
            </a:r>
          </a:p>
        </p:txBody>
      </p:sp>
      <p:sp>
        <p:nvSpPr>
          <p:cNvPr id="78" name="Text 57">
            <a:extLst>
              <a:ext uri="{FF2B5EF4-FFF2-40B4-BE49-F238E27FC236}">
                <a16:creationId xmlns:a16="http://schemas.microsoft.com/office/drawing/2014/main" id="{A168DC41-94D9-DBAE-A5D3-26E348A83DE4}"/>
              </a:ext>
            </a:extLst>
          </p:cNvPr>
          <p:cNvSpPr/>
          <p:nvPr/>
        </p:nvSpPr>
        <p:spPr>
          <a:xfrm>
            <a:off x="775514" y="2696358"/>
            <a:ext cx="218249" cy="30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8899AA"/>
                </a:solidFill>
                <a:ea typeface="Calibri"/>
                <a:cs typeface="Calibri"/>
              </a:rPr>
              <a:t>250</a:t>
            </a:r>
          </a:p>
        </p:txBody>
      </p:sp>
      <p:sp>
        <p:nvSpPr>
          <p:cNvPr id="80" name="Text 57">
            <a:extLst>
              <a:ext uri="{FF2B5EF4-FFF2-40B4-BE49-F238E27FC236}">
                <a16:creationId xmlns:a16="http://schemas.microsoft.com/office/drawing/2014/main" id="{F0D84EB1-833C-E273-9474-E6388B2B01CC}"/>
              </a:ext>
            </a:extLst>
          </p:cNvPr>
          <p:cNvSpPr/>
          <p:nvPr/>
        </p:nvSpPr>
        <p:spPr>
          <a:xfrm>
            <a:off x="764731" y="2545396"/>
            <a:ext cx="229032" cy="30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8899AA"/>
                </a:solidFill>
                <a:ea typeface="Calibri"/>
                <a:cs typeface="Calibri"/>
              </a:rPr>
              <a:t>300</a:t>
            </a:r>
          </a:p>
        </p:txBody>
      </p:sp>
      <p:sp>
        <p:nvSpPr>
          <p:cNvPr id="81" name="Text 57">
            <a:extLst>
              <a:ext uri="{FF2B5EF4-FFF2-40B4-BE49-F238E27FC236}">
                <a16:creationId xmlns:a16="http://schemas.microsoft.com/office/drawing/2014/main" id="{35660726-CAB3-A183-0849-C0F6D6D95352}"/>
              </a:ext>
            </a:extLst>
          </p:cNvPr>
          <p:cNvSpPr/>
          <p:nvPr/>
        </p:nvSpPr>
        <p:spPr>
          <a:xfrm>
            <a:off x="775514" y="2394433"/>
            <a:ext cx="185900" cy="30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8899AA"/>
                </a:solidFill>
                <a:ea typeface="Calibri"/>
                <a:cs typeface="Calibri"/>
              </a:rPr>
              <a:t>350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828610" y="781954"/>
            <a:ext cx="2097346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605588"/>
            <a:ext cx="4571997" cy="533439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485051" y="4386794"/>
            <a:ext cx="964406" cy="549007"/>
            <a:chOff x="7029447" y="3514725"/>
            <a:chExt cx="1285875" cy="549007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6B70EAC-8F74-C625-5672-FD5945B4AE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25" r="-1" b="21819"/>
          <a:stretch>
            <a:fillRect/>
          </a:stretch>
        </p:blipFill>
        <p:spPr>
          <a:xfrm>
            <a:off x="-2286" y="10"/>
            <a:ext cx="9141714" cy="4616553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9D85FE18-7BE5-446D-9A33-1C7C3B910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556565"/>
            <a:ext cx="9036544" cy="3069979"/>
            <a:chOff x="1" y="2075420"/>
            <a:chExt cx="12048729" cy="4093306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051917B-A90B-4216-B86A-326AF85FF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19777D6-E475-4DB7-968D-5643F54B0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750EF92-D35C-417F-B5C0-4BA7EA36A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BB14A7B-EFDD-4C96-8E2A-7DF6B1618A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AF08D53-C22B-4EB4-B59D-94B42A14D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950868D-F005-4C1A-A79B-D069B9947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31335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4613B4A9-1C7C-4729-A016-AB42D3979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9F2E4D-D6B0-30F3-4471-04BCD14E6B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23" r="2" b="7769"/>
          <a:stretch>
            <a:fillRect/>
          </a:stretch>
        </p:blipFill>
        <p:spPr>
          <a:xfrm>
            <a:off x="246987" y="10"/>
            <a:ext cx="8897013" cy="5143490"/>
          </a:xfrm>
          <a:custGeom>
            <a:avLst/>
            <a:gdLst/>
            <a:ahLst/>
            <a:cxnLst/>
            <a:rect l="l" t="t" r="r" b="b"/>
            <a:pathLst>
              <a:path w="11862684" h="6858000">
                <a:moveTo>
                  <a:pt x="1047342" y="0"/>
                </a:moveTo>
                <a:lnTo>
                  <a:pt x="4590463" y="0"/>
                </a:lnTo>
                <a:lnTo>
                  <a:pt x="5499874" y="0"/>
                </a:lnTo>
                <a:lnTo>
                  <a:pt x="5723425" y="0"/>
                </a:lnTo>
                <a:lnTo>
                  <a:pt x="7580390" y="0"/>
                </a:lnTo>
                <a:lnTo>
                  <a:pt x="7747884" y="0"/>
                </a:lnTo>
                <a:lnTo>
                  <a:pt x="7824084" y="0"/>
                </a:lnTo>
                <a:lnTo>
                  <a:pt x="11862684" y="0"/>
                </a:lnTo>
                <a:lnTo>
                  <a:pt x="11862684" y="6858000"/>
                </a:lnTo>
                <a:lnTo>
                  <a:pt x="7824084" y="6858000"/>
                </a:lnTo>
                <a:lnTo>
                  <a:pt x="7747884" y="6858000"/>
                </a:lnTo>
                <a:lnTo>
                  <a:pt x="7580390" y="6858000"/>
                </a:lnTo>
                <a:lnTo>
                  <a:pt x="5723425" y="6858000"/>
                </a:lnTo>
                <a:lnTo>
                  <a:pt x="5499874" y="6858000"/>
                </a:lnTo>
                <a:lnTo>
                  <a:pt x="4590463" y="6858000"/>
                </a:lnTo>
                <a:lnTo>
                  <a:pt x="1654188" y="6858000"/>
                </a:lnTo>
                <a:cubicBezTo>
                  <a:pt x="1530404" y="6786859"/>
                  <a:pt x="1412658" y="6701489"/>
                  <a:pt x="1279816" y="6658805"/>
                </a:cubicBezTo>
                <a:cubicBezTo>
                  <a:pt x="1189242" y="6630349"/>
                  <a:pt x="1101686" y="6580550"/>
                  <a:pt x="1116783" y="6431153"/>
                </a:cubicBezTo>
                <a:cubicBezTo>
                  <a:pt x="1119802" y="6388469"/>
                  <a:pt x="1095648" y="6356456"/>
                  <a:pt x="1059419" y="6367127"/>
                </a:cubicBezTo>
                <a:cubicBezTo>
                  <a:pt x="989979" y="6388469"/>
                  <a:pt x="956768" y="6327999"/>
                  <a:pt x="917520" y="6281757"/>
                </a:cubicBezTo>
                <a:cubicBezTo>
                  <a:pt x="848079" y="6199945"/>
                  <a:pt x="781658" y="6114575"/>
                  <a:pt x="669950" y="6100347"/>
                </a:cubicBezTo>
                <a:cubicBezTo>
                  <a:pt x="691084" y="6036320"/>
                  <a:pt x="727312" y="6043434"/>
                  <a:pt x="760524" y="6057663"/>
                </a:cubicBezTo>
                <a:cubicBezTo>
                  <a:pt x="848079" y="6093234"/>
                  <a:pt x="935634" y="6132361"/>
                  <a:pt x="1023188" y="6167932"/>
                </a:cubicBezTo>
                <a:cubicBezTo>
                  <a:pt x="1080552" y="6189274"/>
                  <a:pt x="1137916" y="6221287"/>
                  <a:pt x="1213395" y="6196388"/>
                </a:cubicBezTo>
                <a:cubicBezTo>
                  <a:pt x="1146974" y="6068335"/>
                  <a:pt x="1035266" y="6043434"/>
                  <a:pt x="944692" y="6004307"/>
                </a:cubicBezTo>
                <a:cubicBezTo>
                  <a:pt x="832982" y="5954508"/>
                  <a:pt x="766562" y="5862025"/>
                  <a:pt x="685045" y="5755314"/>
                </a:cubicBezTo>
                <a:cubicBezTo>
                  <a:pt x="766562" y="5726858"/>
                  <a:pt x="817887" y="5805112"/>
                  <a:pt x="884310" y="5801555"/>
                </a:cubicBezTo>
                <a:cubicBezTo>
                  <a:pt x="887328" y="5790884"/>
                  <a:pt x="893366" y="5769542"/>
                  <a:pt x="893366" y="5769542"/>
                </a:cubicBezTo>
                <a:cubicBezTo>
                  <a:pt x="784676" y="5712629"/>
                  <a:pt x="736372" y="5605917"/>
                  <a:pt x="718256" y="5474306"/>
                </a:cubicBezTo>
                <a:cubicBezTo>
                  <a:pt x="712218" y="5406721"/>
                  <a:pt x="672970" y="5385379"/>
                  <a:pt x="633720" y="5353367"/>
                </a:cubicBezTo>
                <a:cubicBezTo>
                  <a:pt x="500878" y="5243097"/>
                  <a:pt x="358980" y="5143500"/>
                  <a:pt x="247270" y="4994104"/>
                </a:cubicBezTo>
                <a:cubicBezTo>
                  <a:pt x="377094" y="5011889"/>
                  <a:pt x="479744" y="5111487"/>
                  <a:pt x="615606" y="5154171"/>
                </a:cubicBezTo>
                <a:cubicBezTo>
                  <a:pt x="506917" y="4990547"/>
                  <a:pt x="365016" y="4905177"/>
                  <a:pt x="235194" y="4805580"/>
                </a:cubicBezTo>
                <a:cubicBezTo>
                  <a:pt x="174810" y="4759339"/>
                  <a:pt x="120468" y="4702425"/>
                  <a:pt x="51026" y="4677526"/>
                </a:cubicBezTo>
                <a:cubicBezTo>
                  <a:pt x="26873" y="4670412"/>
                  <a:pt x="-15396" y="4652628"/>
                  <a:pt x="5740" y="4602828"/>
                </a:cubicBezTo>
                <a:cubicBezTo>
                  <a:pt x="23854" y="4560144"/>
                  <a:pt x="57065" y="4574373"/>
                  <a:pt x="87257" y="4585042"/>
                </a:cubicBezTo>
                <a:cubicBezTo>
                  <a:pt x="159715" y="4613499"/>
                  <a:pt x="238213" y="4613499"/>
                  <a:pt x="337844" y="4613499"/>
                </a:cubicBezTo>
                <a:cubicBezTo>
                  <a:pt x="253310" y="4478331"/>
                  <a:pt x="99332" y="4521016"/>
                  <a:pt x="26873" y="4378734"/>
                </a:cubicBezTo>
                <a:cubicBezTo>
                  <a:pt x="117448" y="4353835"/>
                  <a:pt x="186888" y="4403633"/>
                  <a:pt x="259346" y="4414305"/>
                </a:cubicBezTo>
                <a:cubicBezTo>
                  <a:pt x="325769" y="4424975"/>
                  <a:pt x="340863" y="4400076"/>
                  <a:pt x="325769" y="4321821"/>
                </a:cubicBezTo>
                <a:cubicBezTo>
                  <a:pt x="301616" y="4200882"/>
                  <a:pt x="337844" y="4140411"/>
                  <a:pt x="434458" y="4172424"/>
                </a:cubicBezTo>
                <a:cubicBezTo>
                  <a:pt x="525031" y="4204438"/>
                  <a:pt x="534089" y="4158196"/>
                  <a:pt x="509936" y="4090612"/>
                </a:cubicBezTo>
                <a:cubicBezTo>
                  <a:pt x="473706" y="3991015"/>
                  <a:pt x="512954" y="3912759"/>
                  <a:pt x="540128" y="3827390"/>
                </a:cubicBezTo>
                <a:cubicBezTo>
                  <a:pt x="582395" y="3699337"/>
                  <a:pt x="564281" y="3635309"/>
                  <a:pt x="476725" y="3539269"/>
                </a:cubicBezTo>
                <a:cubicBezTo>
                  <a:pt x="425400" y="3485914"/>
                  <a:pt x="374074" y="3439672"/>
                  <a:pt x="301616" y="3393429"/>
                </a:cubicBezTo>
                <a:cubicBezTo>
                  <a:pt x="467668" y="3368530"/>
                  <a:pt x="295577" y="3283162"/>
                  <a:pt x="352940" y="3229805"/>
                </a:cubicBezTo>
                <a:cubicBezTo>
                  <a:pt x="470686" y="3208463"/>
                  <a:pt x="564281" y="3379202"/>
                  <a:pt x="724294" y="3329402"/>
                </a:cubicBezTo>
                <a:cubicBezTo>
                  <a:pt x="531070" y="3183563"/>
                  <a:pt x="313691" y="3137322"/>
                  <a:pt x="171792" y="2941684"/>
                </a:cubicBezTo>
                <a:cubicBezTo>
                  <a:pt x="205002" y="2899000"/>
                  <a:pt x="238213" y="2941684"/>
                  <a:pt x="265385" y="2923898"/>
                </a:cubicBezTo>
                <a:cubicBezTo>
                  <a:pt x="265385" y="2913227"/>
                  <a:pt x="582395" y="2980812"/>
                  <a:pt x="600510" y="2703362"/>
                </a:cubicBezTo>
                <a:cubicBezTo>
                  <a:pt x="606548" y="2703362"/>
                  <a:pt x="612587" y="2703362"/>
                  <a:pt x="618624" y="2692689"/>
                </a:cubicBezTo>
                <a:cubicBezTo>
                  <a:pt x="651834" y="2653563"/>
                  <a:pt x="621644" y="2561080"/>
                  <a:pt x="675988" y="2553965"/>
                </a:cubicBezTo>
                <a:cubicBezTo>
                  <a:pt x="736372" y="2546851"/>
                  <a:pt x="793735" y="2514837"/>
                  <a:pt x="857136" y="2532623"/>
                </a:cubicBezTo>
                <a:cubicBezTo>
                  <a:pt x="905443" y="2546851"/>
                  <a:pt x="956768" y="2564636"/>
                  <a:pt x="1008094" y="2564636"/>
                </a:cubicBezTo>
                <a:cubicBezTo>
                  <a:pt x="1062438" y="2564636"/>
                  <a:pt x="1137916" y="2685576"/>
                  <a:pt x="1171128" y="2525509"/>
                </a:cubicBezTo>
                <a:cubicBezTo>
                  <a:pt x="1171128" y="2518395"/>
                  <a:pt x="1264720" y="2536181"/>
                  <a:pt x="1316045" y="2543294"/>
                </a:cubicBezTo>
                <a:cubicBezTo>
                  <a:pt x="1358314" y="2550408"/>
                  <a:pt x="1409640" y="2582422"/>
                  <a:pt x="1439830" y="2518395"/>
                </a:cubicBezTo>
                <a:cubicBezTo>
                  <a:pt x="1454926" y="2479267"/>
                  <a:pt x="1382466" y="2408126"/>
                  <a:pt x="1319065" y="2401012"/>
                </a:cubicBezTo>
                <a:cubicBezTo>
                  <a:pt x="1261702" y="2393898"/>
                  <a:pt x="1204338" y="2386784"/>
                  <a:pt x="1149994" y="2401012"/>
                </a:cubicBezTo>
                <a:cubicBezTo>
                  <a:pt x="1083572" y="2418796"/>
                  <a:pt x="1047342" y="2390340"/>
                  <a:pt x="1029227" y="2326314"/>
                </a:cubicBezTo>
                <a:cubicBezTo>
                  <a:pt x="1008094" y="2258731"/>
                  <a:pt x="968844" y="2223159"/>
                  <a:pt x="914500" y="2191146"/>
                </a:cubicBezTo>
                <a:cubicBezTo>
                  <a:pt x="781658" y="2112891"/>
                  <a:pt x="654854" y="2020407"/>
                  <a:pt x="509936" y="1974165"/>
                </a:cubicBezTo>
                <a:cubicBezTo>
                  <a:pt x="482764" y="1967051"/>
                  <a:pt x="449553" y="1952823"/>
                  <a:pt x="437476" y="1892353"/>
                </a:cubicBezTo>
                <a:cubicBezTo>
                  <a:pt x="829964" y="1984836"/>
                  <a:pt x="1186222" y="2223159"/>
                  <a:pt x="1590788" y="2208931"/>
                </a:cubicBezTo>
                <a:cubicBezTo>
                  <a:pt x="1482098" y="2134233"/>
                  <a:pt x="1352276" y="2130676"/>
                  <a:pt x="1234528" y="2077320"/>
                </a:cubicBezTo>
                <a:cubicBezTo>
                  <a:pt x="1319065" y="2038192"/>
                  <a:pt x="1397562" y="2080877"/>
                  <a:pt x="1476060" y="2102219"/>
                </a:cubicBezTo>
                <a:cubicBezTo>
                  <a:pt x="1542482" y="2120004"/>
                  <a:pt x="1602864" y="2123562"/>
                  <a:pt x="1608902" y="2013292"/>
                </a:cubicBezTo>
                <a:cubicBezTo>
                  <a:pt x="1608902" y="2002622"/>
                  <a:pt x="1608902" y="1995507"/>
                  <a:pt x="1608902" y="1984836"/>
                </a:cubicBezTo>
                <a:cubicBezTo>
                  <a:pt x="1584749" y="1938595"/>
                  <a:pt x="1551538" y="1917252"/>
                  <a:pt x="1509271" y="1903025"/>
                </a:cubicBezTo>
                <a:cubicBezTo>
                  <a:pt x="1485118" y="1895910"/>
                  <a:pt x="1451907" y="1881683"/>
                  <a:pt x="1451907" y="1849668"/>
                </a:cubicBezTo>
                <a:cubicBezTo>
                  <a:pt x="1454926" y="1728729"/>
                  <a:pt x="1373409" y="1693158"/>
                  <a:pt x="1294912" y="1657587"/>
                </a:cubicBezTo>
                <a:cubicBezTo>
                  <a:pt x="1337180" y="1597117"/>
                  <a:pt x="1373409" y="1639802"/>
                  <a:pt x="1406620" y="1636245"/>
                </a:cubicBezTo>
                <a:cubicBezTo>
                  <a:pt x="1427754" y="1632688"/>
                  <a:pt x="1448887" y="1629132"/>
                  <a:pt x="1448887" y="1597117"/>
                </a:cubicBezTo>
                <a:cubicBezTo>
                  <a:pt x="1448887" y="1572219"/>
                  <a:pt x="1439830" y="1540204"/>
                  <a:pt x="1418696" y="1540204"/>
                </a:cubicBezTo>
                <a:cubicBezTo>
                  <a:pt x="1285854" y="1536647"/>
                  <a:pt x="1210375" y="1365909"/>
                  <a:pt x="1071494" y="1365909"/>
                </a:cubicBezTo>
                <a:cubicBezTo>
                  <a:pt x="986960" y="1365909"/>
                  <a:pt x="1113764" y="1269868"/>
                  <a:pt x="1044324" y="1230741"/>
                </a:cubicBezTo>
                <a:cubicBezTo>
                  <a:pt x="1029227" y="1220069"/>
                  <a:pt x="1086591" y="1205842"/>
                  <a:pt x="1110744" y="1209399"/>
                </a:cubicBezTo>
                <a:cubicBezTo>
                  <a:pt x="1134897" y="1212955"/>
                  <a:pt x="1156032" y="1237855"/>
                  <a:pt x="1186222" y="1220069"/>
                </a:cubicBezTo>
                <a:cubicBezTo>
                  <a:pt x="1201318" y="1156043"/>
                  <a:pt x="1162069" y="1131144"/>
                  <a:pt x="1125840" y="1113358"/>
                </a:cubicBezTo>
                <a:cubicBezTo>
                  <a:pt x="1047342" y="1070674"/>
                  <a:pt x="968844" y="1020875"/>
                  <a:pt x="881290" y="1006647"/>
                </a:cubicBezTo>
                <a:cubicBezTo>
                  <a:pt x="851099" y="1003089"/>
                  <a:pt x="832982" y="985305"/>
                  <a:pt x="836002" y="949734"/>
                </a:cubicBezTo>
                <a:cubicBezTo>
                  <a:pt x="842040" y="903491"/>
                  <a:pt x="872232" y="917720"/>
                  <a:pt x="896385" y="921277"/>
                </a:cubicBezTo>
                <a:cubicBezTo>
                  <a:pt x="911482" y="924835"/>
                  <a:pt x="926577" y="935506"/>
                  <a:pt x="941672" y="910606"/>
                </a:cubicBezTo>
                <a:cubicBezTo>
                  <a:pt x="588434" y="658055"/>
                  <a:pt x="401247" y="672284"/>
                  <a:pt x="5740" y="465975"/>
                </a:cubicBezTo>
                <a:cubicBezTo>
                  <a:pt x="93294" y="426847"/>
                  <a:pt x="156696" y="455303"/>
                  <a:pt x="217079" y="462417"/>
                </a:cubicBezTo>
                <a:cubicBezTo>
                  <a:pt x="368036" y="480203"/>
                  <a:pt x="274442" y="512216"/>
                  <a:pt x="425400" y="533558"/>
                </a:cubicBezTo>
                <a:cubicBezTo>
                  <a:pt x="497860" y="544229"/>
                  <a:pt x="564281" y="579800"/>
                  <a:pt x="645798" y="522887"/>
                </a:cubicBezTo>
                <a:cubicBezTo>
                  <a:pt x="700142" y="483759"/>
                  <a:pt x="787696" y="526444"/>
                  <a:pt x="854118" y="558458"/>
                </a:cubicBezTo>
                <a:cubicBezTo>
                  <a:pt x="908462" y="586915"/>
                  <a:pt x="962806" y="594028"/>
                  <a:pt x="1035266" y="558458"/>
                </a:cubicBezTo>
                <a:cubicBezTo>
                  <a:pt x="968844" y="537116"/>
                  <a:pt x="917520" y="519330"/>
                  <a:pt x="866193" y="505101"/>
                </a:cubicBezTo>
                <a:cubicBezTo>
                  <a:pt x="823926" y="494431"/>
                  <a:pt x="799772" y="469532"/>
                  <a:pt x="802792" y="416176"/>
                </a:cubicBezTo>
                <a:cubicBezTo>
                  <a:pt x="802792" y="387720"/>
                  <a:pt x="793735" y="348592"/>
                  <a:pt x="823926" y="334364"/>
                </a:cubicBezTo>
                <a:cubicBezTo>
                  <a:pt x="848079" y="320135"/>
                  <a:pt x="881290" y="334364"/>
                  <a:pt x="893366" y="359262"/>
                </a:cubicBezTo>
                <a:cubicBezTo>
                  <a:pt x="908462" y="405504"/>
                  <a:pt x="923557" y="448189"/>
                  <a:pt x="974883" y="451747"/>
                </a:cubicBezTo>
                <a:cubicBezTo>
                  <a:pt x="1044324" y="458860"/>
                  <a:pt x="1005074" y="430405"/>
                  <a:pt x="992998" y="394834"/>
                </a:cubicBezTo>
                <a:cubicBezTo>
                  <a:pt x="980921" y="355706"/>
                  <a:pt x="1017152" y="345034"/>
                  <a:pt x="1041304" y="352148"/>
                </a:cubicBezTo>
                <a:cubicBezTo>
                  <a:pt x="1131878" y="384162"/>
                  <a:pt x="1225472" y="327250"/>
                  <a:pt x="1319065" y="373491"/>
                </a:cubicBezTo>
                <a:cubicBezTo>
                  <a:pt x="1294912" y="259665"/>
                  <a:pt x="1243586" y="209867"/>
                  <a:pt x="1134897" y="192082"/>
                </a:cubicBezTo>
                <a:cubicBezTo>
                  <a:pt x="1095648" y="188525"/>
                  <a:pt x="1053380" y="195638"/>
                  <a:pt x="1017152" y="163625"/>
                </a:cubicBezTo>
                <a:cubicBezTo>
                  <a:pt x="996016" y="145839"/>
                  <a:pt x="974883" y="124497"/>
                  <a:pt x="989979" y="88927"/>
                </a:cubicBezTo>
                <a:cubicBezTo>
                  <a:pt x="999036" y="64027"/>
                  <a:pt x="1023188" y="64027"/>
                  <a:pt x="1044324" y="71141"/>
                </a:cubicBezTo>
                <a:cubicBezTo>
                  <a:pt x="1131878" y="110269"/>
                  <a:pt x="1225472" y="120941"/>
                  <a:pt x="1316045" y="135168"/>
                </a:cubicBezTo>
                <a:cubicBezTo>
                  <a:pt x="1331142" y="138725"/>
                  <a:pt x="1346237" y="145839"/>
                  <a:pt x="1361334" y="110269"/>
                </a:cubicBezTo>
                <a:cubicBezTo>
                  <a:pt x="1255664" y="78255"/>
                  <a:pt x="1153012" y="35571"/>
                  <a:pt x="104734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46962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2743200"/>
          </a:xfrm>
          <a:prstGeom prst="ellipse">
            <a:avLst/>
          </a:prstGeom>
          <a:solidFill>
            <a:srgbClr val="1B0A3A">
              <a:alpha val="60000"/>
            </a:srgbClr>
          </a:solidFill>
          <a:ln w="12700">
            <a:solidFill>
              <a:srgbClr val="1B0A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200400"/>
          </a:xfrm>
          <a:prstGeom prst="ellipse">
            <a:avLst/>
          </a:prstGeom>
          <a:solidFill>
            <a:srgbClr val="001A3A">
              <a:alpha val="55000"/>
            </a:srgbClr>
          </a:solidFill>
          <a:ln w="12700">
            <a:solidFill>
              <a:srgbClr val="001A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00C6FF"/>
                </a:solidFill>
                <a:latin typeface="Calibri"/>
                <a:ea typeface="Calibri"/>
                <a:cs typeface="Calibri"/>
              </a:rPr>
              <a:t>DIAGRAMMES SCRUM — BURNDOWN &amp; VÉLOCITÉ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7B2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progression — Sprint 1 → Sprint 3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5029200" cy="397764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5029200" cy="347472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601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📉  Burndown Chart — Sprint 1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822960" y="1417320"/>
            <a:ext cx="0" cy="3017520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4434840"/>
            <a:ext cx="4297680" cy="0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417320"/>
            <a:ext cx="4297680" cy="3017520"/>
          </a:xfrm>
          <a:prstGeom prst="line">
            <a:avLst/>
          </a:prstGeom>
          <a:noFill/>
          <a:ln w="12700">
            <a:solidFill>
              <a:srgbClr val="8899AA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389120" y="4224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>
                <a:solidFill>
                  <a:srgbClr val="8899AA"/>
                </a:solidFill>
              </a:rPr>
              <a:t>Idéal</a:t>
            </a:r>
            <a:endParaRPr lang="en-US" sz="700"/>
          </a:p>
        </p:txBody>
      </p:sp>
      <p:sp>
        <p:nvSpPr>
          <p:cNvPr id="14" name="Shape 12"/>
          <p:cNvSpPr/>
          <p:nvPr/>
        </p:nvSpPr>
        <p:spPr>
          <a:xfrm>
            <a:off x="822960" y="1417320"/>
            <a:ext cx="429768" cy="0"/>
          </a:xfrm>
          <a:prstGeom prst="line">
            <a:avLst/>
          </a:prstGeom>
          <a:noFill/>
          <a:ln w="31750">
            <a:solidFill>
              <a:srgbClr val="00C6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1371600"/>
            <a:ext cx="91440" cy="9144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2728" y="1417320"/>
            <a:ext cx="429768" cy="377190"/>
          </a:xfrm>
          <a:prstGeom prst="line">
            <a:avLst/>
          </a:prstGeom>
          <a:noFill/>
          <a:ln w="31750">
            <a:solidFill>
              <a:srgbClr val="00C6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7008" y="1371600"/>
            <a:ext cx="91440" cy="9144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82496" y="1794510"/>
            <a:ext cx="429768" cy="377190"/>
          </a:xfrm>
          <a:prstGeom prst="line">
            <a:avLst/>
          </a:prstGeom>
          <a:noFill/>
          <a:ln w="31750">
            <a:solidFill>
              <a:srgbClr val="00C6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36776" y="1748790"/>
            <a:ext cx="91440" cy="9144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12264" y="2171700"/>
            <a:ext cx="429768" cy="377190"/>
          </a:xfrm>
          <a:prstGeom prst="line">
            <a:avLst/>
          </a:prstGeom>
          <a:noFill/>
          <a:ln w="31750">
            <a:solidFill>
              <a:srgbClr val="00C6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66544" y="2125980"/>
            <a:ext cx="91440" cy="9144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42032" y="2548890"/>
            <a:ext cx="429768" cy="188595"/>
          </a:xfrm>
          <a:prstGeom prst="line">
            <a:avLst/>
          </a:prstGeom>
          <a:noFill/>
          <a:ln w="31750">
            <a:solidFill>
              <a:srgbClr val="00C6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96312" y="2503170"/>
            <a:ext cx="91440" cy="9144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2737485"/>
            <a:ext cx="429768" cy="377190"/>
          </a:xfrm>
          <a:prstGeom prst="line">
            <a:avLst/>
          </a:prstGeom>
          <a:noFill/>
          <a:ln w="31750">
            <a:solidFill>
              <a:srgbClr val="00C6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0" y="2691765"/>
            <a:ext cx="91440" cy="9144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01568" y="3114675"/>
            <a:ext cx="429768" cy="377190"/>
          </a:xfrm>
          <a:prstGeom prst="line">
            <a:avLst/>
          </a:prstGeom>
          <a:noFill/>
          <a:ln w="31750">
            <a:solidFill>
              <a:srgbClr val="00C6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55848" y="3068955"/>
            <a:ext cx="91440" cy="9144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31336" y="3491865"/>
            <a:ext cx="429768" cy="188595"/>
          </a:xfrm>
          <a:prstGeom prst="line">
            <a:avLst/>
          </a:prstGeom>
          <a:noFill/>
          <a:ln w="31750">
            <a:solidFill>
              <a:srgbClr val="00C6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85616" y="3446145"/>
            <a:ext cx="91440" cy="9144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61104" y="3680460"/>
            <a:ext cx="429768" cy="377190"/>
          </a:xfrm>
          <a:prstGeom prst="line">
            <a:avLst/>
          </a:prstGeom>
          <a:noFill/>
          <a:ln w="31750">
            <a:solidFill>
              <a:srgbClr val="00C6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15384" y="3634740"/>
            <a:ext cx="91440" cy="9144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90872" y="4057650"/>
            <a:ext cx="429768" cy="377190"/>
          </a:xfrm>
          <a:prstGeom prst="line">
            <a:avLst/>
          </a:prstGeom>
          <a:noFill/>
          <a:ln w="31750">
            <a:solidFill>
              <a:srgbClr val="00C6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45152" y="4011930"/>
            <a:ext cx="91440" cy="9144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74920" y="4389120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128016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8899AA"/>
                </a:solidFill>
              </a:rPr>
              <a:t>16</a:t>
            </a:r>
            <a:endParaRPr lang="en-US" sz="700"/>
          </a:p>
        </p:txBody>
      </p:sp>
      <p:sp>
        <p:nvSpPr>
          <p:cNvPr id="36" name="Shape 34"/>
          <p:cNvSpPr/>
          <p:nvPr/>
        </p:nvSpPr>
        <p:spPr>
          <a:xfrm>
            <a:off x="795528" y="1417320"/>
            <a:ext cx="54864" cy="0"/>
          </a:xfrm>
          <a:prstGeom prst="line">
            <a:avLst/>
          </a:prstGeom>
          <a:noFill/>
          <a:ln w="6350">
            <a:solidFill>
              <a:srgbClr val="8899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03454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8899AA"/>
                </a:solidFill>
              </a:rPr>
              <a:t>12</a:t>
            </a:r>
            <a:endParaRPr lang="en-US" sz="700"/>
          </a:p>
        </p:txBody>
      </p:sp>
      <p:sp>
        <p:nvSpPr>
          <p:cNvPr id="38" name="Shape 36"/>
          <p:cNvSpPr/>
          <p:nvPr/>
        </p:nvSpPr>
        <p:spPr>
          <a:xfrm>
            <a:off x="795528" y="2171700"/>
            <a:ext cx="54864" cy="0"/>
          </a:xfrm>
          <a:prstGeom prst="line">
            <a:avLst/>
          </a:prstGeom>
          <a:noFill/>
          <a:ln w="6350">
            <a:solidFill>
              <a:srgbClr val="8899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278892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8899AA"/>
                </a:solidFill>
              </a:rPr>
              <a:t>8</a:t>
            </a:r>
            <a:endParaRPr lang="en-US" sz="700"/>
          </a:p>
        </p:txBody>
      </p:sp>
      <p:sp>
        <p:nvSpPr>
          <p:cNvPr id="40" name="Shape 38"/>
          <p:cNvSpPr/>
          <p:nvPr/>
        </p:nvSpPr>
        <p:spPr>
          <a:xfrm>
            <a:off x="795528" y="2926080"/>
            <a:ext cx="54864" cy="0"/>
          </a:xfrm>
          <a:prstGeom prst="line">
            <a:avLst/>
          </a:prstGeom>
          <a:noFill/>
          <a:ln w="6350">
            <a:solidFill>
              <a:srgbClr val="8899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54330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8899AA"/>
                </a:solidFill>
              </a:rPr>
              <a:t>4</a:t>
            </a:r>
            <a:endParaRPr lang="en-US" sz="700"/>
          </a:p>
        </p:txBody>
      </p:sp>
      <p:sp>
        <p:nvSpPr>
          <p:cNvPr id="42" name="Shape 40"/>
          <p:cNvSpPr/>
          <p:nvPr/>
        </p:nvSpPr>
        <p:spPr>
          <a:xfrm>
            <a:off x="795528" y="3680460"/>
            <a:ext cx="54864" cy="0"/>
          </a:xfrm>
          <a:prstGeom prst="line">
            <a:avLst/>
          </a:prstGeom>
          <a:noFill/>
          <a:ln w="6350">
            <a:solidFill>
              <a:srgbClr val="8899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29768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8899AA"/>
                </a:solidFill>
              </a:rPr>
              <a:t>0</a:t>
            </a:r>
            <a:endParaRPr lang="en-US" sz="700"/>
          </a:p>
        </p:txBody>
      </p:sp>
      <p:sp>
        <p:nvSpPr>
          <p:cNvPr id="44" name="Shape 42"/>
          <p:cNvSpPr/>
          <p:nvPr/>
        </p:nvSpPr>
        <p:spPr>
          <a:xfrm>
            <a:off x="795528" y="4434840"/>
            <a:ext cx="54864" cy="0"/>
          </a:xfrm>
          <a:prstGeom prst="line">
            <a:avLst/>
          </a:prstGeom>
          <a:noFill/>
          <a:ln w="6350">
            <a:solidFill>
              <a:srgbClr val="8899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9808" y="446227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8899AA"/>
                </a:solidFill>
              </a:rPr>
              <a:t>J1</a:t>
            </a:r>
            <a:endParaRPr lang="en-US" sz="650"/>
          </a:p>
        </p:txBody>
      </p:sp>
      <p:sp>
        <p:nvSpPr>
          <p:cNvPr id="46" name="Text 44"/>
          <p:cNvSpPr/>
          <p:nvPr/>
        </p:nvSpPr>
        <p:spPr>
          <a:xfrm>
            <a:off x="1179576" y="446227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8899AA"/>
                </a:solidFill>
              </a:rPr>
              <a:t>J2</a:t>
            </a:r>
            <a:endParaRPr lang="en-US" sz="650"/>
          </a:p>
        </p:txBody>
      </p:sp>
      <p:sp>
        <p:nvSpPr>
          <p:cNvPr id="47" name="Text 45"/>
          <p:cNvSpPr/>
          <p:nvPr/>
        </p:nvSpPr>
        <p:spPr>
          <a:xfrm>
            <a:off x="1609344" y="446227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8899AA"/>
                </a:solidFill>
              </a:rPr>
              <a:t>J3</a:t>
            </a:r>
            <a:endParaRPr lang="en-US" sz="650"/>
          </a:p>
        </p:txBody>
      </p:sp>
      <p:sp>
        <p:nvSpPr>
          <p:cNvPr id="48" name="Text 46"/>
          <p:cNvSpPr/>
          <p:nvPr/>
        </p:nvSpPr>
        <p:spPr>
          <a:xfrm>
            <a:off x="2039112" y="446227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8899AA"/>
                </a:solidFill>
              </a:rPr>
              <a:t>J4</a:t>
            </a:r>
            <a:endParaRPr lang="en-US" sz="650"/>
          </a:p>
        </p:txBody>
      </p:sp>
      <p:sp>
        <p:nvSpPr>
          <p:cNvPr id="49" name="Text 47"/>
          <p:cNvSpPr/>
          <p:nvPr/>
        </p:nvSpPr>
        <p:spPr>
          <a:xfrm>
            <a:off x="2468880" y="446227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8899AA"/>
                </a:solidFill>
              </a:rPr>
              <a:t>J5</a:t>
            </a:r>
            <a:endParaRPr lang="en-US" sz="650"/>
          </a:p>
        </p:txBody>
      </p:sp>
      <p:sp>
        <p:nvSpPr>
          <p:cNvPr id="50" name="Text 48"/>
          <p:cNvSpPr/>
          <p:nvPr/>
        </p:nvSpPr>
        <p:spPr>
          <a:xfrm>
            <a:off x="2898648" y="446227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8899AA"/>
                </a:solidFill>
              </a:rPr>
              <a:t>J6</a:t>
            </a:r>
            <a:endParaRPr lang="en-US" sz="650"/>
          </a:p>
        </p:txBody>
      </p:sp>
      <p:sp>
        <p:nvSpPr>
          <p:cNvPr id="51" name="Text 49"/>
          <p:cNvSpPr/>
          <p:nvPr/>
        </p:nvSpPr>
        <p:spPr>
          <a:xfrm>
            <a:off x="3328416" y="446227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8899AA"/>
                </a:solidFill>
              </a:rPr>
              <a:t>J7</a:t>
            </a:r>
            <a:endParaRPr lang="en-US" sz="650"/>
          </a:p>
        </p:txBody>
      </p:sp>
      <p:sp>
        <p:nvSpPr>
          <p:cNvPr id="52" name="Text 50"/>
          <p:cNvSpPr/>
          <p:nvPr/>
        </p:nvSpPr>
        <p:spPr>
          <a:xfrm>
            <a:off x="3758184" y="446227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8899AA"/>
                </a:solidFill>
              </a:rPr>
              <a:t>J8</a:t>
            </a:r>
            <a:endParaRPr lang="en-US" sz="650"/>
          </a:p>
        </p:txBody>
      </p:sp>
      <p:sp>
        <p:nvSpPr>
          <p:cNvPr id="53" name="Text 51"/>
          <p:cNvSpPr/>
          <p:nvPr/>
        </p:nvSpPr>
        <p:spPr>
          <a:xfrm>
            <a:off x="4187952" y="446227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8899AA"/>
                </a:solidFill>
              </a:rPr>
              <a:t>J9</a:t>
            </a:r>
            <a:endParaRPr lang="en-US" sz="650"/>
          </a:p>
        </p:txBody>
      </p:sp>
      <p:sp>
        <p:nvSpPr>
          <p:cNvPr id="54" name="Text 52"/>
          <p:cNvSpPr/>
          <p:nvPr/>
        </p:nvSpPr>
        <p:spPr>
          <a:xfrm>
            <a:off x="4617720" y="446227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8899AA"/>
                </a:solidFill>
              </a:rPr>
              <a:t>J10</a:t>
            </a:r>
            <a:endParaRPr lang="en-US" sz="650"/>
          </a:p>
        </p:txBody>
      </p:sp>
      <p:sp>
        <p:nvSpPr>
          <p:cNvPr id="55" name="Text 53"/>
          <p:cNvSpPr/>
          <p:nvPr/>
        </p:nvSpPr>
        <p:spPr>
          <a:xfrm>
            <a:off x="5047488" y="446227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8899AA"/>
                </a:solidFill>
              </a:rPr>
              <a:t>J11</a:t>
            </a:r>
            <a:endParaRPr lang="en-US" sz="650"/>
          </a:p>
        </p:txBody>
      </p:sp>
      <p:sp>
        <p:nvSpPr>
          <p:cNvPr id="56" name="Text 54"/>
          <p:cNvSpPr/>
          <p:nvPr/>
        </p:nvSpPr>
        <p:spPr>
          <a:xfrm rot="16200000">
            <a:off x="320040" y="2377440"/>
            <a:ext cx="457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>
                <a:solidFill>
                  <a:srgbClr val="8899AA"/>
                </a:solidFill>
              </a:rPr>
              <a:t>Points restants (story points)</a:t>
            </a:r>
            <a:endParaRPr lang="en-US" sz="700"/>
          </a:p>
        </p:txBody>
      </p:sp>
      <p:sp>
        <p:nvSpPr>
          <p:cNvPr id="57" name="Text 55"/>
          <p:cNvSpPr/>
          <p:nvPr/>
        </p:nvSpPr>
        <p:spPr>
          <a:xfrm>
            <a:off x="1371600" y="46634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>
                <a:solidFill>
                  <a:srgbClr val="8899AA"/>
                </a:solidFill>
              </a:rPr>
              <a:t>Jours du sprint</a:t>
            </a:r>
            <a:endParaRPr lang="en-US" sz="700"/>
          </a:p>
        </p:txBody>
      </p:sp>
      <p:sp>
        <p:nvSpPr>
          <p:cNvPr id="58" name="Shape 56"/>
          <p:cNvSpPr/>
          <p:nvPr/>
        </p:nvSpPr>
        <p:spPr>
          <a:xfrm>
            <a:off x="5577840" y="960120"/>
            <a:ext cx="3291840" cy="397764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5577840" y="960120"/>
            <a:ext cx="3291840" cy="34747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77840" y="9601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A0E1A"/>
                </a:solidFill>
              </a:rPr>
              <a:t>📈  Vélocité par Sprint</a:t>
            </a:r>
            <a:endParaRPr lang="en-US" sz="1100"/>
          </a:p>
        </p:txBody>
      </p:sp>
      <p:sp>
        <p:nvSpPr>
          <p:cNvPr id="61" name="Shape 59"/>
          <p:cNvSpPr/>
          <p:nvPr/>
        </p:nvSpPr>
        <p:spPr>
          <a:xfrm>
            <a:off x="5852160" y="2712720"/>
            <a:ext cx="411480" cy="1219200"/>
          </a:xfrm>
          <a:prstGeom prst="rect">
            <a:avLst/>
          </a:prstGeom>
          <a:solidFill>
            <a:srgbClr val="00C6FF">
              <a:alpha val="35000"/>
            </a:srgbClr>
          </a:solidFill>
          <a:ln w="6350">
            <a:solidFill>
              <a:srgbClr val="00C6FF">
                <a:alpha val="6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897880" y="2712720"/>
            <a:ext cx="320040" cy="12192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52160" y="24384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0C6FF"/>
                </a:solidFill>
              </a:rPr>
              <a:t>16</a:t>
            </a:r>
            <a:endParaRPr lang="en-US" sz="1200"/>
          </a:p>
        </p:txBody>
      </p:sp>
      <p:sp>
        <p:nvSpPr>
          <p:cNvPr id="64" name="Text 62"/>
          <p:cNvSpPr/>
          <p:nvPr/>
        </p:nvSpPr>
        <p:spPr>
          <a:xfrm>
            <a:off x="5852160" y="265785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00C6FF"/>
                </a:solidFill>
              </a:rPr>
              <a:t>pts</a:t>
            </a:r>
            <a:endParaRPr lang="en-US" sz="700"/>
          </a:p>
        </p:txBody>
      </p:sp>
      <p:sp>
        <p:nvSpPr>
          <p:cNvPr id="65" name="Text 63"/>
          <p:cNvSpPr/>
          <p:nvPr/>
        </p:nvSpPr>
        <p:spPr>
          <a:xfrm>
            <a:off x="5806440" y="39776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8899AA"/>
                </a:solidFill>
              </a:rPr>
              <a:t>Sprint 1</a:t>
            </a:r>
            <a:endParaRPr lang="en-US" sz="750"/>
          </a:p>
        </p:txBody>
      </p:sp>
      <p:sp>
        <p:nvSpPr>
          <p:cNvPr id="66" name="Shape 64"/>
          <p:cNvSpPr/>
          <p:nvPr/>
        </p:nvSpPr>
        <p:spPr>
          <a:xfrm>
            <a:off x="6858000" y="2331720"/>
            <a:ext cx="411480" cy="1600200"/>
          </a:xfrm>
          <a:prstGeom prst="rect">
            <a:avLst/>
          </a:prstGeom>
          <a:solidFill>
            <a:srgbClr val="7B2FFF">
              <a:alpha val="35000"/>
            </a:srgbClr>
          </a:solidFill>
          <a:ln w="6350">
            <a:solidFill>
              <a:srgbClr val="7B2FFF">
                <a:alpha val="6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903720" y="2331720"/>
            <a:ext cx="320040" cy="160020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58000" y="20574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7B2FFF"/>
                </a:solidFill>
              </a:rPr>
              <a:t>21</a:t>
            </a:r>
            <a:endParaRPr lang="en-US" sz="1200"/>
          </a:p>
        </p:txBody>
      </p:sp>
      <p:sp>
        <p:nvSpPr>
          <p:cNvPr id="69" name="Text 67"/>
          <p:cNvSpPr/>
          <p:nvPr/>
        </p:nvSpPr>
        <p:spPr>
          <a:xfrm>
            <a:off x="6858000" y="227685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7B2FFF"/>
                </a:solidFill>
              </a:rPr>
              <a:t>pts</a:t>
            </a:r>
            <a:endParaRPr lang="en-US" sz="700"/>
          </a:p>
        </p:txBody>
      </p:sp>
      <p:sp>
        <p:nvSpPr>
          <p:cNvPr id="70" name="Text 68"/>
          <p:cNvSpPr/>
          <p:nvPr/>
        </p:nvSpPr>
        <p:spPr>
          <a:xfrm>
            <a:off x="6812280" y="39776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8899AA"/>
                </a:solidFill>
              </a:rPr>
              <a:t>Sprint 2</a:t>
            </a:r>
            <a:endParaRPr lang="en-US" sz="750"/>
          </a:p>
        </p:txBody>
      </p:sp>
      <p:sp>
        <p:nvSpPr>
          <p:cNvPr id="71" name="Shape 69"/>
          <p:cNvSpPr/>
          <p:nvPr/>
        </p:nvSpPr>
        <p:spPr>
          <a:xfrm>
            <a:off x="7863840" y="1950720"/>
            <a:ext cx="411480" cy="1981200"/>
          </a:xfrm>
          <a:prstGeom prst="rect">
            <a:avLst/>
          </a:prstGeom>
          <a:solidFill>
            <a:srgbClr val="06D6A0">
              <a:alpha val="35000"/>
            </a:srgbClr>
          </a:solidFill>
          <a:ln w="6350">
            <a:solidFill>
              <a:srgbClr val="06D6A0">
                <a:alpha val="6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909560" y="1950720"/>
            <a:ext cx="320040" cy="1981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863840" y="16764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6D6A0"/>
                </a:solidFill>
              </a:rPr>
              <a:t>26</a:t>
            </a:r>
            <a:endParaRPr lang="en-US" sz="1200"/>
          </a:p>
        </p:txBody>
      </p:sp>
      <p:sp>
        <p:nvSpPr>
          <p:cNvPr id="74" name="Text 72"/>
          <p:cNvSpPr/>
          <p:nvPr/>
        </p:nvSpPr>
        <p:spPr>
          <a:xfrm>
            <a:off x="7863840" y="189585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06D6A0"/>
                </a:solidFill>
              </a:rPr>
              <a:t>pts</a:t>
            </a:r>
            <a:endParaRPr lang="en-US" sz="700"/>
          </a:p>
        </p:txBody>
      </p:sp>
      <p:sp>
        <p:nvSpPr>
          <p:cNvPr id="75" name="Text 73"/>
          <p:cNvSpPr/>
          <p:nvPr/>
        </p:nvSpPr>
        <p:spPr>
          <a:xfrm>
            <a:off x="7818120" y="39776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8899AA"/>
                </a:solidFill>
              </a:rPr>
              <a:t>Sprint 3</a:t>
            </a:r>
            <a:endParaRPr lang="en-US" sz="750"/>
          </a:p>
        </p:txBody>
      </p:sp>
      <p:sp>
        <p:nvSpPr>
          <p:cNvPr id="76" name="Shape 74"/>
          <p:cNvSpPr/>
          <p:nvPr/>
        </p:nvSpPr>
        <p:spPr>
          <a:xfrm>
            <a:off x="5669280" y="2907792"/>
            <a:ext cx="3017520" cy="0"/>
          </a:xfrm>
          <a:prstGeom prst="line">
            <a:avLst/>
          </a:prstGeom>
          <a:noFill/>
          <a:ln w="12700">
            <a:solidFill>
              <a:srgbClr val="EF476F"/>
            </a:solidFill>
            <a:prstDash val="dash"/>
          </a:ln>
        </p:spPr>
      </p:sp>
      <p:sp>
        <p:nvSpPr>
          <p:cNvPr id="77" name="Text 75"/>
          <p:cNvSpPr/>
          <p:nvPr/>
        </p:nvSpPr>
        <p:spPr>
          <a:xfrm>
            <a:off x="8138160" y="281635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>
                <a:solidFill>
                  <a:srgbClr val="EF476F"/>
                </a:solidFill>
              </a:rPr>
              <a:t>Ø = 21 pts</a:t>
            </a:r>
            <a:endParaRPr lang="en-US" sz="700"/>
          </a:p>
        </p:txBody>
      </p:sp>
      <p:sp>
        <p:nvSpPr>
          <p:cNvPr id="78" name="Text 76"/>
          <p:cNvSpPr/>
          <p:nvPr/>
        </p:nvSpPr>
        <p:spPr>
          <a:xfrm>
            <a:off x="5577840" y="42976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6D6A0"/>
                </a:solidFill>
              </a:rPr>
              <a:t>Total : 63 pts livrés en 6 semaines</a:t>
            </a: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2743200"/>
          </a:xfrm>
          <a:prstGeom prst="ellipse">
            <a:avLst/>
          </a:prstGeom>
          <a:solidFill>
            <a:srgbClr val="1B0A3A">
              <a:alpha val="60000"/>
            </a:srgbClr>
          </a:solidFill>
          <a:ln w="12700">
            <a:solidFill>
              <a:srgbClr val="1B0A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200400"/>
          </a:xfrm>
          <a:prstGeom prst="ellipse">
            <a:avLst/>
          </a:prstGeom>
          <a:solidFill>
            <a:srgbClr val="001A3A">
              <a:alpha val="55000"/>
            </a:srgbClr>
          </a:solidFill>
          <a:ln w="12700">
            <a:solidFill>
              <a:srgbClr val="001A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00C6FF"/>
                </a:solidFill>
                <a:latin typeface="Calibri"/>
                <a:ea typeface="Calibri"/>
                <a:cs typeface="Calibri"/>
              </a:rPr>
              <a:t> BILAN &amp; ROADMAP PRODUIT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7B2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60120"/>
            <a:ext cx="1965960" cy="118872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1965960" cy="6400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5156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00C6FF"/>
                </a:solidFill>
              </a:rPr>
              <a:t>63 points</a:t>
            </a:r>
            <a:endParaRPr lang="en-US" sz="2600"/>
          </a:p>
        </p:txBody>
      </p:sp>
      <p:sp>
        <p:nvSpPr>
          <p:cNvPr id="10" name="Text 8"/>
          <p:cNvSpPr/>
          <p:nvPr/>
        </p:nvSpPr>
        <p:spPr>
          <a:xfrm>
            <a:off x="274320" y="153619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Story points livrés</a:t>
            </a:r>
            <a:endParaRPr lang="en-US" sz="850"/>
          </a:p>
        </p:txBody>
      </p:sp>
      <p:sp>
        <p:nvSpPr>
          <p:cNvPr id="11" name="Text 9"/>
          <p:cNvSpPr/>
          <p:nvPr/>
        </p:nvSpPr>
        <p:spPr>
          <a:xfrm>
            <a:off x="274320" y="1764792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8899AA"/>
                </a:solidFill>
              </a:rPr>
              <a:t>en 3 sprints</a:t>
            </a:r>
            <a:endParaRPr lang="en-US" sz="750"/>
          </a:p>
        </p:txBody>
      </p:sp>
      <p:sp>
        <p:nvSpPr>
          <p:cNvPr id="12" name="Shape 10"/>
          <p:cNvSpPr/>
          <p:nvPr/>
        </p:nvSpPr>
        <p:spPr>
          <a:xfrm>
            <a:off x="2450592" y="960120"/>
            <a:ext cx="1965960" cy="118872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960120"/>
            <a:ext cx="196596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105156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06D6A0"/>
                </a:solidFill>
              </a:rPr>
              <a:t>100%</a:t>
            </a:r>
            <a:endParaRPr lang="en-US" sz="2600"/>
          </a:p>
        </p:txBody>
      </p:sp>
      <p:sp>
        <p:nvSpPr>
          <p:cNvPr id="15" name="Text 13"/>
          <p:cNvSpPr/>
          <p:nvPr/>
        </p:nvSpPr>
        <p:spPr>
          <a:xfrm>
            <a:off x="2450592" y="153619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Vélocité atteinte</a:t>
            </a:r>
            <a:endParaRPr lang="en-US" sz="850"/>
          </a:p>
        </p:txBody>
      </p:sp>
      <p:sp>
        <p:nvSpPr>
          <p:cNvPr id="16" name="Text 14"/>
          <p:cNvSpPr/>
          <p:nvPr/>
        </p:nvSpPr>
        <p:spPr>
          <a:xfrm>
            <a:off x="2450592" y="1764792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8899AA"/>
                </a:solidFill>
              </a:rPr>
              <a:t>Sprint 1 &amp; 2</a:t>
            </a:r>
            <a:endParaRPr lang="en-US" sz="750"/>
          </a:p>
        </p:txBody>
      </p:sp>
      <p:sp>
        <p:nvSpPr>
          <p:cNvPr id="17" name="Shape 15"/>
          <p:cNvSpPr/>
          <p:nvPr/>
        </p:nvSpPr>
        <p:spPr>
          <a:xfrm>
            <a:off x="4626864" y="960120"/>
            <a:ext cx="1965960" cy="118872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960120"/>
            <a:ext cx="1965960" cy="6400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105156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B703"/>
                </a:solidFill>
              </a:rPr>
              <a:t>4.5/5 </a:t>
            </a:r>
            <a:endParaRPr lang="en-US" sz="2600"/>
          </a:p>
        </p:txBody>
      </p:sp>
      <p:sp>
        <p:nvSpPr>
          <p:cNvPr id="20" name="Text 18"/>
          <p:cNvSpPr/>
          <p:nvPr/>
        </p:nvSpPr>
        <p:spPr>
          <a:xfrm>
            <a:off x="4626864" y="153619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Satisfaction users</a:t>
            </a:r>
            <a:endParaRPr lang="en-US" sz="850"/>
          </a:p>
        </p:txBody>
      </p:sp>
      <p:sp>
        <p:nvSpPr>
          <p:cNvPr id="21" name="Text 19"/>
          <p:cNvSpPr/>
          <p:nvPr/>
        </p:nvSpPr>
        <p:spPr>
          <a:xfrm>
            <a:off x="4626864" y="1764792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8899AA"/>
                </a:solidFill>
              </a:rPr>
              <a:t>Démo Sprint 1</a:t>
            </a:r>
            <a:endParaRPr lang="en-US" sz="750"/>
          </a:p>
        </p:txBody>
      </p:sp>
      <p:sp>
        <p:nvSpPr>
          <p:cNvPr id="22" name="Shape 20"/>
          <p:cNvSpPr/>
          <p:nvPr/>
        </p:nvSpPr>
        <p:spPr>
          <a:xfrm>
            <a:off x="6803136" y="960120"/>
            <a:ext cx="1965960" cy="118872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03136" y="960120"/>
            <a:ext cx="196596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03136" y="105156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06D6A0"/>
                </a:solidFill>
              </a:rPr>
              <a:t>0 bugs</a:t>
            </a:r>
            <a:endParaRPr lang="en-US" sz="2600"/>
          </a:p>
        </p:txBody>
      </p:sp>
      <p:sp>
        <p:nvSpPr>
          <p:cNvPr id="25" name="Text 23"/>
          <p:cNvSpPr/>
          <p:nvPr/>
        </p:nvSpPr>
        <p:spPr>
          <a:xfrm>
            <a:off x="6803136" y="153619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Critiques en prod</a:t>
            </a:r>
            <a:endParaRPr lang="en-US" sz="850"/>
          </a:p>
        </p:txBody>
      </p:sp>
      <p:sp>
        <p:nvSpPr>
          <p:cNvPr id="26" name="Text 24"/>
          <p:cNvSpPr/>
          <p:nvPr/>
        </p:nvSpPr>
        <p:spPr>
          <a:xfrm>
            <a:off x="6803136" y="1764792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8899AA"/>
                </a:solidFill>
              </a:rPr>
              <a:t>Après Sprint 3</a:t>
            </a:r>
            <a:endParaRPr lang="en-US" sz="750"/>
          </a:p>
        </p:txBody>
      </p:sp>
      <p:sp>
        <p:nvSpPr>
          <p:cNvPr id="27" name="Shape 25"/>
          <p:cNvSpPr/>
          <p:nvPr/>
        </p:nvSpPr>
        <p:spPr>
          <a:xfrm>
            <a:off x="274320" y="2286000"/>
            <a:ext cx="8595360" cy="210312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286000"/>
            <a:ext cx="8595360" cy="320040"/>
          </a:xfrm>
          <a:prstGeom prst="rect">
            <a:avLst/>
          </a:prstGeom>
          <a:solidFill>
            <a:srgbClr val="1B2A4A"/>
          </a:solidFill>
          <a:ln w="6350">
            <a:solidFill>
              <a:srgbClr val="00C6FF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2860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C6FF"/>
                </a:solidFill>
              </a:rPr>
              <a:t>🗺️  ROADMAP PRODUIT — Orbit Nexus 2026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457200" y="2697480"/>
            <a:ext cx="1920240" cy="292608"/>
          </a:xfrm>
          <a:prstGeom prst="rect">
            <a:avLst/>
          </a:prstGeom>
          <a:solidFill>
            <a:srgbClr val="06D6A0">
              <a:alpha val="30000"/>
            </a:srgbClr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697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6D6A0"/>
                </a:solidFill>
              </a:rPr>
              <a:t>S1-S2</a:t>
            </a:r>
            <a:endParaRPr lang="en-US" sz="750"/>
          </a:p>
          <a:p>
            <a:pPr marL="0" indent="0" algn="ctr">
              <a:buNone/>
            </a:pPr>
            <a:r>
              <a:rPr lang="en-US" sz="750" b="1" err="1">
                <a:solidFill>
                  <a:srgbClr val="06D6A0"/>
                </a:solidFill>
              </a:rPr>
              <a:t>Livré</a:t>
            </a:r>
            <a:endParaRPr lang="en-US" sz="750" err="1"/>
          </a:p>
        </p:txBody>
      </p:sp>
      <p:sp>
        <p:nvSpPr>
          <p:cNvPr id="32" name="Text 30"/>
          <p:cNvSpPr/>
          <p:nvPr/>
        </p:nvSpPr>
        <p:spPr>
          <a:xfrm>
            <a:off x="457200" y="3035808"/>
            <a:ext cx="1920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MVP réservations</a:t>
            </a:r>
            <a:endParaRPr lang="en-US" sz="800"/>
          </a:p>
        </p:txBody>
      </p:sp>
      <p:sp>
        <p:nvSpPr>
          <p:cNvPr id="33" name="Text 31"/>
          <p:cNvSpPr/>
          <p:nvPr/>
        </p:nvSpPr>
        <p:spPr>
          <a:xfrm>
            <a:off x="457200" y="3355848"/>
            <a:ext cx="1920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Anti-conflit</a:t>
            </a:r>
            <a:endParaRPr lang="en-US" sz="800"/>
          </a:p>
        </p:txBody>
      </p:sp>
      <p:sp>
        <p:nvSpPr>
          <p:cNvPr id="34" name="Text 32"/>
          <p:cNvSpPr/>
          <p:nvPr/>
        </p:nvSpPr>
        <p:spPr>
          <a:xfrm>
            <a:off x="457200" y="3675888"/>
            <a:ext cx="1920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Notifications email</a:t>
            </a:r>
            <a:endParaRPr lang="en-US" sz="800"/>
          </a:p>
        </p:txBody>
      </p:sp>
      <p:sp>
        <p:nvSpPr>
          <p:cNvPr id="35" name="Text 33"/>
          <p:cNvSpPr/>
          <p:nvPr/>
        </p:nvSpPr>
        <p:spPr>
          <a:xfrm>
            <a:off x="2395728" y="2788920"/>
            <a:ext cx="155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8899AA"/>
                </a:solidFill>
              </a:rPr>
              <a:t>→</a:t>
            </a:r>
            <a:endParaRPr lang="en-US" sz="1200"/>
          </a:p>
        </p:txBody>
      </p:sp>
      <p:sp>
        <p:nvSpPr>
          <p:cNvPr id="36" name="Shape 34"/>
          <p:cNvSpPr/>
          <p:nvPr/>
        </p:nvSpPr>
        <p:spPr>
          <a:xfrm>
            <a:off x="2560320" y="2697480"/>
            <a:ext cx="1920240" cy="292608"/>
          </a:xfrm>
          <a:prstGeom prst="rect">
            <a:avLst/>
          </a:prstGeom>
          <a:solidFill>
            <a:srgbClr val="00C6FF">
              <a:alpha val="30000"/>
            </a:srgbClr>
          </a:solidFill>
          <a:ln w="6350">
            <a:solidFill>
              <a:srgbClr val="00C6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0" y="2697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0C6FF"/>
                </a:solidFill>
              </a:rPr>
              <a:t>S3-S4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00C6FF"/>
                </a:solidFill>
              </a:rPr>
              <a:t> </a:t>
            </a:r>
            <a:r>
              <a:rPr lang="en-US" sz="750" b="1" err="1">
                <a:solidFill>
                  <a:srgbClr val="00C6FF"/>
                </a:solidFill>
              </a:rPr>
              <a:t>Livré</a:t>
            </a:r>
            <a:endParaRPr lang="en-US" sz="750" err="1"/>
          </a:p>
        </p:txBody>
      </p:sp>
      <p:sp>
        <p:nvSpPr>
          <p:cNvPr id="38" name="Text 36"/>
          <p:cNvSpPr/>
          <p:nvPr/>
        </p:nvSpPr>
        <p:spPr>
          <a:xfrm>
            <a:off x="2560320" y="3035808"/>
            <a:ext cx="1920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Dashboard admin</a:t>
            </a:r>
            <a:endParaRPr lang="en-US" sz="800"/>
          </a:p>
        </p:txBody>
      </p:sp>
      <p:sp>
        <p:nvSpPr>
          <p:cNvPr id="39" name="Text 37"/>
          <p:cNvSpPr/>
          <p:nvPr/>
        </p:nvSpPr>
        <p:spPr>
          <a:xfrm>
            <a:off x="2560320" y="3355848"/>
            <a:ext cx="1920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Analytics basique</a:t>
            </a:r>
            <a:endParaRPr lang="en-US" sz="800"/>
          </a:p>
        </p:txBody>
      </p:sp>
      <p:sp>
        <p:nvSpPr>
          <p:cNvPr id="40" name="Text 38"/>
          <p:cNvSpPr/>
          <p:nvPr/>
        </p:nvSpPr>
        <p:spPr>
          <a:xfrm>
            <a:off x="2560320" y="3675888"/>
            <a:ext cx="1920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Annulation</a:t>
            </a:r>
            <a:endParaRPr lang="en-US" sz="800"/>
          </a:p>
        </p:txBody>
      </p:sp>
      <p:sp>
        <p:nvSpPr>
          <p:cNvPr id="41" name="Text 39"/>
          <p:cNvSpPr/>
          <p:nvPr/>
        </p:nvSpPr>
        <p:spPr>
          <a:xfrm>
            <a:off x="4498848" y="2788920"/>
            <a:ext cx="155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8899AA"/>
                </a:solidFill>
              </a:rPr>
              <a:t>→</a:t>
            </a:r>
            <a:endParaRPr lang="en-US" sz="1200"/>
          </a:p>
        </p:txBody>
      </p:sp>
      <p:sp>
        <p:nvSpPr>
          <p:cNvPr id="42" name="Shape 40"/>
          <p:cNvSpPr/>
          <p:nvPr/>
        </p:nvSpPr>
        <p:spPr>
          <a:xfrm>
            <a:off x="4663440" y="2697480"/>
            <a:ext cx="1920240" cy="292608"/>
          </a:xfrm>
          <a:prstGeom prst="rect">
            <a:avLst/>
          </a:prstGeom>
          <a:solidFill>
            <a:srgbClr val="FFB703">
              <a:alpha val="30000"/>
            </a:srgbClr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2697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B703"/>
                </a:solidFill>
              </a:rPr>
              <a:t>Q3 2026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FFB703"/>
                </a:solidFill>
              </a:rPr>
              <a:t> En </a:t>
            </a:r>
            <a:r>
              <a:rPr lang="en-US" sz="750" b="1" err="1">
                <a:solidFill>
                  <a:srgbClr val="FFB703"/>
                </a:solidFill>
              </a:rPr>
              <a:t>cours</a:t>
            </a:r>
            <a:endParaRPr lang="en-US" sz="750" err="1"/>
          </a:p>
        </p:txBody>
      </p:sp>
      <p:sp>
        <p:nvSpPr>
          <p:cNvPr id="44" name="Text 42"/>
          <p:cNvSpPr/>
          <p:nvPr/>
        </p:nvSpPr>
        <p:spPr>
          <a:xfrm>
            <a:off x="4663440" y="3035808"/>
            <a:ext cx="1920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SSO / auth fédérée</a:t>
            </a:r>
            <a:endParaRPr lang="en-US" sz="800"/>
          </a:p>
        </p:txBody>
      </p:sp>
      <p:sp>
        <p:nvSpPr>
          <p:cNvPr id="45" name="Text 43"/>
          <p:cNvSpPr/>
          <p:nvPr/>
        </p:nvSpPr>
        <p:spPr>
          <a:xfrm>
            <a:off x="4663440" y="3355848"/>
            <a:ext cx="1920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API publique</a:t>
            </a:r>
            <a:endParaRPr lang="en-US" sz="800"/>
          </a:p>
        </p:txBody>
      </p:sp>
      <p:sp>
        <p:nvSpPr>
          <p:cNvPr id="46" name="Text 44"/>
          <p:cNvSpPr/>
          <p:nvPr/>
        </p:nvSpPr>
        <p:spPr>
          <a:xfrm>
            <a:off x="4663440" y="3675888"/>
            <a:ext cx="1920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Intégrations (Slack, Teams)</a:t>
            </a:r>
            <a:endParaRPr lang="en-US" sz="800"/>
          </a:p>
        </p:txBody>
      </p:sp>
      <p:sp>
        <p:nvSpPr>
          <p:cNvPr id="47" name="Text 45"/>
          <p:cNvSpPr/>
          <p:nvPr/>
        </p:nvSpPr>
        <p:spPr>
          <a:xfrm>
            <a:off x="6601968" y="2788920"/>
            <a:ext cx="155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8899AA"/>
                </a:solidFill>
              </a:rPr>
              <a:t>→</a:t>
            </a:r>
            <a:endParaRPr lang="en-US" sz="1200"/>
          </a:p>
        </p:txBody>
      </p:sp>
      <p:sp>
        <p:nvSpPr>
          <p:cNvPr id="48" name="Shape 46"/>
          <p:cNvSpPr/>
          <p:nvPr/>
        </p:nvSpPr>
        <p:spPr>
          <a:xfrm>
            <a:off x="6766560" y="2697480"/>
            <a:ext cx="1920240" cy="292608"/>
          </a:xfrm>
          <a:prstGeom prst="rect">
            <a:avLst/>
          </a:prstGeom>
          <a:solidFill>
            <a:srgbClr val="7B2FFF">
              <a:alpha val="30000"/>
            </a:srgbClr>
          </a:solidFill>
          <a:ln w="6350">
            <a:solidFill>
              <a:srgbClr val="7B2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66560" y="2697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7B2FFF"/>
                </a:solidFill>
              </a:rPr>
              <a:t>Q4 2026</a:t>
            </a:r>
            <a:endParaRPr lang="en-US" sz="750"/>
          </a:p>
          <a:p>
            <a:pPr marL="0" indent="0" algn="ctr">
              <a:buNone/>
            </a:pPr>
            <a:r>
              <a:rPr lang="en-US" sz="750" b="1" err="1">
                <a:solidFill>
                  <a:srgbClr val="7B2FFF"/>
                </a:solidFill>
              </a:rPr>
              <a:t>Planifié</a:t>
            </a:r>
            <a:endParaRPr lang="en-US" sz="750" err="1"/>
          </a:p>
        </p:txBody>
      </p:sp>
      <p:sp>
        <p:nvSpPr>
          <p:cNvPr id="50" name="Text 48"/>
          <p:cNvSpPr/>
          <p:nvPr/>
        </p:nvSpPr>
        <p:spPr>
          <a:xfrm>
            <a:off x="6766560" y="3035808"/>
            <a:ext cx="1920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IA prédictive conflits</a:t>
            </a:r>
            <a:endParaRPr lang="en-US" sz="800"/>
          </a:p>
        </p:txBody>
      </p:sp>
      <p:sp>
        <p:nvSpPr>
          <p:cNvPr id="51" name="Text 49"/>
          <p:cNvSpPr/>
          <p:nvPr/>
        </p:nvSpPr>
        <p:spPr>
          <a:xfrm>
            <a:off x="6766560" y="3355848"/>
            <a:ext cx="1920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Mobile natif iOS/Android</a:t>
            </a:r>
            <a:endParaRPr lang="en-US" sz="800"/>
          </a:p>
        </p:txBody>
      </p:sp>
      <p:sp>
        <p:nvSpPr>
          <p:cNvPr id="52" name="Text 50"/>
          <p:cNvSpPr/>
          <p:nvPr/>
        </p:nvSpPr>
        <p:spPr>
          <a:xfrm>
            <a:off x="6766560" y="3675888"/>
            <a:ext cx="1920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Multi-agences</a:t>
            </a:r>
            <a:endParaRPr lang="en-US" sz="800"/>
          </a:p>
        </p:txBody>
      </p:sp>
      <p:sp>
        <p:nvSpPr>
          <p:cNvPr id="53" name="Shape 51"/>
          <p:cNvSpPr/>
          <p:nvPr/>
        </p:nvSpPr>
        <p:spPr>
          <a:xfrm>
            <a:off x="274320" y="4526280"/>
            <a:ext cx="8595360" cy="548640"/>
          </a:xfrm>
          <a:prstGeom prst="rect">
            <a:avLst/>
          </a:prstGeom>
          <a:solidFill>
            <a:srgbClr val="0A1428"/>
          </a:solidFill>
          <a:ln w="6350">
            <a:solidFill>
              <a:srgbClr val="00C6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74320" y="4526280"/>
            <a:ext cx="502920" cy="5486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526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A0E1A"/>
                </a:solidFill>
              </a:rPr>
              <a:t>★</a:t>
            </a:r>
            <a:endParaRPr lang="en-US" sz="1800"/>
          </a:p>
        </p:txBody>
      </p:sp>
      <p:sp>
        <p:nvSpPr>
          <p:cNvPr id="56" name="Text 54"/>
          <p:cNvSpPr/>
          <p:nvPr/>
        </p:nvSpPr>
        <p:spPr>
          <a:xfrm>
            <a:off x="868680" y="4572000"/>
            <a:ext cx="7909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Nexus démontre qu'une approche Scrum rigoureuse, appliquée à un domaine à fort enjeu (gestion de ressources spatiales critiques), permet de livrer un produit fonctionnel, évolutif et centré utilisateur en seulement 6 semaines — avec une vélocité croissante de sprint en sprint.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457200"/>
            <a:ext cx="7315200" cy="4572000"/>
          </a:xfrm>
          <a:prstGeom prst="ellipse">
            <a:avLst/>
          </a:prstGeom>
          <a:solidFill>
            <a:srgbClr val="0A002A">
              <a:alpha val="70000"/>
            </a:srgbClr>
          </a:solidFill>
          <a:ln w="12700">
            <a:solidFill>
              <a:srgbClr val="0A00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1828800"/>
            <a:ext cx="5486400" cy="4572000"/>
          </a:xfrm>
          <a:prstGeom prst="ellipse">
            <a:avLst/>
          </a:prstGeom>
          <a:solidFill>
            <a:srgbClr val="001A20">
              <a:alpha val="60000"/>
            </a:srgbClr>
          </a:solidFill>
          <a:ln w="12700">
            <a:solidFill>
              <a:srgbClr val="001A2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48640"/>
            <a:ext cx="2011680" cy="2011680"/>
          </a:xfrm>
          <a:prstGeom prst="ellipse">
            <a:avLst/>
          </a:prstGeom>
          <a:solidFill>
            <a:srgbClr val="1B2A4A"/>
          </a:solidFill>
          <a:ln w="19050">
            <a:solidFill>
              <a:srgbClr val="00C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822960"/>
            <a:ext cx="1463040" cy="1463040"/>
          </a:xfrm>
          <a:prstGeom prst="ellipse">
            <a:avLst/>
          </a:prstGeom>
          <a:solidFill>
            <a:srgbClr val="0D1B2A"/>
          </a:solidFill>
          <a:ln w="6350">
            <a:solidFill>
              <a:srgbClr val="7B2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🌍</a:t>
            </a:r>
            <a:endParaRPr lang="en-US" sz="3200"/>
          </a:p>
        </p:txBody>
      </p:sp>
      <p:sp>
        <p:nvSpPr>
          <p:cNvPr id="7" name="Shape 5"/>
          <p:cNvSpPr/>
          <p:nvPr/>
        </p:nvSpPr>
        <p:spPr>
          <a:xfrm>
            <a:off x="-182880" y="1234440"/>
            <a:ext cx="3291840" cy="1005840"/>
          </a:xfrm>
          <a:prstGeom prst="ellipse">
            <a:avLst/>
          </a:prstGeom>
          <a:solidFill>
            <a:srgbClr val="0A0E1A">
              <a:alpha val="0"/>
            </a:srgbClr>
          </a:solidFill>
          <a:ln w="9525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9144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6800"/>
          </a:p>
        </p:txBody>
      </p:sp>
      <p:sp>
        <p:nvSpPr>
          <p:cNvPr id="9" name="Shape 7"/>
          <p:cNvSpPr/>
          <p:nvPr/>
        </p:nvSpPr>
        <p:spPr>
          <a:xfrm>
            <a:off x="2743200" y="2057400"/>
            <a:ext cx="6126480" cy="0"/>
          </a:xfrm>
          <a:prstGeom prst="line">
            <a:avLst/>
          </a:prstGeom>
          <a:noFill/>
          <a:ln w="19050">
            <a:solidFill>
              <a:srgbClr val="00C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19456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/>
          </a:p>
        </p:txBody>
      </p:sp>
      <p:sp>
        <p:nvSpPr>
          <p:cNvPr id="11" name="Shape 9"/>
          <p:cNvSpPr/>
          <p:nvPr/>
        </p:nvSpPr>
        <p:spPr>
          <a:xfrm>
            <a:off x="3017520" y="2880360"/>
            <a:ext cx="3108960" cy="347472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28803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00C6FF"/>
                </a:solidFill>
              </a:rPr>
              <a:t>RAMDINSOW</a:t>
            </a:r>
            <a:r>
              <a:rPr lang="en-US" sz="1000" b="1">
                <a:solidFill>
                  <a:srgbClr val="FFFFFF"/>
                </a:solidFill>
              </a:rPr>
              <a:t> Labs — Orbit Nexus </a:t>
            </a:r>
            <a:endParaRPr lang="en-US" sz="1000"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28600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INF213 · </a:t>
            </a:r>
            <a:r>
              <a:rPr lang="en-US" sz="90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Méthodes</a:t>
            </a:r>
            <a:r>
              <a:rPr lang="en-US" sz="90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0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Agiles</a:t>
            </a:r>
            <a:r>
              <a:rPr lang="en-US" sz="90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· Scrum  </a:t>
            </a:r>
            <a:r>
              <a:rPr lang="en-US" sz="9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  |  </a:t>
            </a:r>
            <a:r>
              <a:rPr lang="en-US" sz="900">
                <a:solidFill>
                  <a:srgbClr val="00C6FF"/>
                </a:solidFill>
                <a:latin typeface="Calibri"/>
                <a:ea typeface="Calibri"/>
                <a:cs typeface="Calibri"/>
              </a:rPr>
              <a:t>contact@ramdinsow-labs.space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</a:t>
            </a:r>
            <a:r>
              <a:rPr lang="en-US" sz="900" i="1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L'agilité, c'est naviguer vers les étoiles sans connaître exactement la route — mais avec un équipage soudé, une boussole (backlog) et la capacité d'ajuster le cap à chaque sprint.</a:t>
            </a:r>
            <a:r>
              <a:rPr lang="en-US" sz="90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»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21</Slides>
  <Notes>18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ORBIT NEXUS – Méthodes Agiles Scrum</dc:title>
  <dc:subject>PptxGenJS Presentation</dc:subject>
  <dc:creator>PptxGenJS</dc:creator>
  <cp:revision>4</cp:revision>
  <dcterms:created xsi:type="dcterms:W3CDTF">2026-05-06T09:48:04Z</dcterms:created>
  <dcterms:modified xsi:type="dcterms:W3CDTF">2026-05-07T13:10:59Z</dcterms:modified>
</cp:coreProperties>
</file>